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9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5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905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1180895"/>
            <a:ext cx="784864" cy="318998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kern="0" spc="1" dirty="0">
                <a:solidFill>
                  <a:srgbClr val="0EA5E9"/>
                </a:solidFill>
              </a:rPr>
              <a:t>WEEK 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71500" y="1666670"/>
            <a:ext cx="454342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Data Pipeline &amp; CRUD (SQL)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571500" y="2851082"/>
            <a:ext cx="4543425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BFDBFE"/>
                </a:solidFill>
              </a:rPr>
              <a:t>From Files to Databases</a:t>
            </a:r>
            <a:endParaRPr lang="en-US" sz="1486" dirty="0"/>
          </a:p>
        </p:txBody>
      </p:sp>
      <p:sp>
        <p:nvSpPr>
          <p:cNvPr id="7" name="Text 4"/>
          <p:cNvSpPr/>
          <p:nvPr/>
        </p:nvSpPr>
        <p:spPr>
          <a:xfrm>
            <a:off x="571500" y="3345424"/>
            <a:ext cx="4543425" cy="39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0F2FE"/>
                </a:solidFill>
              </a:rPr>
              <a:t>Learning to work with structured data storage using Python and SQLite.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0F2FE"/>
                </a:solidFill>
              </a:rPr>
              <a:t>Master the essential operations for creating, reading, updating, and deleting data</a:t>
            </a:r>
            <a:r>
              <a:rPr lang="en-US" sz="942" dirty="0">
                <a:solidFill>
                  <a:srgbClr val="E0F2FE"/>
                </a:solidFill>
              </a:rPr>
              <a:t>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543550" y="1283057"/>
            <a:ext cx="3028950" cy="257733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43550" y="1283057"/>
            <a:ext cx="28575" cy="2577331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57863" y="1497369"/>
            <a:ext cx="26003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CD34D"/>
                </a:solidFill>
              </a:rPr>
              <a:t>import</a:t>
            </a:r>
            <a:r>
              <a:rPr lang="en-US" sz="834" dirty="0">
                <a:solidFill>
                  <a:srgbClr val="E0F2FE"/>
                </a:solidFill>
              </a:rPr>
              <a:t> sqlite3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757863" y="1765957"/>
            <a:ext cx="26003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E0F2FE"/>
                </a:solidFill>
              </a:rPr>
              <a:t>conn = sqlite3.</a:t>
            </a:r>
            <a:r>
              <a:rPr lang="en-US" sz="784" b="1" dirty="0">
                <a:solidFill>
                  <a:srgbClr val="34D399"/>
                </a:solidFill>
              </a:rPr>
              <a:t>connect</a:t>
            </a:r>
            <a:r>
              <a:rPr lang="en-US" sz="834" dirty="0">
                <a:solidFill>
                  <a:srgbClr val="E0F2FE"/>
                </a:solidFill>
              </a:rPr>
              <a:t>(</a:t>
            </a:r>
            <a:r>
              <a:rPr lang="en-US" sz="834" dirty="0">
                <a:solidFill>
                  <a:srgbClr val="F9A8D4"/>
                </a:solidFill>
              </a:rPr>
              <a:t>'database.db'</a:t>
            </a:r>
            <a:r>
              <a:rPr lang="en-US" sz="834" dirty="0">
                <a:solidFill>
                  <a:srgbClr val="E0F2FE"/>
                </a:solidFill>
              </a:rPr>
              <a:t>)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757863" y="2034546"/>
            <a:ext cx="26003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E0F2FE"/>
                </a:solidFill>
              </a:rPr>
              <a:t>cursor = conn.</a:t>
            </a:r>
            <a:r>
              <a:rPr lang="en-US" sz="784" b="1" dirty="0">
                <a:solidFill>
                  <a:srgbClr val="34D399"/>
                </a:solidFill>
              </a:rPr>
              <a:t>cursor</a:t>
            </a:r>
            <a:r>
              <a:rPr lang="en-US" sz="834" dirty="0">
                <a:solidFill>
                  <a:srgbClr val="E0F2FE"/>
                </a:solidFill>
              </a:rPr>
              <a:t>()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5757863" y="2303134"/>
            <a:ext cx="26003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E0F2FE"/>
                </a:solidFill>
              </a:rPr>
              <a:t>cursor.</a:t>
            </a:r>
            <a:r>
              <a:rPr lang="en-US" sz="784" b="1" dirty="0">
                <a:solidFill>
                  <a:srgbClr val="34D399"/>
                </a:solidFill>
              </a:rPr>
              <a:t>execute</a:t>
            </a:r>
            <a:r>
              <a:rPr lang="en-US" sz="834" dirty="0">
                <a:solidFill>
                  <a:srgbClr val="E0F2FE"/>
                </a:solidFill>
              </a:rPr>
              <a:t>(</a:t>
            </a:r>
            <a:r>
              <a:rPr lang="en-US" sz="834" dirty="0">
                <a:solidFill>
                  <a:srgbClr val="F9A8D4"/>
                </a:solidFill>
              </a:rPr>
              <a:t>"""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5757863" y="2584224"/>
            <a:ext cx="11528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9A8D4"/>
                </a:solidFill>
              </a:rPr>
              <a:t>SELECT * FROM users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5757863" y="2852812"/>
            <a:ext cx="8013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9A8D4"/>
                </a:solidFill>
              </a:rPr>
              <a:t>WHERE role = ?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757863" y="3108899"/>
            <a:ext cx="26003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9A8D4"/>
                </a:solidFill>
              </a:rPr>
              <a:t>"""</a:t>
            </a:r>
            <a:r>
              <a:rPr lang="en-US" sz="834" dirty="0">
                <a:solidFill>
                  <a:srgbClr val="E0F2FE"/>
                </a:solidFill>
              </a:rPr>
              <a:t>, (</a:t>
            </a:r>
            <a:r>
              <a:rPr lang="en-US" sz="834" dirty="0">
                <a:solidFill>
                  <a:srgbClr val="F9A8D4"/>
                </a:solidFill>
              </a:rPr>
              <a:t>'admin'</a:t>
            </a:r>
            <a:r>
              <a:rPr lang="en-US" sz="834" dirty="0">
                <a:solidFill>
                  <a:srgbClr val="E0F2FE"/>
                </a:solidFill>
              </a:rPr>
              <a:t>,))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5757863" y="3377487"/>
            <a:ext cx="26003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E0F2FE"/>
                </a:solidFill>
              </a:rPr>
              <a:t>results = cursor.</a:t>
            </a:r>
            <a:r>
              <a:rPr lang="en-US" sz="784" b="1" dirty="0">
                <a:solidFill>
                  <a:srgbClr val="34D399"/>
                </a:solidFill>
              </a:rPr>
              <a:t>fetchall</a:t>
            </a:r>
            <a:r>
              <a:rPr lang="en-US" sz="834" dirty="0">
                <a:solidFill>
                  <a:srgbClr val="E0F2FE"/>
                </a:solidFill>
              </a:rPr>
              <a:t>()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0741"/>
            <a:ext cx="9144000" cy="59650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085850"/>
            <a:ext cx="80010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685800"/>
          </a:xfrm>
          <a:prstGeom prst="rect">
            <a:avLst/>
          </a:prstGeom>
          <a:noFill/>
          <a:ln/>
        </p:spPr>
        <p:txBody>
          <a:bodyPr wrap="none" lIns="0" tIns="0" rIns="0" bIns="170053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E3A8A"/>
                </a:solidFill>
              </a:rPr>
              <a:t>Why Move from Files to Databases?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1000125" y="1443038"/>
            <a:ext cx="183923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DC2626"/>
                </a:solidFill>
              </a:rPr>
              <a:t>File-Based Storage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1000125" y="1743075"/>
            <a:ext cx="18392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users.txt, CSV files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1500" y="2185988"/>
            <a:ext cx="3857625" cy="65365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0088" y="2328863"/>
            <a:ext cx="142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DC2626"/>
                </a:solidFill>
              </a:rPr>
              <a:t>✗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950119" y="2314575"/>
            <a:ext cx="33504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No Structure Enforcement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950119" y="2550319"/>
            <a:ext cx="33504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Anyone can add invalid data — no data types, no constraints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571500" y="2968228"/>
            <a:ext cx="3857625" cy="65365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00088" y="3111103"/>
            <a:ext cx="142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DC2626"/>
                </a:solidFill>
              </a:rPr>
              <a:t>✗</a:t>
            </a: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950119" y="3096816"/>
            <a:ext cx="33504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Difficult to Query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950119" y="3332559"/>
            <a:ext cx="33504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Need to read entire file and parse line-by-line to find specific data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571500" y="3750469"/>
            <a:ext cx="3857625" cy="65365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00088" y="3893344"/>
            <a:ext cx="142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DC2626"/>
                </a:solidFill>
              </a:rPr>
              <a:t>✗</a:t>
            </a:r>
            <a:endParaRPr lang="en-US" sz="1269" dirty="0"/>
          </a:p>
        </p:txBody>
      </p:sp>
      <p:sp>
        <p:nvSpPr>
          <p:cNvPr id="19" name="Text 16"/>
          <p:cNvSpPr/>
          <p:nvPr/>
        </p:nvSpPr>
        <p:spPr>
          <a:xfrm>
            <a:off x="950119" y="3879056"/>
            <a:ext cx="33504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Concurrent Access Issues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950119" y="4114800"/>
            <a:ext cx="33504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Multiple users can corrupt the file when writing simultaneously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571500" y="4532709"/>
            <a:ext cx="3857625" cy="65365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00088" y="4675584"/>
            <a:ext cx="142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DC2626"/>
                </a:solidFill>
              </a:rPr>
              <a:t>✗</a:t>
            </a:r>
            <a:endParaRPr lang="en-US" sz="1269" dirty="0"/>
          </a:p>
        </p:txBody>
      </p:sp>
      <p:sp>
        <p:nvSpPr>
          <p:cNvPr id="23" name="Text 20"/>
          <p:cNvSpPr/>
          <p:nvPr/>
        </p:nvSpPr>
        <p:spPr>
          <a:xfrm>
            <a:off x="950119" y="4661297"/>
            <a:ext cx="33504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No Relationships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950119" y="4897041"/>
            <a:ext cx="33504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Can't link users to their incidents — must manage manually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4714875" y="1485900"/>
            <a:ext cx="65" cy="353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endParaRPr lang="en-US" sz="1924" dirty="0"/>
          </a:p>
        </p:txBody>
      </p:sp>
      <p:sp>
        <p:nvSpPr>
          <p:cNvPr id="26" name="Text 23"/>
          <p:cNvSpPr/>
          <p:nvPr/>
        </p:nvSpPr>
        <p:spPr>
          <a:xfrm>
            <a:off x="4997695" y="1443038"/>
            <a:ext cx="176682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59669"/>
                </a:solidFill>
              </a:rPr>
              <a:t>Database Storage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4997695" y="1743075"/>
            <a:ext cx="17668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SQLite, PostgreSQL, MySQL</a:t>
            </a:r>
            <a:endParaRPr lang="en-US" sz="834" dirty="0"/>
          </a:p>
        </p:txBody>
      </p:sp>
      <p:sp>
        <p:nvSpPr>
          <p:cNvPr id="28" name="Shape 25"/>
          <p:cNvSpPr/>
          <p:nvPr/>
        </p:nvSpPr>
        <p:spPr>
          <a:xfrm>
            <a:off x="4714875" y="2185988"/>
            <a:ext cx="3857625" cy="81438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43463" y="2328863"/>
            <a:ext cx="11711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59669"/>
                </a:solidFill>
              </a:rPr>
              <a:t>✓</a:t>
            </a:r>
            <a:endParaRPr lang="en-US" sz="1269" dirty="0"/>
          </a:p>
        </p:txBody>
      </p:sp>
      <p:sp>
        <p:nvSpPr>
          <p:cNvPr id="30" name="Text 27"/>
          <p:cNvSpPr/>
          <p:nvPr/>
        </p:nvSpPr>
        <p:spPr>
          <a:xfrm>
            <a:off x="5067737" y="2314575"/>
            <a:ext cx="33761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Structured &amp; Validated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5067737" y="2550319"/>
            <a:ext cx="337617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Schema enforces data types, constraints, and relationships automatically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4714875" y="3128963"/>
            <a:ext cx="3857625" cy="65365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843463" y="3271838"/>
            <a:ext cx="11711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59669"/>
                </a:solidFill>
              </a:rPr>
              <a:t>✓</a:t>
            </a:r>
            <a:endParaRPr lang="en-US" sz="1269" dirty="0"/>
          </a:p>
        </p:txBody>
      </p:sp>
      <p:sp>
        <p:nvSpPr>
          <p:cNvPr id="34" name="Text 31"/>
          <p:cNvSpPr/>
          <p:nvPr/>
        </p:nvSpPr>
        <p:spPr>
          <a:xfrm>
            <a:off x="5067737" y="3257550"/>
            <a:ext cx="33761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Powerful Querying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5067737" y="3493294"/>
            <a:ext cx="33761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SQL lets you filter, sort, aggregate, and join data in one line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4714875" y="3911203"/>
            <a:ext cx="3857625" cy="65365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843463" y="4054078"/>
            <a:ext cx="11711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59669"/>
                </a:solidFill>
              </a:rPr>
              <a:t>✓</a:t>
            </a:r>
            <a:endParaRPr lang="en-US" sz="1269" dirty="0"/>
          </a:p>
        </p:txBody>
      </p:sp>
      <p:sp>
        <p:nvSpPr>
          <p:cNvPr id="38" name="Text 35"/>
          <p:cNvSpPr/>
          <p:nvPr/>
        </p:nvSpPr>
        <p:spPr>
          <a:xfrm>
            <a:off x="5067737" y="4039791"/>
            <a:ext cx="33761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Safe Concurrent Access</a:t>
            </a:r>
            <a:endParaRPr lang="en-US" sz="885" dirty="0"/>
          </a:p>
        </p:txBody>
      </p:sp>
      <p:sp>
        <p:nvSpPr>
          <p:cNvPr id="39" name="Text 36"/>
          <p:cNvSpPr/>
          <p:nvPr/>
        </p:nvSpPr>
        <p:spPr>
          <a:xfrm>
            <a:off x="5067737" y="4275534"/>
            <a:ext cx="33761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Built-in locking and transactions prevent data corruption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714875" y="4693444"/>
            <a:ext cx="3857625" cy="81438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843463" y="4836319"/>
            <a:ext cx="11711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59669"/>
                </a:solidFill>
              </a:rPr>
              <a:t>✓</a:t>
            </a:r>
            <a:endParaRPr lang="en-US" sz="1269" dirty="0"/>
          </a:p>
        </p:txBody>
      </p:sp>
      <p:sp>
        <p:nvSpPr>
          <p:cNvPr id="42" name="Text 39"/>
          <p:cNvSpPr/>
          <p:nvPr/>
        </p:nvSpPr>
        <p:spPr>
          <a:xfrm>
            <a:off x="5067737" y="4822031"/>
            <a:ext cx="33761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Relationships &amp; Integrity</a:t>
            </a:r>
            <a:endParaRPr lang="en-US" sz="885" dirty="0"/>
          </a:p>
        </p:txBody>
      </p:sp>
      <p:sp>
        <p:nvSpPr>
          <p:cNvPr id="43" name="Text 40"/>
          <p:cNvSpPr/>
          <p:nvPr/>
        </p:nvSpPr>
        <p:spPr>
          <a:xfrm>
            <a:off x="5067737" y="5057775"/>
            <a:ext cx="337617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Foreign keys automatically link tables and maintain data consistency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50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6500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78694"/>
            <a:ext cx="80010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650081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E3A8A"/>
                </a:solidFill>
              </a:rPr>
              <a:t>Your Database Schema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085850"/>
            <a:ext cx="8001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Four tables to store all your intelligence platform data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71500" y="1528763"/>
            <a:ext cx="3911203" cy="192878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1500" y="1528763"/>
            <a:ext cx="3911203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71500" y="1528763"/>
            <a:ext cx="3911203" cy="42862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1500" y="1528763"/>
            <a:ext cx="3911203" cy="42862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users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714375" y="2100263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id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1800225" y="2100263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INTEGER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2600325" y="2100263"/>
            <a:ext cx="55029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PRIMARY KEY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714375" y="2337429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username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1800225" y="2337429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TEXT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2600325" y="2337429"/>
            <a:ext cx="80763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UNIQUE, NOT NULL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714375" y="2574596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password_hash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1800225" y="2574596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TEXT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2600325" y="2574596"/>
            <a:ext cx="42349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NOT NULL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714375" y="2811763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role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1800225" y="2811763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TEXT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2600325" y="2811763"/>
            <a:ext cx="61070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DEFAULT 'user'</a:t>
            </a:r>
            <a:endParaRPr lang="en-US" sz="584" dirty="0"/>
          </a:p>
        </p:txBody>
      </p:sp>
      <p:sp>
        <p:nvSpPr>
          <p:cNvPr id="23" name="Shape 20"/>
          <p:cNvSpPr/>
          <p:nvPr/>
        </p:nvSpPr>
        <p:spPr>
          <a:xfrm>
            <a:off x="4661297" y="1528763"/>
            <a:ext cx="3911203" cy="192878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661297" y="1528763"/>
            <a:ext cx="3911203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661297" y="1528763"/>
            <a:ext cx="3911203" cy="42862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661297" y="1528763"/>
            <a:ext cx="3911203" cy="42862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cyber_incidents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4804172" y="2100263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id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5890022" y="2100263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INTEGER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6690122" y="2100263"/>
            <a:ext cx="55029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PRIMARY KEY</a:t>
            </a:r>
            <a:endParaRPr lang="en-US" sz="584" dirty="0"/>
          </a:p>
        </p:txBody>
      </p:sp>
      <p:sp>
        <p:nvSpPr>
          <p:cNvPr id="30" name="Text 27"/>
          <p:cNvSpPr/>
          <p:nvPr/>
        </p:nvSpPr>
        <p:spPr>
          <a:xfrm>
            <a:off x="4804172" y="2337429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title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5890022" y="2337429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TEXT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6690122" y="2337429"/>
            <a:ext cx="42349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NOT NULL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4804172" y="2574596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severity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5890022" y="2574596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TEXT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6690122" y="2574596"/>
            <a:ext cx="42349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NOT NULL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4804172" y="2811763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status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5890022" y="2811763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TEXT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6690122" y="2811763"/>
            <a:ext cx="63130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DEFAULT 'open'</a:t>
            </a:r>
            <a:endParaRPr lang="en-US" sz="584" dirty="0"/>
          </a:p>
        </p:txBody>
      </p:sp>
      <p:sp>
        <p:nvSpPr>
          <p:cNvPr id="39" name="Text 36"/>
          <p:cNvSpPr/>
          <p:nvPr/>
        </p:nvSpPr>
        <p:spPr>
          <a:xfrm>
            <a:off x="4804172" y="3048930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date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5890022" y="3048930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TEXT</a:t>
            </a:r>
            <a:endParaRPr lang="en-US" sz="683" dirty="0"/>
          </a:p>
        </p:txBody>
      </p:sp>
      <p:sp>
        <p:nvSpPr>
          <p:cNvPr id="41" name="Shape 38"/>
          <p:cNvSpPr/>
          <p:nvPr/>
        </p:nvSpPr>
        <p:spPr>
          <a:xfrm>
            <a:off x="571500" y="3607566"/>
            <a:ext cx="3911203" cy="192878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71500" y="3607566"/>
            <a:ext cx="3911203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571500" y="3607566"/>
            <a:ext cx="3911203" cy="42862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571500" y="3607566"/>
            <a:ext cx="3911203" cy="42862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datasets_metadata</a:t>
            </a:r>
            <a:endParaRPr lang="en-US" sz="987" dirty="0"/>
          </a:p>
        </p:txBody>
      </p:sp>
      <p:sp>
        <p:nvSpPr>
          <p:cNvPr id="45" name="Text 42"/>
          <p:cNvSpPr/>
          <p:nvPr/>
        </p:nvSpPr>
        <p:spPr>
          <a:xfrm>
            <a:off x="714375" y="4179066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id</a:t>
            </a:r>
            <a:endParaRPr lang="en-US" sz="683" dirty="0"/>
          </a:p>
        </p:txBody>
      </p:sp>
      <p:sp>
        <p:nvSpPr>
          <p:cNvPr id="46" name="Text 43"/>
          <p:cNvSpPr/>
          <p:nvPr/>
        </p:nvSpPr>
        <p:spPr>
          <a:xfrm>
            <a:off x="1800225" y="4179066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INTEGER</a:t>
            </a:r>
            <a:endParaRPr lang="en-US" sz="683" dirty="0"/>
          </a:p>
        </p:txBody>
      </p:sp>
      <p:sp>
        <p:nvSpPr>
          <p:cNvPr id="47" name="Text 44"/>
          <p:cNvSpPr/>
          <p:nvPr/>
        </p:nvSpPr>
        <p:spPr>
          <a:xfrm>
            <a:off x="2600325" y="4179066"/>
            <a:ext cx="55029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PRIMARY KEY</a:t>
            </a:r>
            <a:endParaRPr lang="en-US" sz="584" dirty="0"/>
          </a:p>
        </p:txBody>
      </p:sp>
      <p:sp>
        <p:nvSpPr>
          <p:cNvPr id="48" name="Text 45"/>
          <p:cNvSpPr/>
          <p:nvPr/>
        </p:nvSpPr>
        <p:spPr>
          <a:xfrm>
            <a:off x="714375" y="4416233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name</a:t>
            </a:r>
            <a:endParaRPr lang="en-US" sz="683" dirty="0"/>
          </a:p>
        </p:txBody>
      </p:sp>
      <p:sp>
        <p:nvSpPr>
          <p:cNvPr id="49" name="Text 46"/>
          <p:cNvSpPr/>
          <p:nvPr/>
        </p:nvSpPr>
        <p:spPr>
          <a:xfrm>
            <a:off x="1800225" y="4416233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TEXT</a:t>
            </a:r>
            <a:endParaRPr lang="en-US" sz="683" dirty="0"/>
          </a:p>
        </p:txBody>
      </p:sp>
      <p:sp>
        <p:nvSpPr>
          <p:cNvPr id="50" name="Text 47"/>
          <p:cNvSpPr/>
          <p:nvPr/>
        </p:nvSpPr>
        <p:spPr>
          <a:xfrm>
            <a:off x="2600325" y="4416233"/>
            <a:ext cx="42349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NOT NULL</a:t>
            </a:r>
            <a:endParaRPr lang="en-US" sz="584" dirty="0"/>
          </a:p>
        </p:txBody>
      </p:sp>
      <p:sp>
        <p:nvSpPr>
          <p:cNvPr id="51" name="Text 48"/>
          <p:cNvSpPr/>
          <p:nvPr/>
        </p:nvSpPr>
        <p:spPr>
          <a:xfrm>
            <a:off x="714375" y="4653400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source</a:t>
            </a:r>
            <a:endParaRPr lang="en-US" sz="683" dirty="0"/>
          </a:p>
        </p:txBody>
      </p:sp>
      <p:sp>
        <p:nvSpPr>
          <p:cNvPr id="52" name="Text 49"/>
          <p:cNvSpPr/>
          <p:nvPr/>
        </p:nvSpPr>
        <p:spPr>
          <a:xfrm>
            <a:off x="1800225" y="4653400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TEXT</a:t>
            </a:r>
            <a:endParaRPr lang="en-US" sz="683" dirty="0"/>
          </a:p>
        </p:txBody>
      </p:sp>
      <p:sp>
        <p:nvSpPr>
          <p:cNvPr id="53" name="Text 50"/>
          <p:cNvSpPr/>
          <p:nvPr/>
        </p:nvSpPr>
        <p:spPr>
          <a:xfrm>
            <a:off x="714375" y="4890567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category</a:t>
            </a:r>
            <a:endParaRPr lang="en-US" sz="683" dirty="0"/>
          </a:p>
        </p:txBody>
      </p:sp>
      <p:sp>
        <p:nvSpPr>
          <p:cNvPr id="54" name="Text 51"/>
          <p:cNvSpPr/>
          <p:nvPr/>
        </p:nvSpPr>
        <p:spPr>
          <a:xfrm>
            <a:off x="1800225" y="4890567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TEXT</a:t>
            </a:r>
            <a:endParaRPr lang="en-US" sz="683" dirty="0"/>
          </a:p>
        </p:txBody>
      </p:sp>
      <p:sp>
        <p:nvSpPr>
          <p:cNvPr id="55" name="Text 52"/>
          <p:cNvSpPr/>
          <p:nvPr/>
        </p:nvSpPr>
        <p:spPr>
          <a:xfrm>
            <a:off x="714375" y="5127734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size</a:t>
            </a:r>
            <a:endParaRPr lang="en-US" sz="683" dirty="0"/>
          </a:p>
        </p:txBody>
      </p:sp>
      <p:sp>
        <p:nvSpPr>
          <p:cNvPr id="56" name="Text 53"/>
          <p:cNvSpPr/>
          <p:nvPr/>
        </p:nvSpPr>
        <p:spPr>
          <a:xfrm>
            <a:off x="1800225" y="5127734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INTEGER</a:t>
            </a:r>
            <a:endParaRPr lang="en-US" sz="683" dirty="0"/>
          </a:p>
        </p:txBody>
      </p:sp>
      <p:sp>
        <p:nvSpPr>
          <p:cNvPr id="57" name="Shape 54"/>
          <p:cNvSpPr/>
          <p:nvPr/>
        </p:nvSpPr>
        <p:spPr>
          <a:xfrm>
            <a:off x="4661297" y="3607566"/>
            <a:ext cx="3911203" cy="192878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4661297" y="3607566"/>
            <a:ext cx="3911203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4661297" y="3607566"/>
            <a:ext cx="3911203" cy="42862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4661297" y="3607566"/>
            <a:ext cx="3911203" cy="42862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it_tickets</a:t>
            </a:r>
            <a:endParaRPr lang="en-US" sz="987" dirty="0"/>
          </a:p>
        </p:txBody>
      </p:sp>
      <p:sp>
        <p:nvSpPr>
          <p:cNvPr id="61" name="Text 58"/>
          <p:cNvSpPr/>
          <p:nvPr/>
        </p:nvSpPr>
        <p:spPr>
          <a:xfrm>
            <a:off x="4804172" y="4179066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id</a:t>
            </a:r>
            <a:endParaRPr lang="en-US" sz="683" dirty="0"/>
          </a:p>
        </p:txBody>
      </p:sp>
      <p:sp>
        <p:nvSpPr>
          <p:cNvPr id="62" name="Text 59"/>
          <p:cNvSpPr/>
          <p:nvPr/>
        </p:nvSpPr>
        <p:spPr>
          <a:xfrm>
            <a:off x="5890022" y="4179066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INTEGER</a:t>
            </a:r>
            <a:endParaRPr lang="en-US" sz="683" dirty="0"/>
          </a:p>
        </p:txBody>
      </p:sp>
      <p:sp>
        <p:nvSpPr>
          <p:cNvPr id="63" name="Text 60"/>
          <p:cNvSpPr/>
          <p:nvPr/>
        </p:nvSpPr>
        <p:spPr>
          <a:xfrm>
            <a:off x="6690122" y="4179066"/>
            <a:ext cx="55029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PRIMARY KEY</a:t>
            </a:r>
            <a:endParaRPr lang="en-US" sz="584" dirty="0"/>
          </a:p>
        </p:txBody>
      </p:sp>
      <p:sp>
        <p:nvSpPr>
          <p:cNvPr id="64" name="Text 61"/>
          <p:cNvSpPr/>
          <p:nvPr/>
        </p:nvSpPr>
        <p:spPr>
          <a:xfrm>
            <a:off x="4804172" y="4416233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title</a:t>
            </a:r>
            <a:endParaRPr lang="en-US" sz="683" dirty="0"/>
          </a:p>
        </p:txBody>
      </p:sp>
      <p:sp>
        <p:nvSpPr>
          <p:cNvPr id="65" name="Text 62"/>
          <p:cNvSpPr/>
          <p:nvPr/>
        </p:nvSpPr>
        <p:spPr>
          <a:xfrm>
            <a:off x="5890022" y="4416233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TEXT</a:t>
            </a:r>
            <a:endParaRPr lang="en-US" sz="683" dirty="0"/>
          </a:p>
        </p:txBody>
      </p:sp>
      <p:sp>
        <p:nvSpPr>
          <p:cNvPr id="66" name="Text 63"/>
          <p:cNvSpPr/>
          <p:nvPr/>
        </p:nvSpPr>
        <p:spPr>
          <a:xfrm>
            <a:off x="6690122" y="4416233"/>
            <a:ext cx="42349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NOT NULL</a:t>
            </a:r>
            <a:endParaRPr lang="en-US" sz="584" dirty="0"/>
          </a:p>
        </p:txBody>
      </p:sp>
      <p:sp>
        <p:nvSpPr>
          <p:cNvPr id="67" name="Text 64"/>
          <p:cNvSpPr/>
          <p:nvPr/>
        </p:nvSpPr>
        <p:spPr>
          <a:xfrm>
            <a:off x="4804172" y="4653400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priority</a:t>
            </a:r>
            <a:endParaRPr lang="en-US" sz="683" dirty="0"/>
          </a:p>
        </p:txBody>
      </p:sp>
      <p:sp>
        <p:nvSpPr>
          <p:cNvPr id="68" name="Text 65"/>
          <p:cNvSpPr/>
          <p:nvPr/>
        </p:nvSpPr>
        <p:spPr>
          <a:xfrm>
            <a:off x="5890022" y="4653400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TEXT</a:t>
            </a:r>
            <a:endParaRPr lang="en-US" sz="683" dirty="0"/>
          </a:p>
        </p:txBody>
      </p:sp>
      <p:sp>
        <p:nvSpPr>
          <p:cNvPr id="69" name="Text 66"/>
          <p:cNvSpPr/>
          <p:nvPr/>
        </p:nvSpPr>
        <p:spPr>
          <a:xfrm>
            <a:off x="6690122" y="4653400"/>
            <a:ext cx="42349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NOT NULL</a:t>
            </a:r>
            <a:endParaRPr lang="en-US" sz="584" dirty="0"/>
          </a:p>
        </p:txBody>
      </p:sp>
      <p:sp>
        <p:nvSpPr>
          <p:cNvPr id="70" name="Text 67"/>
          <p:cNvSpPr/>
          <p:nvPr/>
        </p:nvSpPr>
        <p:spPr>
          <a:xfrm>
            <a:off x="4804172" y="4890567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status</a:t>
            </a:r>
            <a:endParaRPr lang="en-US" sz="683" dirty="0"/>
          </a:p>
        </p:txBody>
      </p:sp>
      <p:sp>
        <p:nvSpPr>
          <p:cNvPr id="71" name="Text 68"/>
          <p:cNvSpPr/>
          <p:nvPr/>
        </p:nvSpPr>
        <p:spPr>
          <a:xfrm>
            <a:off x="5890022" y="4890567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TEXT</a:t>
            </a:r>
            <a:endParaRPr lang="en-US" sz="683" dirty="0"/>
          </a:p>
        </p:txBody>
      </p:sp>
      <p:sp>
        <p:nvSpPr>
          <p:cNvPr id="72" name="Text 69"/>
          <p:cNvSpPr/>
          <p:nvPr/>
        </p:nvSpPr>
        <p:spPr>
          <a:xfrm>
            <a:off x="6690122" y="4890567"/>
            <a:ext cx="63130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DC2626"/>
                </a:solidFill>
              </a:rPr>
              <a:t>DEFAULT 'open'</a:t>
            </a:r>
            <a:endParaRPr lang="en-US" sz="584" dirty="0"/>
          </a:p>
        </p:txBody>
      </p:sp>
      <p:sp>
        <p:nvSpPr>
          <p:cNvPr id="73" name="Text 70"/>
          <p:cNvSpPr/>
          <p:nvPr/>
        </p:nvSpPr>
        <p:spPr>
          <a:xfrm>
            <a:off x="4804172" y="5127734"/>
            <a:ext cx="100012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1E3A8A"/>
                </a:solidFill>
              </a:rPr>
              <a:t>created_date</a:t>
            </a:r>
            <a:endParaRPr lang="en-US" sz="683" dirty="0"/>
          </a:p>
        </p:txBody>
      </p:sp>
      <p:sp>
        <p:nvSpPr>
          <p:cNvPr id="74" name="Text 71"/>
          <p:cNvSpPr/>
          <p:nvPr/>
        </p:nvSpPr>
        <p:spPr>
          <a:xfrm>
            <a:off x="5890022" y="5127734"/>
            <a:ext cx="714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059669"/>
                </a:solidFill>
              </a:rPr>
              <a:t>TEXT</a:t>
            </a:r>
            <a:endParaRPr lang="en-US" sz="6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47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14313"/>
            <a:ext cx="4546373" cy="4755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00" b="1" dirty="0">
                <a:solidFill>
                  <a:srgbClr val="1E293B"/>
                </a:solidFill>
              </a:rPr>
              <a:t>Python SQLite3: Essential Functions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71500" y="792910"/>
            <a:ext cx="610745" cy="1413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The </a:t>
            </a:r>
            <a:r>
              <a:rPr lang="en-US" sz="1050" b="1" dirty="0">
                <a:solidFill>
                  <a:srgbClr val="1E293B"/>
                </a:solidFill>
              </a:rPr>
              <a:t>sqlite3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81850" y="1290564"/>
            <a:ext cx="1447512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D293A"/>
                </a:solidFill>
              </a:rPr>
              <a:t>sqlite3.connect(</a:t>
            </a:r>
            <a:r>
              <a:rPr lang="en-US" sz="1050" b="1" dirty="0">
                <a:solidFill>
                  <a:srgbClr val="00B0F0"/>
                </a:solidFill>
              </a:rPr>
              <a:t>database</a:t>
            </a:r>
            <a:r>
              <a:rPr lang="en-US" sz="1050" b="1" dirty="0">
                <a:solidFill>
                  <a:srgbClr val="1D293A"/>
                </a:solidFill>
              </a:rPr>
              <a:t>)</a:t>
            </a:r>
            <a:endParaRPr lang="en-US" sz="1050" dirty="0">
              <a:solidFill>
                <a:srgbClr val="1D293A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81850" y="1490589"/>
            <a:ext cx="3536156" cy="287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Creates a connection to the database file. If the file doesn't exist, it will be created automatically</a:t>
            </a:r>
          </a:p>
        </p:txBody>
      </p:sp>
      <p:sp>
        <p:nvSpPr>
          <p:cNvPr id="7" name="Text 4"/>
          <p:cNvSpPr/>
          <p:nvPr/>
        </p:nvSpPr>
        <p:spPr>
          <a:xfrm>
            <a:off x="481850" y="1856316"/>
            <a:ext cx="740587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D293A"/>
                </a:solidFill>
              </a:rPr>
              <a:t>conn.</a:t>
            </a:r>
            <a:r>
              <a:rPr lang="en-US" sz="1050" b="1" dirty="0">
                <a:solidFill>
                  <a:srgbClr val="1D293A"/>
                </a:solidFill>
              </a:rPr>
              <a:t>cursor()</a:t>
            </a:r>
            <a:endParaRPr lang="en-US" sz="1050" dirty="0">
              <a:solidFill>
                <a:srgbClr val="1D293A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81850" y="2056341"/>
            <a:ext cx="3536156" cy="287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Creates a cursor object that allows you to execute SQL commands and fetch results.</a:t>
            </a:r>
          </a:p>
        </p:txBody>
      </p:sp>
      <p:sp>
        <p:nvSpPr>
          <p:cNvPr id="9" name="Text 6"/>
          <p:cNvSpPr/>
          <p:nvPr/>
        </p:nvSpPr>
        <p:spPr>
          <a:xfrm>
            <a:off x="481850" y="2422067"/>
            <a:ext cx="1591782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D293A"/>
                </a:solidFill>
              </a:rPr>
              <a:t>cursor.</a:t>
            </a:r>
            <a:r>
              <a:rPr lang="en-US" sz="1050" b="1" dirty="0">
                <a:solidFill>
                  <a:srgbClr val="1D293A"/>
                </a:solidFill>
              </a:rPr>
              <a:t>execute(</a:t>
            </a:r>
            <a:r>
              <a:rPr lang="en-US" sz="1050" b="1" dirty="0" err="1">
                <a:solidFill>
                  <a:srgbClr val="00B0F0"/>
                </a:solidFill>
              </a:rPr>
              <a:t>sql</a:t>
            </a:r>
            <a:r>
              <a:rPr lang="en-US" sz="1050" b="1" dirty="0">
                <a:solidFill>
                  <a:srgbClr val="00B0F0"/>
                </a:solidFill>
              </a:rPr>
              <a:t>, params</a:t>
            </a:r>
            <a:r>
              <a:rPr lang="en-US" sz="1050" b="1" dirty="0">
                <a:solidFill>
                  <a:srgbClr val="1D293A"/>
                </a:solidFill>
              </a:rPr>
              <a:t>)</a:t>
            </a:r>
            <a:endParaRPr lang="en-US" sz="1050" dirty="0">
              <a:solidFill>
                <a:srgbClr val="1D293A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81850" y="2622092"/>
            <a:ext cx="3536156" cy="287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Executes a single SQL statement. Use parameterized queries with </a:t>
            </a:r>
            <a:r>
              <a:rPr lang="en-US" sz="900" b="1" dirty="0">
                <a:solidFill>
                  <a:schemeClr val="bg2">
                    <a:lumMod val="50000"/>
                  </a:schemeClr>
                </a:solidFill>
              </a:rPr>
              <a:t>?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 placeholders for security</a:t>
            </a:r>
          </a:p>
        </p:txBody>
      </p:sp>
      <p:sp>
        <p:nvSpPr>
          <p:cNvPr id="11" name="Text 8"/>
          <p:cNvSpPr/>
          <p:nvPr/>
        </p:nvSpPr>
        <p:spPr>
          <a:xfrm>
            <a:off x="481850" y="2987819"/>
            <a:ext cx="966611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D293A"/>
                </a:solidFill>
              </a:rPr>
              <a:t>cursor</a:t>
            </a:r>
            <a:r>
              <a:rPr lang="en-US" sz="1050" b="1" dirty="0">
                <a:solidFill>
                  <a:srgbClr val="1D293A"/>
                </a:solidFill>
              </a:rPr>
              <a:t>.fetchone()</a:t>
            </a:r>
            <a:endParaRPr lang="en-US" sz="1050" dirty="0">
              <a:solidFill>
                <a:srgbClr val="1D293A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81850" y="3187844"/>
            <a:ext cx="3536156" cy="287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Retrieves the next row from the query result as a tuple. 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Returns None if no more rows.</a:t>
            </a:r>
          </a:p>
        </p:txBody>
      </p:sp>
      <p:sp>
        <p:nvSpPr>
          <p:cNvPr id="13" name="Text 10"/>
          <p:cNvSpPr/>
          <p:nvPr/>
        </p:nvSpPr>
        <p:spPr>
          <a:xfrm>
            <a:off x="481850" y="3553570"/>
            <a:ext cx="888064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D293A"/>
                </a:solidFill>
              </a:rPr>
              <a:t>cursor.</a:t>
            </a:r>
            <a:r>
              <a:rPr lang="en-US" sz="1050" b="1" dirty="0">
                <a:solidFill>
                  <a:srgbClr val="1D293A"/>
                </a:solidFill>
              </a:rPr>
              <a:t>fetchall()</a:t>
            </a:r>
            <a:endParaRPr lang="en-US" sz="1050" dirty="0">
              <a:solidFill>
                <a:srgbClr val="1D293A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481850" y="3753595"/>
            <a:ext cx="3165931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Retrieves all remaining rows from the query result as a list of tuples</a:t>
            </a:r>
          </a:p>
        </p:txBody>
      </p:sp>
      <p:sp>
        <p:nvSpPr>
          <p:cNvPr id="15" name="Text 12"/>
          <p:cNvSpPr/>
          <p:nvPr/>
        </p:nvSpPr>
        <p:spPr>
          <a:xfrm>
            <a:off x="481850" y="3979321"/>
            <a:ext cx="817531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D293A"/>
                </a:solidFill>
              </a:rPr>
              <a:t>conn.</a:t>
            </a:r>
            <a:r>
              <a:rPr lang="en-US" sz="1050" b="1" dirty="0">
                <a:solidFill>
                  <a:srgbClr val="1D293A"/>
                </a:solidFill>
              </a:rPr>
              <a:t>commit()</a:t>
            </a:r>
            <a:endParaRPr lang="en-US" sz="1050" dirty="0">
              <a:solidFill>
                <a:srgbClr val="1D293A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481850" y="4179346"/>
            <a:ext cx="3536156" cy="287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Saves all changes made since the last commit. Required for INSERT, UPDATE, and DELETE operations.</a:t>
            </a:r>
          </a:p>
        </p:txBody>
      </p:sp>
      <p:sp>
        <p:nvSpPr>
          <p:cNvPr id="17" name="Text 14"/>
          <p:cNvSpPr/>
          <p:nvPr/>
        </p:nvSpPr>
        <p:spPr>
          <a:xfrm>
            <a:off x="481850" y="4545073"/>
            <a:ext cx="674865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D293A"/>
                </a:solidFill>
              </a:rPr>
              <a:t>conn</a:t>
            </a:r>
            <a:r>
              <a:rPr lang="en-US" sz="1050" b="1" dirty="0">
                <a:solidFill>
                  <a:srgbClr val="1D293A"/>
                </a:solidFill>
              </a:rPr>
              <a:t>.close()</a:t>
            </a:r>
            <a:endParaRPr lang="en-US" sz="1050" dirty="0">
              <a:solidFill>
                <a:srgbClr val="1D293A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81850" y="4745098"/>
            <a:ext cx="3536156" cy="287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Closes the database connection. Always close connections when finished to free resources.</a:t>
            </a:r>
          </a:p>
        </p:txBody>
      </p:sp>
      <p:sp>
        <p:nvSpPr>
          <p:cNvPr id="19" name="Shape 16"/>
          <p:cNvSpPr/>
          <p:nvPr/>
        </p:nvSpPr>
        <p:spPr>
          <a:xfrm>
            <a:off x="4250531" y="1126335"/>
            <a:ext cx="4325894" cy="396051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0" name="Shape 17"/>
          <p:cNvSpPr/>
          <p:nvPr/>
        </p:nvSpPr>
        <p:spPr>
          <a:xfrm>
            <a:off x="4250531" y="1182988"/>
            <a:ext cx="28575" cy="373453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1" name="Text 18"/>
          <p:cNvSpPr/>
          <p:nvPr/>
        </p:nvSpPr>
        <p:spPr>
          <a:xfrm>
            <a:off x="4511631" y="1182988"/>
            <a:ext cx="4064794" cy="3847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DC2626"/>
                </a:solidFill>
              </a:rPr>
              <a:t>import  </a:t>
            </a:r>
            <a:r>
              <a:rPr lang="en-US" sz="1050" b="1" dirty="0">
                <a:solidFill>
                  <a:srgbClr val="1E293B"/>
                </a:solidFill>
              </a:rPr>
              <a:t>sqlite3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050" i="1" dirty="0">
              <a:solidFill>
                <a:srgbClr val="64748B"/>
              </a:solidFill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64748B"/>
                </a:solidFill>
              </a:rPr>
              <a:t># Connect to database (or create it)</a:t>
            </a:r>
            <a:r>
              <a:rPr lang="en-US" sz="105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conn = </a:t>
            </a:r>
            <a:r>
              <a:rPr lang="en-US" sz="1050" b="1" dirty="0">
                <a:solidFill>
                  <a:srgbClr val="1D293A"/>
                </a:solidFill>
              </a:rPr>
              <a:t>sqlite3</a:t>
            </a:r>
            <a:r>
              <a:rPr lang="en-US" sz="1050" dirty="0">
                <a:solidFill>
                  <a:srgbClr val="1E293B"/>
                </a:solidFill>
              </a:rPr>
              <a:t>.</a:t>
            </a:r>
            <a:r>
              <a:rPr lang="en-US" sz="1050" b="1" dirty="0">
                <a:solidFill>
                  <a:srgbClr val="1E293B"/>
                </a:solidFill>
              </a:rPr>
              <a:t>connect</a:t>
            </a:r>
            <a:r>
              <a:rPr lang="en-US" sz="1050" dirty="0">
                <a:solidFill>
                  <a:srgbClr val="1E293B"/>
                </a:solidFill>
              </a:rPr>
              <a:t>(</a:t>
            </a:r>
            <a:r>
              <a:rPr lang="en-US" sz="1050" dirty="0">
                <a:solidFill>
                  <a:srgbClr val="0EA5E9"/>
                </a:solidFill>
              </a:rPr>
              <a:t>'</a:t>
            </a:r>
            <a:r>
              <a:rPr lang="en-US" sz="1050" dirty="0" err="1">
                <a:solidFill>
                  <a:srgbClr val="0EA5E9"/>
                </a:solidFill>
              </a:rPr>
              <a:t>example.db</a:t>
            </a:r>
            <a:r>
              <a:rPr lang="en-US" sz="1050" dirty="0">
                <a:solidFill>
                  <a:srgbClr val="0EA5E9"/>
                </a:solidFill>
              </a:rPr>
              <a:t>’</a:t>
            </a:r>
            <a:r>
              <a:rPr lang="en-US" sz="1050" dirty="0">
                <a:solidFill>
                  <a:srgbClr val="1E293B"/>
                </a:solidFill>
              </a:rPr>
              <a:t>)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64748B"/>
                </a:solidFill>
              </a:rPr>
              <a:t># Create a cursor object</a:t>
            </a:r>
            <a:r>
              <a:rPr lang="en-US" sz="105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cur = </a:t>
            </a:r>
            <a:r>
              <a:rPr lang="en-US" sz="1050" dirty="0" err="1">
                <a:solidFill>
                  <a:srgbClr val="1E293B"/>
                </a:solidFill>
              </a:rPr>
              <a:t>conn.</a:t>
            </a:r>
            <a:r>
              <a:rPr lang="en-US" sz="1050" b="1" dirty="0" err="1">
                <a:solidFill>
                  <a:srgbClr val="1E293B"/>
                </a:solidFill>
              </a:rPr>
              <a:t>cursor</a:t>
            </a:r>
            <a:r>
              <a:rPr lang="en-US" sz="1050" dirty="0">
                <a:solidFill>
                  <a:srgbClr val="1E293B"/>
                </a:solidFill>
              </a:rPr>
              <a:t>()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64748B"/>
                </a:solidFill>
              </a:rPr>
              <a:t># Create a table</a:t>
            </a:r>
            <a:r>
              <a:rPr lang="en-US" sz="105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dirty="0" err="1">
                <a:solidFill>
                  <a:srgbClr val="1E293B"/>
                </a:solidFill>
              </a:rPr>
              <a:t>cur.</a:t>
            </a:r>
            <a:r>
              <a:rPr lang="en-US" sz="1050" b="1" dirty="0" err="1">
                <a:solidFill>
                  <a:srgbClr val="1E293B"/>
                </a:solidFill>
              </a:rPr>
              <a:t>execute</a:t>
            </a:r>
            <a:r>
              <a:rPr lang="en-US" sz="1050" dirty="0">
                <a:solidFill>
                  <a:srgbClr val="1E293B"/>
                </a:solidFill>
              </a:rPr>
              <a:t>(</a:t>
            </a:r>
            <a:r>
              <a:rPr lang="en-US" sz="1050" dirty="0">
                <a:solidFill>
                  <a:srgbClr val="0EA5E9"/>
                </a:solidFill>
              </a:rPr>
              <a:t>'''CREATE TABLE IF NOT EXISTS users (id INTEGER PRIMARY KEY, name TEXT, age INTEGER)'’’</a:t>
            </a:r>
            <a:r>
              <a:rPr lang="en-US" sz="1050" dirty="0">
                <a:solidFill>
                  <a:srgbClr val="1E293B"/>
                </a:solidFill>
              </a:rPr>
              <a:t>) 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050" i="1" dirty="0">
              <a:solidFill>
                <a:srgbClr val="64748B"/>
              </a:solidFill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64748B"/>
                </a:solidFill>
              </a:rPr>
              <a:t># Insert a row of data</a:t>
            </a:r>
            <a:r>
              <a:rPr lang="en-US" sz="105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dirty="0" err="1">
                <a:solidFill>
                  <a:srgbClr val="1E293B"/>
                </a:solidFill>
              </a:rPr>
              <a:t>cur.</a:t>
            </a:r>
            <a:r>
              <a:rPr lang="en-US" sz="1050" b="1" dirty="0" err="1">
                <a:solidFill>
                  <a:srgbClr val="1E293B"/>
                </a:solidFill>
              </a:rPr>
              <a:t>execute</a:t>
            </a:r>
            <a:r>
              <a:rPr lang="en-US" sz="1050" dirty="0">
                <a:solidFill>
                  <a:srgbClr val="1E293B"/>
                </a:solidFill>
              </a:rPr>
              <a:t>(</a:t>
            </a:r>
            <a:r>
              <a:rPr lang="en-US" sz="1050" dirty="0">
                <a:solidFill>
                  <a:srgbClr val="0EA5E9"/>
                </a:solidFill>
              </a:rPr>
              <a:t>"INSERT INTO users (name, age) VALUES (?, ?)"</a:t>
            </a:r>
            <a:r>
              <a:rPr lang="en-US" sz="1050" dirty="0">
                <a:solidFill>
                  <a:srgbClr val="1E293B"/>
                </a:solidFill>
              </a:rPr>
              <a:t>, (</a:t>
            </a:r>
            <a:r>
              <a:rPr lang="en-US" sz="1050" dirty="0">
                <a:solidFill>
                  <a:srgbClr val="0EA5E9"/>
                </a:solidFill>
              </a:rPr>
              <a:t>'Alice'</a:t>
            </a:r>
            <a:r>
              <a:rPr lang="en-US" sz="1050" dirty="0">
                <a:solidFill>
                  <a:srgbClr val="1E293B"/>
                </a:solidFill>
              </a:rPr>
              <a:t>, </a:t>
            </a:r>
            <a:r>
              <a:rPr lang="en-US" sz="1050" dirty="0">
                <a:solidFill>
                  <a:srgbClr val="0EA5E9"/>
                </a:solidFill>
              </a:rPr>
              <a:t>30</a:t>
            </a:r>
            <a:r>
              <a:rPr lang="en-US" sz="1050" dirty="0">
                <a:solidFill>
                  <a:srgbClr val="1E293B"/>
                </a:solidFill>
              </a:rPr>
              <a:t>)) 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050" i="1" dirty="0">
              <a:solidFill>
                <a:srgbClr val="1E293B"/>
              </a:solidFill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64748B"/>
                </a:solidFill>
              </a:rPr>
              <a:t># Save (commit) the changes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 conn.</a:t>
            </a:r>
            <a:r>
              <a:rPr lang="en-US" sz="1050" b="1" dirty="0">
                <a:solidFill>
                  <a:srgbClr val="1E293B"/>
                </a:solidFill>
              </a:rPr>
              <a:t>commit</a:t>
            </a:r>
            <a:r>
              <a:rPr lang="en-US" sz="1050" dirty="0">
                <a:solidFill>
                  <a:srgbClr val="1E293B"/>
                </a:solidFill>
              </a:rPr>
              <a:t>() 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050" i="1" dirty="0">
              <a:solidFill>
                <a:srgbClr val="1E293B"/>
              </a:solidFill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64748B"/>
                </a:solidFill>
              </a:rPr>
              <a:t># Query the database</a:t>
            </a:r>
            <a:r>
              <a:rPr lang="en-US" sz="105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dirty="0" err="1">
                <a:solidFill>
                  <a:srgbClr val="1E293B"/>
                </a:solidFill>
              </a:rPr>
              <a:t>cur.</a:t>
            </a:r>
            <a:r>
              <a:rPr lang="en-US" sz="1050" b="1" dirty="0" err="1">
                <a:solidFill>
                  <a:srgbClr val="1E293B"/>
                </a:solidFill>
              </a:rPr>
              <a:t>execute</a:t>
            </a:r>
            <a:r>
              <a:rPr lang="en-US" sz="1050" dirty="0">
                <a:solidFill>
                  <a:srgbClr val="1E293B"/>
                </a:solidFill>
              </a:rPr>
              <a:t>(</a:t>
            </a:r>
            <a:r>
              <a:rPr lang="en-US" sz="1050" dirty="0">
                <a:solidFill>
                  <a:srgbClr val="0EA5E9"/>
                </a:solidFill>
              </a:rPr>
              <a:t>"SELECT * FROM users"</a:t>
            </a:r>
            <a:r>
              <a:rPr lang="en-US" sz="1050" dirty="0">
                <a:solidFill>
                  <a:srgbClr val="1E293B"/>
                </a:solidFill>
              </a:rPr>
              <a:t>) 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050" b="1" dirty="0">
              <a:solidFill>
                <a:srgbClr val="1E293B"/>
              </a:solidFill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6366F1"/>
                </a:solidFill>
              </a:rPr>
              <a:t>print</a:t>
            </a:r>
            <a:r>
              <a:rPr lang="en-US" sz="1050" dirty="0">
                <a:solidFill>
                  <a:srgbClr val="1E293B"/>
                </a:solidFill>
              </a:rPr>
              <a:t>(cur.</a:t>
            </a:r>
            <a:r>
              <a:rPr lang="en-US" sz="1050" b="1" dirty="0">
                <a:solidFill>
                  <a:srgbClr val="1E293B"/>
                </a:solidFill>
              </a:rPr>
              <a:t>fetchall</a:t>
            </a:r>
            <a:r>
              <a:rPr lang="en-US" sz="1050" dirty="0">
                <a:solidFill>
                  <a:srgbClr val="1E293B"/>
                </a:solidFill>
              </a:rPr>
              <a:t>()) </a:t>
            </a:r>
          </a:p>
          <a:p>
            <a:pPr marL="0" indent="0" algn="l">
              <a:lnSpc>
                <a:spcPts val="1200"/>
              </a:lnSpc>
              <a:buNone/>
            </a:pPr>
            <a:endParaRPr lang="en-US" sz="1050" i="1" dirty="0">
              <a:solidFill>
                <a:srgbClr val="1E293B"/>
              </a:solidFill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64748B"/>
                </a:solidFill>
              </a:rPr>
              <a:t># Close the connection</a:t>
            </a:r>
            <a:r>
              <a:rPr lang="en-US" sz="105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50" dirty="0" err="1">
                <a:solidFill>
                  <a:srgbClr val="1E293B"/>
                </a:solidFill>
              </a:rPr>
              <a:t>conn.</a:t>
            </a:r>
            <a:r>
              <a:rPr lang="en-US" sz="1050" b="1" dirty="0" err="1">
                <a:solidFill>
                  <a:srgbClr val="1E293B"/>
                </a:solidFill>
              </a:rPr>
              <a:t>close</a:t>
            </a:r>
            <a:r>
              <a:rPr lang="en-US" sz="1050" dirty="0">
                <a:solidFill>
                  <a:srgbClr val="1E293B"/>
                </a:solidFill>
              </a:rPr>
              <a:t>()</a:t>
            </a:r>
            <a:endParaRPr lang="en-US" sz="105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5522BC98-1A51-3532-6FF8-751FE820ACC6}"/>
              </a:ext>
            </a:extLst>
          </p:cNvPr>
          <p:cNvSpPr/>
          <p:nvPr/>
        </p:nvSpPr>
        <p:spPr>
          <a:xfrm>
            <a:off x="1609701" y="897467"/>
            <a:ext cx="7016344" cy="1413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provides a simple interface to interact with SQLite databases. Here are the core functions you'll use in every database operation.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5643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892969"/>
            <a:ext cx="80010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564356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1E3A8A"/>
                </a:solidFill>
              </a:rPr>
              <a:t>CREATE TABLE — Building Your Database Structure</a:t>
            </a:r>
            <a:endParaRPr lang="en-US" sz="2016" dirty="0"/>
          </a:p>
        </p:txBody>
      </p:sp>
      <p:sp>
        <p:nvSpPr>
          <p:cNvPr id="6" name="Shape 3"/>
          <p:cNvSpPr/>
          <p:nvPr/>
        </p:nvSpPr>
        <p:spPr>
          <a:xfrm>
            <a:off x="571500" y="1143000"/>
            <a:ext cx="3893344" cy="357187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0094" y="1321594"/>
            <a:ext cx="3536156" cy="32146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6366F1"/>
                </a:solidFill>
              </a:rPr>
              <a:t>SQL Syntax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750094" y="1785938"/>
            <a:ext cx="3536156" cy="2750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50094" y="1785938"/>
            <a:ext cx="3536156" cy="117083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DC2626"/>
                </a:solidFill>
              </a:rPr>
              <a:t>CREATE TABLE</a:t>
            </a:r>
            <a:r>
              <a:rPr lang="en-US" sz="1050" dirty="0">
                <a:solidFill>
                  <a:srgbClr val="1E293B"/>
                </a:solidFill>
              </a:rPr>
              <a:t> users (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id </a:t>
            </a:r>
            <a:r>
              <a:rPr lang="en-US" sz="1050" b="1" dirty="0">
                <a:solidFill>
                  <a:srgbClr val="059669"/>
                </a:solidFill>
              </a:rPr>
              <a:t>INTEGER </a:t>
            </a:r>
            <a:r>
              <a:rPr lang="en-US" sz="1050" b="1" dirty="0">
                <a:solidFill>
                  <a:srgbClr val="6366F1"/>
                </a:solidFill>
              </a:rPr>
              <a:t>PRIMARY KEY AUTOINCREMENT</a:t>
            </a:r>
            <a:r>
              <a:rPr lang="en-US" sz="1050" dirty="0">
                <a:solidFill>
                  <a:srgbClr val="1E293B"/>
                </a:solidFill>
              </a:rPr>
              <a:t>,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username </a:t>
            </a:r>
            <a:r>
              <a:rPr lang="en-US" sz="1050" b="1" dirty="0">
                <a:solidFill>
                  <a:srgbClr val="059669"/>
                </a:solidFill>
              </a:rPr>
              <a:t>TEXT </a:t>
            </a:r>
            <a:r>
              <a:rPr lang="en-US" sz="1050" b="1" dirty="0">
                <a:solidFill>
                  <a:srgbClr val="6366F1"/>
                </a:solidFill>
              </a:rPr>
              <a:t>NOT NULL UNIQUE</a:t>
            </a:r>
            <a:r>
              <a:rPr lang="en-US" sz="1050" dirty="0">
                <a:solidFill>
                  <a:srgbClr val="1E293B"/>
                </a:solidFill>
              </a:rPr>
              <a:t>,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1E293B"/>
                </a:solidFill>
              </a:rPr>
              <a:t>password_hash</a:t>
            </a:r>
            <a:r>
              <a:rPr lang="en-US" sz="1050" dirty="0">
                <a:solidFill>
                  <a:srgbClr val="1E293B"/>
                </a:solidFill>
              </a:rPr>
              <a:t> </a:t>
            </a:r>
            <a:r>
              <a:rPr lang="en-US" sz="1050" b="1" dirty="0">
                <a:solidFill>
                  <a:srgbClr val="059669"/>
                </a:solidFill>
              </a:rPr>
              <a:t>TEXT </a:t>
            </a:r>
            <a:r>
              <a:rPr lang="en-US" sz="1050" b="1" dirty="0">
                <a:solidFill>
                  <a:srgbClr val="6366F1"/>
                </a:solidFill>
              </a:rPr>
              <a:t>NOT NULL</a:t>
            </a:r>
            <a:r>
              <a:rPr lang="en-US" sz="1050" dirty="0">
                <a:solidFill>
                  <a:srgbClr val="1E293B"/>
                </a:solidFill>
              </a:rPr>
              <a:t>,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role </a:t>
            </a:r>
            <a:r>
              <a:rPr lang="en-US" sz="1050" b="1" dirty="0">
                <a:solidFill>
                  <a:srgbClr val="059669"/>
                </a:solidFill>
              </a:rPr>
              <a:t>TEXT </a:t>
            </a:r>
            <a:r>
              <a:rPr lang="en-US" sz="1050" b="1" dirty="0">
                <a:solidFill>
                  <a:srgbClr val="6366F1"/>
                </a:solidFill>
              </a:rPr>
              <a:t>DEFAULT </a:t>
            </a:r>
            <a:r>
              <a:rPr lang="en-US" sz="1050" dirty="0">
                <a:solidFill>
                  <a:srgbClr val="059669"/>
                </a:solidFill>
              </a:rPr>
              <a:t>'user'</a:t>
            </a:r>
            <a:r>
              <a:rPr lang="en-US" sz="1050" dirty="0">
                <a:solidFill>
                  <a:srgbClr val="1E293B"/>
                </a:solidFill>
              </a:rPr>
              <a:t> );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79156" y="1143000"/>
            <a:ext cx="3893344" cy="357187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57750" y="1321594"/>
            <a:ext cx="3536156" cy="32146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EA5E9"/>
                </a:solidFill>
              </a:rPr>
              <a:t>Python Implementation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4857750" y="1785938"/>
            <a:ext cx="3536156" cy="2750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57750" y="1785938"/>
            <a:ext cx="3536156" cy="283628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DC2626"/>
                </a:solidFill>
              </a:rPr>
              <a:t>Import </a:t>
            </a:r>
            <a:r>
              <a:rPr lang="en-US" sz="1000" b="1" dirty="0">
                <a:solidFill>
                  <a:srgbClr val="6366F1"/>
                </a:solidFill>
              </a:rPr>
              <a:t>sqlite3</a:t>
            </a:r>
          </a:p>
          <a:p>
            <a:pPr marL="0" indent="0" algn="l">
              <a:lnSpc>
                <a:spcPts val="1300"/>
              </a:lnSpc>
              <a:buNone/>
            </a:pPr>
            <a:endParaRPr lang="en-US" sz="1000" i="1" dirty="0">
              <a:solidFill>
                <a:srgbClr val="64748B"/>
              </a:solidFill>
            </a:endParaRP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4748B"/>
                </a:solidFill>
              </a:rPr>
              <a:t># Connect to database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conn = </a:t>
            </a:r>
            <a:r>
              <a:rPr lang="en-US" sz="1000" b="1" dirty="0">
                <a:solidFill>
                  <a:srgbClr val="6366F1"/>
                </a:solidFill>
              </a:rPr>
              <a:t>sqlite3</a:t>
            </a:r>
            <a:r>
              <a:rPr lang="en-US" sz="1000" dirty="0">
                <a:solidFill>
                  <a:srgbClr val="1E293B"/>
                </a:solidFill>
              </a:rPr>
              <a:t>.</a:t>
            </a:r>
            <a:r>
              <a:rPr lang="en-US" sz="1000" b="1" dirty="0">
                <a:solidFill>
                  <a:srgbClr val="0EA5E9"/>
                </a:solidFill>
              </a:rPr>
              <a:t>connect</a:t>
            </a:r>
            <a:r>
              <a:rPr lang="en-US" sz="1000" dirty="0">
                <a:solidFill>
                  <a:srgbClr val="1E293B"/>
                </a:solidFill>
              </a:rPr>
              <a:t>(</a:t>
            </a:r>
            <a:r>
              <a:rPr lang="en-US" sz="1000" dirty="0">
                <a:solidFill>
                  <a:srgbClr val="059669"/>
                </a:solidFill>
              </a:rPr>
              <a:t>'DATA/</a:t>
            </a:r>
            <a:r>
              <a:rPr lang="en-US" sz="1000" dirty="0" err="1">
                <a:solidFill>
                  <a:srgbClr val="059669"/>
                </a:solidFill>
              </a:rPr>
              <a:t>intelligence_platform.db</a:t>
            </a:r>
            <a:r>
              <a:rPr lang="en-US" sz="1000" dirty="0">
                <a:solidFill>
                  <a:srgbClr val="059669"/>
                </a:solidFill>
              </a:rPr>
              <a:t>’</a:t>
            </a:r>
            <a:r>
              <a:rPr lang="en-US" sz="1000" dirty="0">
                <a:solidFill>
                  <a:srgbClr val="1E293B"/>
                </a:solidFill>
              </a:rPr>
              <a:t>)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cursor = </a:t>
            </a:r>
            <a:r>
              <a:rPr lang="en-US" sz="1000" dirty="0" err="1">
                <a:solidFill>
                  <a:srgbClr val="1E293B"/>
                </a:solidFill>
              </a:rPr>
              <a:t>conn.</a:t>
            </a:r>
            <a:r>
              <a:rPr lang="en-US" sz="1000" b="1" dirty="0" err="1">
                <a:solidFill>
                  <a:srgbClr val="0EA5E9"/>
                </a:solidFill>
              </a:rPr>
              <a:t>cursor</a:t>
            </a:r>
            <a:r>
              <a:rPr lang="en-US" sz="1000" dirty="0">
                <a:solidFill>
                  <a:srgbClr val="1E293B"/>
                </a:solidFill>
              </a:rPr>
              <a:t>()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4748B"/>
                </a:solidFill>
              </a:rPr>
              <a:t># Create table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1E293B"/>
                </a:solidFill>
              </a:rPr>
              <a:t>cursor.</a:t>
            </a:r>
            <a:r>
              <a:rPr lang="en-US" sz="1000" b="1" dirty="0" err="1">
                <a:solidFill>
                  <a:srgbClr val="0EA5E9"/>
                </a:solidFill>
              </a:rPr>
              <a:t>execute</a:t>
            </a:r>
            <a:r>
              <a:rPr lang="en-US" sz="1000" dirty="0">
                <a:solidFill>
                  <a:srgbClr val="1E293B"/>
                </a:solidFill>
              </a:rPr>
              <a:t>(</a:t>
            </a:r>
            <a:r>
              <a:rPr lang="en-US" sz="1000" dirty="0">
                <a:solidFill>
                  <a:srgbClr val="059669"/>
                </a:solidFill>
              </a:rPr>
              <a:t>""" CREATE TABLE IF NOT EXISTS users (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059669"/>
                </a:solidFill>
              </a:rPr>
              <a:t>id INTEGER PRIMARY KEY AUTOINCREMENT,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059669"/>
                </a:solidFill>
              </a:rPr>
              <a:t>username TEXT NOT NULL UNIQUE,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059669"/>
                </a:solidFill>
              </a:rPr>
              <a:t>password_hash</a:t>
            </a:r>
            <a:r>
              <a:rPr lang="en-US" sz="1000" dirty="0">
                <a:solidFill>
                  <a:srgbClr val="059669"/>
                </a:solidFill>
              </a:rPr>
              <a:t> TEXT NOT NULL,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059669"/>
                </a:solidFill>
              </a:rPr>
              <a:t>role TEXT DEFAULT 'user' ) """</a:t>
            </a:r>
            <a:r>
              <a:rPr lang="en-US" sz="1000" dirty="0">
                <a:solidFill>
                  <a:srgbClr val="1E293B"/>
                </a:solidFill>
              </a:rPr>
              <a:t>) </a:t>
            </a:r>
          </a:p>
          <a:p>
            <a:pPr marL="0" indent="0" algn="l">
              <a:lnSpc>
                <a:spcPts val="1300"/>
              </a:lnSpc>
              <a:buNone/>
            </a:pPr>
            <a:endParaRPr lang="en-US" sz="1000" i="1" dirty="0">
              <a:solidFill>
                <a:srgbClr val="1E293B"/>
              </a:solidFill>
            </a:endParaRP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4748B"/>
                </a:solidFill>
              </a:rPr>
              <a:t># Save changes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1E293B"/>
                </a:solidFill>
              </a:rPr>
              <a:t>conn.</a:t>
            </a:r>
            <a:r>
              <a:rPr lang="en-US" sz="1000" b="1" dirty="0" err="1">
                <a:solidFill>
                  <a:srgbClr val="0EA5E9"/>
                </a:solidFill>
              </a:rPr>
              <a:t>commit</a:t>
            </a:r>
            <a:r>
              <a:rPr lang="en-US" sz="1000" dirty="0">
                <a:solidFill>
                  <a:srgbClr val="1E293B"/>
                </a:solidFill>
              </a:rPr>
              <a:t>()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50031"/>
            <a:ext cx="8001000" cy="5429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764381"/>
            <a:ext cx="80010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250031"/>
            <a:ext cx="8001000" cy="542925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1E3A8A"/>
                </a:solidFill>
              </a:rPr>
              <a:t>INSERT — Adding Data to Your Database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571500" y="907256"/>
            <a:ext cx="3911203" cy="250031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SQL Syntax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571500" y="1228725"/>
            <a:ext cx="3911203" cy="100012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1500" y="1228725"/>
            <a:ext cx="3911203" cy="732893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DC2626"/>
                </a:solidFill>
              </a:rPr>
              <a:t>INSERT INTO </a:t>
            </a:r>
            <a:r>
              <a:rPr lang="en-US" sz="1000" b="1" dirty="0">
                <a:solidFill>
                  <a:srgbClr val="1E3A8A"/>
                </a:solidFill>
              </a:rPr>
              <a:t>users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(</a:t>
            </a:r>
            <a:r>
              <a:rPr lang="en-US" sz="1000" dirty="0">
                <a:solidFill>
                  <a:srgbClr val="0EA5E9"/>
                </a:solidFill>
              </a:rPr>
              <a:t>username</a:t>
            </a:r>
            <a:r>
              <a:rPr lang="en-US" sz="1000" dirty="0">
                <a:solidFill>
                  <a:srgbClr val="1E293B"/>
                </a:solidFill>
              </a:rPr>
              <a:t>, </a:t>
            </a:r>
            <a:r>
              <a:rPr lang="en-US" sz="1000" dirty="0">
                <a:solidFill>
                  <a:srgbClr val="0EA5E9"/>
                </a:solidFill>
              </a:rPr>
              <a:t>password_hash</a:t>
            </a:r>
            <a:r>
              <a:rPr lang="en-US" sz="1000" dirty="0">
                <a:solidFill>
                  <a:srgbClr val="1E293B"/>
                </a:solidFill>
              </a:rPr>
              <a:t>, </a:t>
            </a:r>
            <a:r>
              <a:rPr lang="en-US" sz="1000" dirty="0">
                <a:solidFill>
                  <a:srgbClr val="0EA5E9"/>
                </a:solidFill>
              </a:rPr>
              <a:t>role</a:t>
            </a:r>
            <a:r>
              <a:rPr lang="en-US" sz="1000" dirty="0">
                <a:solidFill>
                  <a:srgbClr val="1E293B"/>
                </a:solidFill>
              </a:rPr>
              <a:t>)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DC2626"/>
                </a:solidFill>
              </a:rPr>
              <a:t>VALUES</a:t>
            </a:r>
            <a:r>
              <a:rPr lang="en-US" sz="1000" dirty="0">
                <a:solidFill>
                  <a:srgbClr val="1E293B"/>
                </a:solidFill>
              </a:rPr>
              <a:t> (</a:t>
            </a:r>
            <a:r>
              <a:rPr lang="en-US" sz="1000" dirty="0">
                <a:solidFill>
                  <a:srgbClr val="059669"/>
                </a:solidFill>
              </a:rPr>
              <a:t>'alice'</a:t>
            </a:r>
            <a:r>
              <a:rPr lang="en-US" sz="1000" dirty="0">
                <a:solidFill>
                  <a:srgbClr val="1E293B"/>
                </a:solidFill>
              </a:rPr>
              <a:t>, </a:t>
            </a:r>
            <a:r>
              <a:rPr lang="en-US" sz="1000" dirty="0">
                <a:solidFill>
                  <a:srgbClr val="059669"/>
                </a:solidFill>
              </a:rPr>
              <a:t>'hashed_password_123'</a:t>
            </a:r>
            <a:r>
              <a:rPr lang="en-US" sz="1000" dirty="0">
                <a:solidFill>
                  <a:srgbClr val="1E293B"/>
                </a:solidFill>
              </a:rPr>
              <a:t>, </a:t>
            </a:r>
            <a:r>
              <a:rPr lang="en-US" sz="1000" dirty="0">
                <a:solidFill>
                  <a:srgbClr val="059669"/>
                </a:solidFill>
              </a:rPr>
              <a:t>'admin'</a:t>
            </a:r>
            <a:r>
              <a:rPr lang="en-US" sz="1000" dirty="0">
                <a:solidFill>
                  <a:srgbClr val="1E293B"/>
                </a:solidFill>
              </a:rPr>
              <a:t>);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5787" y="2363837"/>
            <a:ext cx="3911203" cy="250031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What This Does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571500" y="2621756"/>
            <a:ext cx="3911203" cy="71437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71513" y="2818935"/>
            <a:ext cx="3711178" cy="325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Adds a new row to the </a:t>
            </a:r>
            <a:r>
              <a:rPr lang="en-US" sz="1000" b="1" dirty="0">
                <a:solidFill>
                  <a:srgbClr val="1E3A8A"/>
                </a:solidFill>
              </a:rPr>
              <a:t>users</a:t>
            </a:r>
            <a:r>
              <a:rPr lang="en-US" sz="1000" dirty="0">
                <a:solidFill>
                  <a:srgbClr val="475569"/>
                </a:solidFill>
              </a:rPr>
              <a:t> table with the specified values.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 The </a:t>
            </a:r>
            <a:r>
              <a:rPr lang="en-US" sz="1000" b="1" dirty="0">
                <a:solidFill>
                  <a:srgbClr val="DC2626"/>
                </a:solidFill>
              </a:rPr>
              <a:t>id</a:t>
            </a:r>
            <a:r>
              <a:rPr lang="en-US" sz="1000" dirty="0">
                <a:solidFill>
                  <a:srgbClr val="475569"/>
                </a:solidFill>
              </a:rPr>
              <a:t> column is auto-generated.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61297" y="907256"/>
            <a:ext cx="3911203" cy="250031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Python Implementation (SECURE)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4661297" y="1228725"/>
            <a:ext cx="3911203" cy="116303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61295" y="1093643"/>
            <a:ext cx="3911203" cy="1399742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DC2626"/>
                </a:solidFill>
              </a:rPr>
              <a:t>import</a:t>
            </a:r>
            <a:r>
              <a:rPr lang="en-US" sz="1000" dirty="0">
                <a:solidFill>
                  <a:srgbClr val="1E293B"/>
                </a:solidFill>
              </a:rPr>
              <a:t> sqlite3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conn = sqlite3.</a:t>
            </a:r>
            <a:r>
              <a:rPr lang="en-US" sz="1000" b="1" dirty="0">
                <a:solidFill>
                  <a:srgbClr val="0EA5E9"/>
                </a:solidFill>
              </a:rPr>
              <a:t>connect</a:t>
            </a:r>
            <a:r>
              <a:rPr lang="en-US" sz="1000" dirty="0">
                <a:solidFill>
                  <a:srgbClr val="1E293B"/>
                </a:solidFill>
              </a:rPr>
              <a:t>(</a:t>
            </a:r>
            <a:r>
              <a:rPr lang="en-US" sz="1000" dirty="0">
                <a:solidFill>
                  <a:srgbClr val="059669"/>
                </a:solidFill>
              </a:rPr>
              <a:t>'DATA/</a:t>
            </a:r>
            <a:r>
              <a:rPr lang="en-US" sz="1000" dirty="0" err="1">
                <a:solidFill>
                  <a:srgbClr val="059669"/>
                </a:solidFill>
              </a:rPr>
              <a:t>intelligence_platform.db</a:t>
            </a:r>
            <a:r>
              <a:rPr lang="en-US" sz="1000" dirty="0">
                <a:solidFill>
                  <a:srgbClr val="059669"/>
                </a:solidFill>
              </a:rPr>
              <a:t>’</a:t>
            </a:r>
            <a:r>
              <a:rPr lang="en-US" sz="1000" dirty="0">
                <a:solidFill>
                  <a:srgbClr val="1E293B"/>
                </a:solidFill>
              </a:rPr>
              <a:t>)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cursor = </a:t>
            </a:r>
            <a:r>
              <a:rPr lang="en-US" sz="1000" dirty="0" err="1">
                <a:solidFill>
                  <a:srgbClr val="1E293B"/>
                </a:solidFill>
              </a:rPr>
              <a:t>conn.</a:t>
            </a:r>
            <a:r>
              <a:rPr lang="en-US" sz="1000" b="1" dirty="0" err="1">
                <a:solidFill>
                  <a:srgbClr val="0EA5E9"/>
                </a:solidFill>
              </a:rPr>
              <a:t>cursor</a:t>
            </a:r>
            <a:r>
              <a:rPr lang="en-US" sz="1000" dirty="0">
                <a:solidFill>
                  <a:srgbClr val="1E293B"/>
                </a:solidFill>
              </a:rPr>
              <a:t>()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1E293B"/>
                </a:solidFill>
              </a:rPr>
              <a:t>cursor.</a:t>
            </a:r>
            <a:r>
              <a:rPr lang="en-US" sz="1000" b="1" dirty="0" err="1">
                <a:solidFill>
                  <a:srgbClr val="0EA5E9"/>
                </a:solidFill>
              </a:rPr>
              <a:t>execute</a:t>
            </a:r>
            <a:r>
              <a:rPr lang="en-US" sz="1000" dirty="0">
                <a:solidFill>
                  <a:srgbClr val="1E293B"/>
                </a:solidFill>
              </a:rPr>
              <a:t>(</a:t>
            </a:r>
            <a:r>
              <a:rPr lang="en-US" sz="1000" dirty="0">
                <a:solidFill>
                  <a:srgbClr val="059669"/>
                </a:solidFill>
              </a:rPr>
              <a:t>""" INSERT INTO users </a:t>
            </a:r>
          </a:p>
          <a:p>
            <a:pPr>
              <a:lnSpc>
                <a:spcPts val="1300"/>
              </a:lnSpc>
            </a:pPr>
            <a:r>
              <a:rPr lang="en-US" sz="1000" dirty="0">
                <a:solidFill>
                  <a:srgbClr val="059669"/>
                </a:solidFill>
              </a:rPr>
              <a:t>(username, password_hash, role) VALUES (?, ?, ?) """</a:t>
            </a:r>
            <a:r>
              <a:rPr lang="en-US" sz="1000" dirty="0">
                <a:solidFill>
                  <a:srgbClr val="1E293B"/>
                </a:solidFill>
              </a:rPr>
              <a:t>, (</a:t>
            </a:r>
            <a:r>
              <a:rPr lang="en-US" sz="1000" dirty="0">
                <a:solidFill>
                  <a:srgbClr val="059669"/>
                </a:solidFill>
              </a:rPr>
              <a:t>'alice'</a:t>
            </a:r>
            <a:r>
              <a:rPr lang="en-US" sz="1000" dirty="0">
                <a:solidFill>
                  <a:srgbClr val="1E293B"/>
                </a:solidFill>
              </a:rPr>
              <a:t>, </a:t>
            </a:r>
            <a:r>
              <a:rPr lang="en-US" sz="1000" dirty="0">
                <a:solidFill>
                  <a:srgbClr val="059669"/>
                </a:solidFill>
              </a:rPr>
              <a:t>'hashed_password_123'</a:t>
            </a:r>
            <a:r>
              <a:rPr lang="en-US" sz="1000" dirty="0">
                <a:solidFill>
                  <a:srgbClr val="1E293B"/>
                </a:solidFill>
              </a:rPr>
              <a:t>, </a:t>
            </a:r>
            <a:r>
              <a:rPr lang="en-US" sz="1000" dirty="0">
                <a:solidFill>
                  <a:srgbClr val="059669"/>
                </a:solidFill>
              </a:rPr>
              <a:t>'admin’</a:t>
            </a:r>
            <a:r>
              <a:rPr lang="en-US" sz="1000" dirty="0">
                <a:solidFill>
                  <a:srgbClr val="1E293B"/>
                </a:solidFill>
              </a:rPr>
              <a:t>)) </a:t>
            </a:r>
            <a:r>
              <a:rPr lang="en-US" sz="1000" i="1" dirty="0">
                <a:solidFill>
                  <a:srgbClr val="64748B"/>
                </a:solidFill>
              </a:rPr>
              <a:t># ALWAYS use ? placeholders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1E293B"/>
                </a:solidFill>
              </a:rPr>
              <a:t>conn.</a:t>
            </a:r>
            <a:r>
              <a:rPr lang="en-US" sz="1000" b="1" dirty="0" err="1">
                <a:solidFill>
                  <a:srgbClr val="0EA5E9"/>
                </a:solidFill>
              </a:rPr>
              <a:t>commit</a:t>
            </a:r>
            <a:r>
              <a:rPr lang="en-US" sz="1000" dirty="0">
                <a:solidFill>
                  <a:srgbClr val="1E293B"/>
                </a:solidFill>
              </a:rPr>
              <a:t>() </a:t>
            </a:r>
            <a:r>
              <a:rPr lang="en-US" sz="1000" i="1" dirty="0">
                <a:solidFill>
                  <a:srgbClr val="64748B"/>
                </a:solidFill>
              </a:rPr>
              <a:t># Save changes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61296" y="2604623"/>
            <a:ext cx="3911203" cy="250031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Key Points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4661296" y="2807062"/>
            <a:ext cx="3911203" cy="42336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61309" y="2818935"/>
            <a:ext cx="3711178" cy="325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The </a:t>
            </a:r>
            <a:r>
              <a:rPr lang="en-US" sz="1000" b="1" dirty="0">
                <a:solidFill>
                  <a:srgbClr val="0EA5E9"/>
                </a:solidFill>
              </a:rPr>
              <a:t>?</a:t>
            </a:r>
            <a:r>
              <a:rPr lang="en-US" sz="1000" dirty="0">
                <a:solidFill>
                  <a:srgbClr val="475569"/>
                </a:solidFill>
              </a:rPr>
              <a:t> placeholders are replaced with tuple values.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DC2626"/>
                </a:solidFill>
              </a:rPr>
              <a:t>commit()</a:t>
            </a:r>
            <a:r>
              <a:rPr lang="en-US" sz="1000" dirty="0">
                <a:solidFill>
                  <a:srgbClr val="475569"/>
                </a:solidFill>
              </a:rPr>
              <a:t> saves changes permanently.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1500" y="3443288"/>
            <a:ext cx="8001000" cy="878681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1500" y="3443288"/>
            <a:ext cx="28575" cy="878681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14400" y="3550444"/>
            <a:ext cx="3223639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i="1" dirty="0">
                <a:solidFill>
                  <a:srgbClr val="DC2626"/>
                </a:solidFill>
              </a:rPr>
              <a:t>Security Critical: Never Use f-strings or String Concatenation!</a:t>
            </a:r>
            <a:endParaRPr lang="en-US" sz="1000" i="1" dirty="0"/>
          </a:p>
        </p:txBody>
      </p:sp>
      <p:sp>
        <p:nvSpPr>
          <p:cNvPr id="22" name="Text 19"/>
          <p:cNvSpPr/>
          <p:nvPr/>
        </p:nvSpPr>
        <p:spPr>
          <a:xfrm>
            <a:off x="714375" y="3764756"/>
            <a:ext cx="7715250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991B1B"/>
                </a:solidFill>
              </a:rPr>
              <a:t> NEVER:</a:t>
            </a:r>
            <a:r>
              <a:rPr lang="en-US" sz="1000" b="1" i="1" dirty="0">
                <a:solidFill>
                  <a:srgbClr val="DC2626"/>
                </a:solidFill>
              </a:rPr>
              <a:t>f"INSERT INTO users VALUES ('{username}')"</a:t>
            </a:r>
            <a:r>
              <a:rPr lang="en-US" sz="1000" i="1" dirty="0">
                <a:solidFill>
                  <a:srgbClr val="991B1B"/>
                </a:solidFill>
              </a:rPr>
              <a:t> or </a:t>
            </a:r>
            <a:r>
              <a:rPr lang="en-US" sz="1000" b="1" i="1" dirty="0">
                <a:solidFill>
                  <a:srgbClr val="DC2626"/>
                </a:solidFill>
              </a:rPr>
              <a:t>"... ('" + username + "')"</a:t>
            </a:r>
            <a:r>
              <a:rPr lang="en-US" sz="1000" i="1" dirty="0">
                <a:solidFill>
                  <a:srgbClr val="991B1B"/>
                </a:solidFill>
              </a:rPr>
              <a:t>
</a:t>
            </a:r>
            <a:r>
              <a:rPr lang="en-US" sz="1000" b="1" i="1" dirty="0">
                <a:solidFill>
                  <a:srgbClr val="991B1B"/>
                </a:solidFill>
              </a:rPr>
              <a:t> ALWAYS:</a:t>
            </a:r>
            <a:r>
              <a:rPr lang="en-US" sz="1000" b="1" i="1" dirty="0">
                <a:solidFill>
                  <a:srgbClr val="DC2626"/>
                </a:solidFill>
              </a:rPr>
              <a:t>"INSERT INTO users VALUES (?)", (username,)</a:t>
            </a:r>
            <a:r>
              <a:rPr lang="en-US" sz="1000" i="1" dirty="0">
                <a:solidFill>
                  <a:srgbClr val="991B1B"/>
                </a:solidFill>
              </a:rPr>
              <a:t>
 Parameterized queries prevent SQL injection by treating user input as data, not code. This is mandatory!</a:t>
            </a:r>
            <a:endParaRPr lang="en-US" sz="1000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578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5643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892969"/>
            <a:ext cx="80010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564356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1E3A8A"/>
                </a:solidFill>
              </a:rPr>
              <a:t>SELECT — Reading Data from Your Database</a:t>
            </a:r>
            <a:endParaRPr lang="en-US" sz="2016" dirty="0"/>
          </a:p>
        </p:txBody>
      </p:sp>
      <p:sp>
        <p:nvSpPr>
          <p:cNvPr id="6" name="Shape 3"/>
          <p:cNvSpPr/>
          <p:nvPr/>
        </p:nvSpPr>
        <p:spPr>
          <a:xfrm>
            <a:off x="571500" y="1143000"/>
            <a:ext cx="3893344" cy="38576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" y="1143000"/>
            <a:ext cx="3893344" cy="38576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SQL Syntax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571500" y="1671638"/>
            <a:ext cx="3893344" cy="340042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00088" y="1800225"/>
            <a:ext cx="69089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3A8A"/>
                </a:solidFill>
              </a:rPr>
              <a:t>Get all users: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00088" y="2021681"/>
            <a:ext cx="3636169" cy="34859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00088" y="2021681"/>
            <a:ext cx="3636169" cy="394467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DC2626"/>
                </a:solidFill>
              </a:rPr>
              <a:t>SELECT</a:t>
            </a:r>
            <a:r>
              <a:rPr lang="en-US" sz="1000" dirty="0">
                <a:solidFill>
                  <a:srgbClr val="1E293B"/>
                </a:solidFill>
              </a:rPr>
              <a:t> * </a:t>
            </a:r>
            <a:r>
              <a:rPr lang="en-US" sz="1000" b="1" dirty="0">
                <a:solidFill>
                  <a:srgbClr val="DC2626"/>
                </a:solidFill>
              </a:rPr>
              <a:t>FROM </a:t>
            </a:r>
            <a:r>
              <a:rPr lang="en-US" sz="1000" b="1" dirty="0">
                <a:solidFill>
                  <a:srgbClr val="0EA5E9"/>
                </a:solidFill>
              </a:rPr>
              <a:t>users</a:t>
            </a:r>
            <a:r>
              <a:rPr lang="en-US" sz="1000" dirty="0">
                <a:solidFill>
                  <a:srgbClr val="1E293B"/>
                </a:solidFill>
              </a:rPr>
              <a:t>;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0088" y="2477430"/>
            <a:ext cx="90569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3A8A"/>
                </a:solidFill>
              </a:rPr>
              <a:t>Get specific user: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00088" y="2698886"/>
            <a:ext cx="3636169" cy="34859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00088" y="2698886"/>
            <a:ext cx="3636169" cy="394467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DC2626"/>
                </a:solidFill>
              </a:rPr>
              <a:t>SELECT</a:t>
            </a:r>
            <a:r>
              <a:rPr lang="en-US" sz="1000" dirty="0">
                <a:solidFill>
                  <a:srgbClr val="1E293B"/>
                </a:solidFill>
              </a:rPr>
              <a:t> * </a:t>
            </a:r>
            <a:r>
              <a:rPr lang="en-US" sz="1000" b="1" dirty="0">
                <a:solidFill>
                  <a:srgbClr val="DC2626"/>
                </a:solidFill>
              </a:rPr>
              <a:t>FROM </a:t>
            </a:r>
            <a:r>
              <a:rPr lang="en-US" sz="1000" b="1" dirty="0">
                <a:solidFill>
                  <a:srgbClr val="0EA5E9"/>
                </a:solidFill>
              </a:rPr>
              <a:t>users </a:t>
            </a:r>
            <a:r>
              <a:rPr lang="en-US" sz="1000" b="1" dirty="0">
                <a:solidFill>
                  <a:srgbClr val="DC2626"/>
                </a:solidFill>
              </a:rPr>
              <a:t>WHERE</a:t>
            </a:r>
            <a:r>
              <a:rPr lang="en-US" sz="1000" dirty="0">
                <a:solidFill>
                  <a:srgbClr val="1E293B"/>
                </a:solidFill>
              </a:rPr>
              <a:t> username = </a:t>
            </a:r>
            <a:r>
              <a:rPr lang="en-US" sz="1000" dirty="0">
                <a:solidFill>
                  <a:srgbClr val="059669"/>
                </a:solidFill>
              </a:rPr>
              <a:t>'alice'</a:t>
            </a:r>
            <a:r>
              <a:rPr lang="en-US" sz="1000" dirty="0">
                <a:solidFill>
                  <a:srgbClr val="1E293B"/>
                </a:solidFill>
              </a:rPr>
              <a:t>;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0088" y="3154635"/>
            <a:ext cx="93294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3A8A"/>
                </a:solidFill>
              </a:rPr>
              <a:t>Get users by role: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00088" y="3376092"/>
            <a:ext cx="3636169" cy="34859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17" name="Text 14"/>
          <p:cNvSpPr/>
          <p:nvPr/>
        </p:nvSpPr>
        <p:spPr>
          <a:xfrm>
            <a:off x="700088" y="3376092"/>
            <a:ext cx="3636169" cy="394467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DC2626"/>
                </a:solidFill>
              </a:rPr>
              <a:t>SELECT</a:t>
            </a:r>
            <a:r>
              <a:rPr lang="en-US" sz="1000" dirty="0">
                <a:solidFill>
                  <a:srgbClr val="1E293B"/>
                </a:solidFill>
              </a:rPr>
              <a:t> username, role </a:t>
            </a:r>
            <a:r>
              <a:rPr lang="en-US" sz="1000" b="1" dirty="0">
                <a:solidFill>
                  <a:srgbClr val="DC2626"/>
                </a:solidFill>
              </a:rPr>
              <a:t>FROM </a:t>
            </a:r>
            <a:r>
              <a:rPr lang="en-US" sz="1000" b="1" dirty="0">
                <a:solidFill>
                  <a:srgbClr val="0EA5E9"/>
                </a:solidFill>
              </a:rPr>
              <a:t>users </a:t>
            </a:r>
            <a:r>
              <a:rPr lang="en-US" sz="1000" b="1" dirty="0">
                <a:solidFill>
                  <a:srgbClr val="DC2626"/>
                </a:solidFill>
              </a:rPr>
              <a:t>WHERE</a:t>
            </a:r>
            <a:r>
              <a:rPr lang="en-US" sz="1000" dirty="0">
                <a:solidFill>
                  <a:srgbClr val="1E293B"/>
                </a:solidFill>
              </a:rPr>
              <a:t> role = </a:t>
            </a:r>
            <a:r>
              <a:rPr lang="en-US" sz="1000" dirty="0">
                <a:solidFill>
                  <a:srgbClr val="059669"/>
                </a:solidFill>
              </a:rPr>
              <a:t>'admin'</a:t>
            </a:r>
            <a:r>
              <a:rPr lang="en-US" sz="1000" dirty="0">
                <a:solidFill>
                  <a:srgbClr val="1E293B"/>
                </a:solidFill>
              </a:rPr>
              <a:t>;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79156" y="1143000"/>
            <a:ext cx="3893344" cy="38576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679156" y="1143000"/>
            <a:ext cx="3893344" cy="38576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Python Implementation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4679156" y="1671638"/>
            <a:ext cx="3893344" cy="340042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07744" y="1800225"/>
            <a:ext cx="69089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3A8A"/>
                </a:solidFill>
              </a:rPr>
              <a:t>Get all users: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07744" y="2021681"/>
            <a:ext cx="3636169" cy="49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07744" y="2021681"/>
            <a:ext cx="3636169" cy="548355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cursor.</a:t>
            </a:r>
            <a:r>
              <a:rPr lang="en-US" sz="1000" b="1" dirty="0">
                <a:solidFill>
                  <a:srgbClr val="0EA5E9"/>
                </a:solidFill>
              </a:rPr>
              <a:t>execute</a:t>
            </a:r>
            <a:r>
              <a:rPr lang="en-US" sz="1000" dirty="0">
                <a:solidFill>
                  <a:srgbClr val="1E293B"/>
                </a:solidFill>
              </a:rPr>
              <a:t>(</a:t>
            </a:r>
            <a:r>
              <a:rPr lang="en-US" sz="1000" dirty="0">
                <a:solidFill>
                  <a:srgbClr val="059669"/>
                </a:solidFill>
              </a:rPr>
              <a:t>"SELECT * FROM users"</a:t>
            </a:r>
            <a:r>
              <a:rPr lang="en-US" sz="1000" dirty="0">
                <a:solidFill>
                  <a:srgbClr val="1E293B"/>
                </a:solidFill>
              </a:rPr>
              <a:t>)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1E293B"/>
                </a:solidFill>
              </a:rPr>
              <a:t>all_users</a:t>
            </a:r>
            <a:r>
              <a:rPr lang="en-US" sz="1000" dirty="0">
                <a:solidFill>
                  <a:srgbClr val="1E293B"/>
                </a:solidFill>
              </a:rPr>
              <a:t> = cursor.</a:t>
            </a:r>
            <a:r>
              <a:rPr lang="en-US" sz="1000" b="1" dirty="0">
                <a:solidFill>
                  <a:srgbClr val="0EA5E9"/>
                </a:solidFill>
              </a:rPr>
              <a:t>fetchall</a:t>
            </a:r>
            <a:r>
              <a:rPr lang="en-US" sz="1000" dirty="0">
                <a:solidFill>
                  <a:srgbClr val="1E293B"/>
                </a:solidFill>
              </a:rPr>
              <a:t>() </a:t>
            </a:r>
            <a:r>
              <a:rPr lang="en-US" sz="1000" i="1" dirty="0">
                <a:solidFill>
                  <a:srgbClr val="64748B"/>
                </a:solidFill>
              </a:rPr>
              <a:t># Returns list of all rows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41685" y="2760202"/>
            <a:ext cx="178414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3A8A"/>
                </a:solidFill>
              </a:rPr>
              <a:t>Get specific user (SECURE with ?):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07744" y="2982999"/>
            <a:ext cx="3636169" cy="49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73802" y="2862626"/>
            <a:ext cx="3636169" cy="702244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cursor.</a:t>
            </a:r>
            <a:r>
              <a:rPr lang="en-US" sz="1000" b="1" dirty="0">
                <a:solidFill>
                  <a:srgbClr val="0EA5E9"/>
                </a:solidFill>
              </a:rPr>
              <a:t>execute</a:t>
            </a:r>
            <a:r>
              <a:rPr lang="en-US" sz="1000" dirty="0">
                <a:solidFill>
                  <a:srgbClr val="1E293B"/>
                </a:solidFill>
              </a:rPr>
              <a:t>( </a:t>
            </a:r>
            <a:r>
              <a:rPr lang="en-US" sz="1000" dirty="0">
                <a:solidFill>
                  <a:srgbClr val="059669"/>
                </a:solidFill>
              </a:rPr>
              <a:t>"SELECT * FROM users WHERE username = ?"</a:t>
            </a:r>
            <a:r>
              <a:rPr lang="en-US" sz="1000" dirty="0">
                <a:solidFill>
                  <a:srgbClr val="1E293B"/>
                </a:solidFill>
              </a:rPr>
              <a:t>, (</a:t>
            </a:r>
            <a:r>
              <a:rPr lang="en-US" sz="1000" dirty="0">
                <a:solidFill>
                  <a:srgbClr val="059669"/>
                </a:solidFill>
              </a:rPr>
              <a:t>'alice'</a:t>
            </a:r>
            <a:r>
              <a:rPr lang="en-US" sz="1000" dirty="0">
                <a:solidFill>
                  <a:srgbClr val="1E293B"/>
                </a:solidFill>
              </a:rPr>
              <a:t>,) )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user = cursor.</a:t>
            </a:r>
            <a:r>
              <a:rPr lang="en-US" sz="1000" b="1" dirty="0">
                <a:solidFill>
                  <a:srgbClr val="0EA5E9"/>
                </a:solidFill>
              </a:rPr>
              <a:t>fetchone</a:t>
            </a:r>
            <a:r>
              <a:rPr lang="en-US" sz="1000" dirty="0">
                <a:solidFill>
                  <a:srgbClr val="1E293B"/>
                </a:solidFill>
              </a:rPr>
              <a:t>() </a:t>
            </a:r>
            <a:r>
              <a:rPr lang="en-US" sz="1000" i="1" dirty="0">
                <a:solidFill>
                  <a:srgbClr val="64748B"/>
                </a:solidFill>
              </a:rPr>
              <a:t># Returns single row or None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07744" y="3559506"/>
            <a:ext cx="93294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3A8A"/>
                </a:solidFill>
              </a:rPr>
              <a:t>Get users by role: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07744" y="3783856"/>
            <a:ext cx="3636169" cy="49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29" name="Text 26"/>
          <p:cNvSpPr/>
          <p:nvPr/>
        </p:nvSpPr>
        <p:spPr>
          <a:xfrm>
            <a:off x="4807744" y="3673227"/>
            <a:ext cx="3636169" cy="702244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cursor.</a:t>
            </a:r>
            <a:r>
              <a:rPr lang="en-US" sz="1000" b="1" dirty="0">
                <a:solidFill>
                  <a:srgbClr val="0EA5E9"/>
                </a:solidFill>
              </a:rPr>
              <a:t>execute</a:t>
            </a:r>
            <a:r>
              <a:rPr lang="en-US" sz="1000" dirty="0">
                <a:solidFill>
                  <a:srgbClr val="1E293B"/>
                </a:solidFill>
              </a:rPr>
              <a:t>( </a:t>
            </a:r>
            <a:r>
              <a:rPr lang="en-US" sz="1000" dirty="0">
                <a:solidFill>
                  <a:srgbClr val="059669"/>
                </a:solidFill>
              </a:rPr>
              <a:t>"SELECT username, role FROM users WHERE role = ?"</a:t>
            </a:r>
            <a:r>
              <a:rPr lang="en-US" sz="1000" dirty="0">
                <a:solidFill>
                  <a:srgbClr val="1E293B"/>
                </a:solidFill>
              </a:rPr>
              <a:t>, (</a:t>
            </a:r>
            <a:r>
              <a:rPr lang="en-US" sz="1000" dirty="0">
                <a:solidFill>
                  <a:srgbClr val="059669"/>
                </a:solidFill>
              </a:rPr>
              <a:t>'admin'</a:t>
            </a:r>
            <a:r>
              <a:rPr lang="en-US" sz="1000" dirty="0">
                <a:solidFill>
                  <a:srgbClr val="1E293B"/>
                </a:solidFill>
              </a:rPr>
              <a:t>,) )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admins = cursor.</a:t>
            </a:r>
            <a:r>
              <a:rPr lang="en-US" sz="1000" b="1" dirty="0">
                <a:solidFill>
                  <a:srgbClr val="0EA5E9"/>
                </a:solidFill>
              </a:rPr>
              <a:t>fetchall</a:t>
            </a:r>
            <a:r>
              <a:rPr lang="en-US" sz="1000" dirty="0">
                <a:solidFill>
                  <a:srgbClr val="1E293B"/>
                </a:solidFill>
              </a:rPr>
              <a:t>() </a:t>
            </a:r>
            <a:r>
              <a:rPr lang="en-US" sz="1000" i="1" dirty="0">
                <a:solidFill>
                  <a:srgbClr val="64748B"/>
                </a:solidFill>
              </a:rPr>
              <a:t># Returns list of matching rows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778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6500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78694"/>
            <a:ext cx="80010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650081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E3A8A"/>
                </a:solidFill>
              </a:rPr>
              <a:t>UPDATE - Modifying Existing Data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264444"/>
            <a:ext cx="3893344" cy="32861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E3A8A"/>
                </a:solidFill>
              </a:rPr>
              <a:t>SQL Syntax</a:t>
            </a:r>
            <a:endParaRPr lang="en-US" sz="1090" dirty="0"/>
          </a:p>
        </p:txBody>
      </p:sp>
      <p:sp>
        <p:nvSpPr>
          <p:cNvPr id="7" name="Shape 4"/>
          <p:cNvSpPr/>
          <p:nvPr/>
        </p:nvSpPr>
        <p:spPr>
          <a:xfrm>
            <a:off x="571500" y="1700213"/>
            <a:ext cx="3893344" cy="200025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1500" y="1700213"/>
            <a:ext cx="3893344" cy="617092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C2626"/>
                </a:solidFill>
              </a:rPr>
              <a:t>UPDATE </a:t>
            </a:r>
            <a:r>
              <a:rPr lang="en-US" sz="1000" b="1" dirty="0">
                <a:solidFill>
                  <a:srgbClr val="1E3A8A"/>
                </a:solidFill>
              </a:rPr>
              <a:t>users </a:t>
            </a:r>
            <a:r>
              <a:rPr lang="en-US" sz="1000" b="1" dirty="0">
                <a:solidFill>
                  <a:srgbClr val="DC2626"/>
                </a:solidFill>
              </a:rPr>
              <a:t>SET </a:t>
            </a:r>
            <a:r>
              <a:rPr lang="en-US" sz="1000" b="1" dirty="0">
                <a:solidFill>
                  <a:srgbClr val="059669"/>
                </a:solidFill>
              </a:rPr>
              <a:t>role</a:t>
            </a:r>
            <a:r>
              <a:rPr lang="en-US" sz="1000" dirty="0">
                <a:solidFill>
                  <a:srgbClr val="1E293B"/>
                </a:solidFill>
              </a:rPr>
              <a:t> = </a:t>
            </a:r>
            <a:r>
              <a:rPr lang="en-US" sz="1000" dirty="0">
                <a:solidFill>
                  <a:srgbClr val="7C3AED"/>
                </a:solidFill>
              </a:rPr>
              <a:t>'admin’ </a:t>
            </a:r>
            <a:r>
              <a:rPr lang="en-US" sz="1000" b="1" dirty="0">
                <a:solidFill>
                  <a:srgbClr val="DC2626"/>
                </a:solidFill>
              </a:rPr>
              <a:t>WHERE </a:t>
            </a:r>
            <a:r>
              <a:rPr lang="en-US" sz="1000" b="1" dirty="0">
                <a:solidFill>
                  <a:srgbClr val="059669"/>
                </a:solidFill>
              </a:rPr>
              <a:t>username</a:t>
            </a:r>
            <a:r>
              <a:rPr lang="en-US" sz="1000" dirty="0">
                <a:solidFill>
                  <a:srgbClr val="1E293B"/>
                </a:solidFill>
              </a:rPr>
              <a:t> = </a:t>
            </a:r>
            <a:r>
              <a:rPr lang="en-US" sz="1000" dirty="0">
                <a:solidFill>
                  <a:srgbClr val="7C3AED"/>
                </a:solidFill>
              </a:rPr>
              <a:t>'alice'</a:t>
            </a:r>
            <a:r>
              <a:rPr lang="en-US" sz="1000" dirty="0">
                <a:solidFill>
                  <a:srgbClr val="1E293B"/>
                </a:solidFill>
              </a:rPr>
              <a:t>;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679156" y="1264444"/>
            <a:ext cx="3893344" cy="32861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E3A8A"/>
                </a:solidFill>
              </a:rPr>
              <a:t>Python Implementation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4679156" y="1700213"/>
            <a:ext cx="3893344" cy="200025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79156" y="1564607"/>
            <a:ext cx="3893344" cy="2258567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i="1" dirty="0">
                <a:solidFill>
                  <a:srgbClr val="64748B"/>
                </a:solidFill>
              </a:rPr>
              <a:t># ALWAYS use WHERE clause and ? placeholders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 err="1">
                <a:solidFill>
                  <a:srgbClr val="1E293B"/>
                </a:solidFill>
              </a:rPr>
              <a:t>cursor.</a:t>
            </a:r>
            <a:r>
              <a:rPr lang="en-US" sz="1000" b="1" dirty="0" err="1">
                <a:solidFill>
                  <a:srgbClr val="0EA5E9"/>
                </a:solidFill>
              </a:rPr>
              <a:t>execute</a:t>
            </a:r>
            <a:r>
              <a:rPr lang="en-US" sz="1000" dirty="0">
                <a:solidFill>
                  <a:srgbClr val="1E293B"/>
                </a:solidFill>
              </a:rPr>
              <a:t>(</a:t>
            </a:r>
            <a:r>
              <a:rPr lang="en-US" sz="1000" dirty="0">
                <a:solidFill>
                  <a:srgbClr val="7C3AED"/>
                </a:solidFill>
              </a:rPr>
              <a:t>""" UPDATE users SET role = ? WHERE username = ? """</a:t>
            </a:r>
            <a:r>
              <a:rPr lang="en-US" sz="1000" dirty="0">
                <a:solidFill>
                  <a:srgbClr val="1E293B"/>
                </a:solidFill>
              </a:rPr>
              <a:t>, (</a:t>
            </a:r>
            <a:r>
              <a:rPr lang="en-US" sz="1000" dirty="0">
                <a:solidFill>
                  <a:srgbClr val="7C3AED"/>
                </a:solidFill>
              </a:rPr>
              <a:t>'admin'</a:t>
            </a:r>
            <a:r>
              <a:rPr lang="en-US" sz="1000" dirty="0">
                <a:solidFill>
                  <a:srgbClr val="1E293B"/>
                </a:solidFill>
              </a:rPr>
              <a:t>, </a:t>
            </a:r>
            <a:r>
              <a:rPr lang="en-US" sz="1000" dirty="0">
                <a:solidFill>
                  <a:srgbClr val="7C3AED"/>
                </a:solidFill>
              </a:rPr>
              <a:t>'</a:t>
            </a:r>
            <a:r>
              <a:rPr lang="en-US" sz="1000" dirty="0" err="1">
                <a:solidFill>
                  <a:srgbClr val="7C3AED"/>
                </a:solidFill>
              </a:rPr>
              <a:t>alice</a:t>
            </a:r>
            <a:r>
              <a:rPr lang="en-US" sz="1000" dirty="0">
                <a:solidFill>
                  <a:srgbClr val="7C3AED"/>
                </a:solidFill>
              </a:rPr>
              <a:t>’</a:t>
            </a:r>
            <a:r>
              <a:rPr lang="en-US" sz="1000" dirty="0">
                <a:solidFill>
                  <a:srgbClr val="1E293B"/>
                </a:solidFill>
              </a:rPr>
              <a:t>))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conn.</a:t>
            </a:r>
            <a:r>
              <a:rPr lang="en-US" sz="1000" b="1" dirty="0" err="1">
                <a:solidFill>
                  <a:srgbClr val="0EA5E9"/>
                </a:solidFill>
              </a:rPr>
              <a:t>commit</a:t>
            </a:r>
            <a:r>
              <a:rPr lang="en-US" sz="1000" dirty="0">
                <a:solidFill>
                  <a:srgbClr val="1E293B"/>
                </a:solidFill>
              </a:rPr>
              <a:t>()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i="1" dirty="0">
                <a:solidFill>
                  <a:srgbClr val="64748B"/>
                </a:solidFill>
              </a:rPr>
              <a:t># Verify the update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 err="1">
                <a:solidFill>
                  <a:srgbClr val="1E293B"/>
                </a:solidFill>
              </a:rPr>
              <a:t>cursor.</a:t>
            </a:r>
            <a:r>
              <a:rPr lang="en-US" sz="1000" b="1" dirty="0" err="1">
                <a:solidFill>
                  <a:srgbClr val="0EA5E9"/>
                </a:solidFill>
              </a:rPr>
              <a:t>execute</a:t>
            </a:r>
            <a:r>
              <a:rPr lang="en-US" sz="1000" dirty="0">
                <a:solidFill>
                  <a:srgbClr val="1E293B"/>
                </a:solidFill>
              </a:rPr>
              <a:t>(</a:t>
            </a:r>
            <a:r>
              <a:rPr lang="en-US" sz="1000" dirty="0">
                <a:solidFill>
                  <a:srgbClr val="7C3AED"/>
                </a:solidFill>
              </a:rPr>
              <a:t>""" SELECT username, role FROM users WHERE username = ? """</a:t>
            </a:r>
            <a:r>
              <a:rPr lang="en-US" sz="1000" dirty="0">
                <a:solidFill>
                  <a:srgbClr val="1E293B"/>
                </a:solidFill>
              </a:rPr>
              <a:t>, (</a:t>
            </a:r>
            <a:r>
              <a:rPr lang="en-US" sz="1000" dirty="0">
                <a:solidFill>
                  <a:srgbClr val="7C3AED"/>
                </a:solidFill>
              </a:rPr>
              <a:t>'alice'</a:t>
            </a:r>
            <a:r>
              <a:rPr lang="en-US" sz="1000" dirty="0">
                <a:solidFill>
                  <a:srgbClr val="1E293B"/>
                </a:solidFill>
              </a:rPr>
              <a:t>,))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result = cursor.</a:t>
            </a:r>
            <a:r>
              <a:rPr lang="en-US" sz="1000" b="1" dirty="0">
                <a:solidFill>
                  <a:srgbClr val="0EA5E9"/>
                </a:solidFill>
              </a:rPr>
              <a:t>fetchone</a:t>
            </a:r>
            <a:r>
              <a:rPr lang="en-US" sz="1000" dirty="0">
                <a:solidFill>
                  <a:srgbClr val="1E293B"/>
                </a:solidFill>
              </a:rPr>
              <a:t>()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C2626"/>
                </a:solidFill>
              </a:rPr>
              <a:t>print</a:t>
            </a:r>
            <a:r>
              <a:rPr lang="en-US" sz="1000" dirty="0">
                <a:solidFill>
                  <a:srgbClr val="1E293B"/>
                </a:solidFill>
              </a:rPr>
              <a:t>(</a:t>
            </a:r>
            <a:r>
              <a:rPr lang="en-US" sz="1000" dirty="0">
                <a:solidFill>
                  <a:srgbClr val="7C3AED"/>
                </a:solidFill>
              </a:rPr>
              <a:t>f"Updated: {result}"</a:t>
            </a:r>
            <a:r>
              <a:rPr lang="en-US" sz="1000" dirty="0">
                <a:solidFill>
                  <a:srgbClr val="1E293B"/>
                </a:solidFill>
              </a:rPr>
              <a:t>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1500" y="3950494"/>
            <a:ext cx="8001000" cy="1051527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71500" y="3950494"/>
            <a:ext cx="8001000" cy="28575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85850" y="4136231"/>
            <a:ext cx="862416" cy="197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b="1" i="1" dirty="0">
                <a:solidFill>
                  <a:srgbClr val="DC2626"/>
                </a:solidFill>
              </a:rPr>
              <a:t>Critical Warning</a:t>
            </a:r>
            <a:endParaRPr lang="en-US" sz="1000" i="1" dirty="0"/>
          </a:p>
        </p:txBody>
      </p:sp>
      <p:sp>
        <p:nvSpPr>
          <p:cNvPr id="16" name="Text 13"/>
          <p:cNvSpPr/>
          <p:nvPr/>
        </p:nvSpPr>
        <p:spPr>
          <a:xfrm>
            <a:off x="750094" y="4464844"/>
            <a:ext cx="7643813" cy="348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91B1B"/>
                </a:solidFill>
              </a:rPr>
              <a:t>Without a </a:t>
            </a:r>
            <a:r>
              <a:rPr lang="en-US" sz="1000" b="1" i="1" dirty="0">
                <a:solidFill>
                  <a:srgbClr val="991B1B"/>
                </a:solidFill>
              </a:rPr>
              <a:t>WHERE</a:t>
            </a:r>
            <a:r>
              <a:rPr lang="en-US" sz="1000" i="1" dirty="0">
                <a:solidFill>
                  <a:srgbClr val="991B1B"/>
                </a:solidFill>
              </a:rPr>
              <a:t> clause, </a:t>
            </a:r>
            <a:r>
              <a:rPr lang="en-US" sz="1000" b="1" i="1" dirty="0">
                <a:solidFill>
                  <a:srgbClr val="991B1B"/>
                </a:solidFill>
              </a:rPr>
              <a:t>UPDATE</a:t>
            </a:r>
            <a:r>
              <a:rPr lang="en-US" sz="1000" i="1" dirty="0">
                <a:solidFill>
                  <a:srgbClr val="991B1B"/>
                </a:solidFill>
              </a:rPr>
              <a:t> will modify ALL rows in the table!  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91B1B"/>
                </a:solidFill>
              </a:rPr>
              <a:t>Always specify which rows to update. Always use parameterized queries (? placeholders) to prevent SQL injection.</a:t>
            </a:r>
            <a:endParaRPr lang="en-US" sz="1000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4494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6500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78694"/>
            <a:ext cx="80010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650081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E3A8A"/>
                </a:solidFill>
              </a:rPr>
              <a:t>DELETE - Removing Data from Your Database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64444"/>
            <a:ext cx="3893344" cy="271462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0094" y="1443038"/>
            <a:ext cx="3536156" cy="364331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E3A8A"/>
                </a:solidFill>
              </a:rPr>
              <a:t>SQL Syntax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750094" y="1950244"/>
            <a:ext cx="3536156" cy="1850231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50094" y="1978819"/>
            <a:ext cx="3536156" cy="5023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472B6"/>
                </a:solidFill>
              </a:rPr>
              <a:t>DELETE FROM </a:t>
            </a:r>
            <a:r>
              <a:rPr lang="en-US" sz="1000" b="1" dirty="0">
                <a:solidFill>
                  <a:srgbClr val="60A5FA"/>
                </a:solidFill>
              </a:rPr>
              <a:t>users </a:t>
            </a:r>
            <a:r>
              <a:rPr lang="en-US" sz="1000" b="1" dirty="0">
                <a:solidFill>
                  <a:srgbClr val="F472B6"/>
                </a:solidFill>
              </a:rPr>
              <a:t>WHERE </a:t>
            </a:r>
            <a:r>
              <a:rPr lang="en-US" sz="1000" dirty="0">
                <a:solidFill>
                  <a:srgbClr val="34D399"/>
                </a:solidFill>
              </a:rPr>
              <a:t>username</a:t>
            </a:r>
            <a:r>
              <a:rPr lang="en-US" sz="1000" dirty="0">
                <a:solidFill>
                  <a:srgbClr val="E2E8F0"/>
                </a:solidFill>
              </a:rPr>
              <a:t> = </a:t>
            </a:r>
            <a:r>
              <a:rPr lang="en-US" sz="1000" dirty="0">
                <a:solidFill>
                  <a:srgbClr val="FCD34D"/>
                </a:solidFill>
              </a:rPr>
              <a:t>'alice'</a:t>
            </a:r>
            <a:r>
              <a:rPr lang="en-US" sz="1000" dirty="0">
                <a:solidFill>
                  <a:srgbClr val="E2E8F0"/>
                </a:solidFill>
              </a:rPr>
              <a:t>;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79156" y="1264444"/>
            <a:ext cx="3893344" cy="271462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57750" y="1443038"/>
            <a:ext cx="3536156" cy="364331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E3A8A"/>
                </a:solidFill>
              </a:rPr>
              <a:t>Python Implementation</a:t>
            </a:r>
            <a:endParaRPr lang="en-US" sz="1193" dirty="0"/>
          </a:p>
        </p:txBody>
      </p:sp>
      <p:sp>
        <p:nvSpPr>
          <p:cNvPr id="12" name="Shape 9"/>
          <p:cNvSpPr/>
          <p:nvPr/>
        </p:nvSpPr>
        <p:spPr>
          <a:xfrm>
            <a:off x="4857750" y="1950244"/>
            <a:ext cx="3536156" cy="1850231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57750" y="1950244"/>
            <a:ext cx="3536156" cy="15025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94A3B8"/>
                </a:solidFill>
              </a:rPr>
              <a:t># ALWAYS use WHERE clause# ALWAYS use parameterized queries</a:t>
            </a:r>
            <a:r>
              <a:rPr lang="en-US" sz="1000" dirty="0">
                <a:solidFill>
                  <a:srgbClr val="E2E8F0"/>
                </a:solidFill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E2E8F0"/>
                </a:solidFill>
              </a:rPr>
              <a:t>cursor.</a:t>
            </a:r>
            <a:r>
              <a:rPr lang="en-US" sz="1000" b="1" dirty="0" err="1">
                <a:solidFill>
                  <a:srgbClr val="60A5FA"/>
                </a:solidFill>
              </a:rPr>
              <a:t>execute</a:t>
            </a:r>
            <a:r>
              <a:rPr lang="en-US" sz="1000" dirty="0">
                <a:solidFill>
                  <a:srgbClr val="E2E8F0"/>
                </a:solidFill>
              </a:rPr>
              <a:t>(</a:t>
            </a:r>
            <a:r>
              <a:rPr lang="en-US" sz="1000" dirty="0">
                <a:solidFill>
                  <a:srgbClr val="FCD34D"/>
                </a:solidFill>
              </a:rPr>
              <a:t>""" DELETE FROM users WHERE username = ? """</a:t>
            </a:r>
            <a:r>
              <a:rPr lang="en-US" sz="1000" dirty="0">
                <a:solidFill>
                  <a:srgbClr val="E2E8F0"/>
                </a:solidFill>
              </a:rPr>
              <a:t>, (</a:t>
            </a:r>
            <a:r>
              <a:rPr lang="en-US" sz="1000" dirty="0">
                <a:solidFill>
                  <a:srgbClr val="FCD34D"/>
                </a:solidFill>
              </a:rPr>
              <a:t>'alice'</a:t>
            </a:r>
            <a:r>
              <a:rPr lang="en-US" sz="1000" dirty="0">
                <a:solidFill>
                  <a:srgbClr val="E2E8F0"/>
                </a:solidFill>
              </a:rPr>
              <a:t>,))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E2E8F0"/>
                </a:solidFill>
              </a:rPr>
              <a:t>conn.</a:t>
            </a:r>
            <a:r>
              <a:rPr lang="en-US" sz="1000" b="1" dirty="0" err="1">
                <a:solidFill>
                  <a:srgbClr val="60A5FA"/>
                </a:solidFill>
              </a:rPr>
              <a:t>commit</a:t>
            </a:r>
            <a:r>
              <a:rPr lang="en-US" sz="1000" dirty="0">
                <a:solidFill>
                  <a:srgbClr val="E2E8F0"/>
                </a:solidFill>
              </a:rPr>
              <a:t>()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94A3B8"/>
                </a:solidFill>
              </a:rPr>
              <a:t># Verify deletion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472B6"/>
                </a:solidFill>
              </a:rPr>
              <a:t>print</a:t>
            </a:r>
            <a:r>
              <a:rPr lang="en-US" sz="1000" dirty="0">
                <a:solidFill>
                  <a:srgbClr val="E2E8F0"/>
                </a:solidFill>
              </a:rPr>
              <a:t>(</a:t>
            </a:r>
            <a:r>
              <a:rPr lang="en-US" sz="1000" dirty="0">
                <a:solidFill>
                  <a:srgbClr val="FCD34D"/>
                </a:solidFill>
              </a:rPr>
              <a:t>f"Deleted </a:t>
            </a:r>
            <a:r>
              <a:rPr lang="en-US" sz="1000" dirty="0">
                <a:solidFill>
                  <a:srgbClr val="E2E8F0"/>
                </a:solidFill>
              </a:rPr>
              <a:t>{cursor.rowcount}</a:t>
            </a:r>
            <a:r>
              <a:rPr lang="en-US" sz="1000" dirty="0">
                <a:solidFill>
                  <a:srgbClr val="FCD34D"/>
                </a:solidFill>
              </a:rPr>
              <a:t> user(s)"</a:t>
            </a:r>
            <a:r>
              <a:rPr lang="en-US" sz="1000" dirty="0">
                <a:solidFill>
                  <a:srgbClr val="E2E8F0"/>
                </a:solidFill>
              </a:rPr>
              <a:t>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1500" y="4193381"/>
            <a:ext cx="8001000" cy="965802"/>
          </a:xfrm>
          <a:prstGeom prst="rect">
            <a:avLst/>
          </a:prstGeom>
          <a:solidFill>
            <a:srgbClr val="FEF2F2"/>
          </a:solidFill>
          <a:ln w="18288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43000" y="4336256"/>
            <a:ext cx="2561599" cy="197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b="1" i="1" dirty="0">
                <a:solidFill>
                  <a:srgbClr val="DC2626"/>
                </a:solidFill>
              </a:rPr>
              <a:t>CRITICAL WARNING: Always Use WHERE Clause!</a:t>
            </a:r>
            <a:endParaRPr lang="en-US" sz="1000" i="1" dirty="0"/>
          </a:p>
        </p:txBody>
      </p:sp>
      <p:sp>
        <p:nvSpPr>
          <p:cNvPr id="17" name="Text 14"/>
          <p:cNvSpPr/>
          <p:nvPr/>
        </p:nvSpPr>
        <p:spPr>
          <a:xfrm>
            <a:off x="1143000" y="4607719"/>
            <a:ext cx="7250906" cy="348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91B1B"/>
                </a:solidFill>
              </a:rPr>
              <a:t>Without a WHERE clause, </a:t>
            </a:r>
            <a:r>
              <a:rPr lang="en-US" sz="1000" b="1" i="1" dirty="0">
                <a:solidFill>
                  <a:srgbClr val="991B1B"/>
                </a:solidFill>
              </a:rPr>
              <a:t>DELETE FROM users</a:t>
            </a:r>
            <a:r>
              <a:rPr lang="en-US" sz="1000" i="1" dirty="0">
                <a:solidFill>
                  <a:srgbClr val="991B1B"/>
                </a:solidFill>
              </a:rPr>
              <a:t> will delete </a:t>
            </a:r>
            <a:r>
              <a:rPr lang="en-US" sz="1000" b="1" i="1" dirty="0">
                <a:solidFill>
                  <a:srgbClr val="991B1B"/>
                </a:solidFill>
              </a:rPr>
              <a:t>ALL rows</a:t>
            </a:r>
            <a:r>
              <a:rPr lang="en-US" sz="1000" i="1" dirty="0">
                <a:solidFill>
                  <a:srgbClr val="991B1B"/>
                </a:solidFill>
              </a:rPr>
              <a:t> in the table! This is irreversible. 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91B1B"/>
                </a:solidFill>
              </a:rPr>
              <a:t>Always specify which rows to delete using WHERE, and always use parameterized queries (?) to prevent SQL injection attacks.</a:t>
            </a:r>
            <a:endParaRPr lang="en-US" sz="1000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406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6500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78694"/>
            <a:ext cx="80010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650081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E3A8A"/>
                </a:solidFill>
              </a:rPr>
              <a:t>The Big 6 — Essential SQL Query Components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28725"/>
            <a:ext cx="8001000" cy="768623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" y="1228725"/>
            <a:ext cx="8001000" cy="822276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472B6"/>
                </a:solidFill>
              </a:rPr>
              <a:t>SELECT</a:t>
            </a:r>
            <a:r>
              <a:rPr lang="en-US" sz="1000" dirty="0">
                <a:solidFill>
                  <a:srgbClr val="FCD34D"/>
                </a:solidFill>
              </a:rPr>
              <a:t>severity</a:t>
            </a:r>
            <a:r>
              <a:rPr lang="en-US" sz="1000" dirty="0">
                <a:solidFill>
                  <a:srgbClr val="E2E8F0"/>
                </a:solidFill>
              </a:rPr>
              <a:t>, </a:t>
            </a:r>
            <a:r>
              <a:rPr lang="en-US" sz="1000" b="1" dirty="0">
                <a:solidFill>
                  <a:srgbClr val="60A5FA"/>
                </a:solidFill>
              </a:rPr>
              <a:t>COUNT</a:t>
            </a:r>
            <a:r>
              <a:rPr lang="en-US" sz="1000" dirty="0">
                <a:solidFill>
                  <a:srgbClr val="E2E8F0"/>
                </a:solidFill>
              </a:rPr>
              <a:t>(*) </a:t>
            </a:r>
            <a:r>
              <a:rPr lang="en-US" sz="1000" b="1" dirty="0">
                <a:solidFill>
                  <a:srgbClr val="F472B6"/>
                </a:solidFill>
              </a:rPr>
              <a:t>AS</a:t>
            </a:r>
            <a:r>
              <a:rPr lang="en-US" sz="1000" dirty="0">
                <a:solidFill>
                  <a:srgbClr val="FCD34D"/>
                </a:solidFill>
              </a:rPr>
              <a:t>incident_count</a:t>
            </a:r>
            <a:r>
              <a:rPr lang="en-US" sz="1000" b="1" dirty="0">
                <a:solidFill>
                  <a:srgbClr val="F472B6"/>
                </a:solidFill>
              </a:rPr>
              <a:t>FROM</a:t>
            </a:r>
            <a:r>
              <a:rPr lang="en-US" sz="1000" b="1" dirty="0">
                <a:solidFill>
                  <a:srgbClr val="34D399"/>
                </a:solidFill>
              </a:rPr>
              <a:t>cyber_incidents</a:t>
            </a:r>
            <a:r>
              <a:rPr lang="en-US" sz="1000" b="1" dirty="0">
                <a:solidFill>
                  <a:srgbClr val="F472B6"/>
                </a:solidFill>
              </a:rPr>
              <a:t>WHERE</a:t>
            </a:r>
            <a:r>
              <a:rPr lang="en-US" sz="1000" dirty="0">
                <a:solidFill>
                  <a:srgbClr val="FCD34D"/>
                </a:solidFill>
              </a:rPr>
              <a:t>status</a:t>
            </a:r>
            <a:r>
              <a:rPr lang="en-US" sz="1000" dirty="0">
                <a:solidFill>
                  <a:srgbClr val="E2E8F0"/>
                </a:solidFill>
              </a:rPr>
              <a:t> = </a:t>
            </a:r>
            <a:r>
              <a:rPr lang="en-US" sz="1000" dirty="0">
                <a:solidFill>
                  <a:srgbClr val="A78BFA"/>
                </a:solidFill>
              </a:rPr>
              <a:t>'open'</a:t>
            </a:r>
            <a:r>
              <a:rPr lang="en-US" sz="1000" b="1" dirty="0">
                <a:solidFill>
                  <a:srgbClr val="F472B6"/>
                </a:solidFill>
              </a:rPr>
              <a:t>GROUP BY</a:t>
            </a:r>
            <a:r>
              <a:rPr lang="en-US" sz="1000" dirty="0">
                <a:solidFill>
                  <a:srgbClr val="FCD34D"/>
                </a:solidFill>
              </a:rPr>
              <a:t>severity</a:t>
            </a:r>
            <a:r>
              <a:rPr lang="en-US" sz="1000" b="1" dirty="0">
                <a:solidFill>
                  <a:srgbClr val="F472B6"/>
                </a:solidFill>
              </a:rPr>
              <a:t>HAVING</a:t>
            </a:r>
            <a:r>
              <a:rPr lang="en-US" sz="1000" b="1" dirty="0">
                <a:solidFill>
                  <a:srgbClr val="60A5FA"/>
                </a:solidFill>
              </a:rPr>
              <a:t>COUNT</a:t>
            </a:r>
            <a:r>
              <a:rPr lang="en-US" sz="1000" dirty="0">
                <a:solidFill>
                  <a:srgbClr val="E2E8F0"/>
                </a:solidFill>
              </a:rPr>
              <a:t>(*) &gt; </a:t>
            </a:r>
            <a:r>
              <a:rPr lang="en-US" sz="1000" dirty="0">
                <a:solidFill>
                  <a:srgbClr val="A78BFA"/>
                </a:solidFill>
              </a:rPr>
              <a:t>5</a:t>
            </a:r>
            <a:r>
              <a:rPr lang="en-US" sz="1000" b="1" dirty="0">
                <a:solidFill>
                  <a:srgbClr val="F472B6"/>
                </a:solidFill>
              </a:rPr>
              <a:t>ORDER BY</a:t>
            </a:r>
            <a:r>
              <a:rPr lang="en-US" sz="1000" dirty="0">
                <a:solidFill>
                  <a:srgbClr val="FCD34D"/>
                </a:solidFill>
              </a:rPr>
              <a:t>incident_count</a:t>
            </a:r>
            <a:r>
              <a:rPr lang="en-US" sz="1000" b="1" dirty="0">
                <a:solidFill>
                  <a:srgbClr val="F472B6"/>
                </a:solidFill>
              </a:rPr>
              <a:t>DESC</a:t>
            </a:r>
            <a:r>
              <a:rPr lang="en-US" sz="1000" dirty="0">
                <a:solidFill>
                  <a:srgbClr val="E2E8F0"/>
                </a:solidFill>
              </a:rPr>
              <a:t>;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500" y="2211660"/>
            <a:ext cx="3893344" cy="264318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50094" y="2390254"/>
            <a:ext cx="3536156" cy="342900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6366F1"/>
                </a:solidFill>
              </a:rPr>
              <a:t>How You Write It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750094" y="2876029"/>
            <a:ext cx="228600" cy="2286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50094" y="287602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1085850" y="2904604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SELECT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2050256" y="2915320"/>
            <a:ext cx="122107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Choose columns to return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750094" y="3190354"/>
            <a:ext cx="228600" cy="2286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50094" y="319035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1085850" y="3218929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FROM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2050256" y="3229645"/>
            <a:ext cx="7743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Specify the table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750094" y="3504679"/>
            <a:ext cx="228600" cy="2286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50094" y="350467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1085850" y="3533254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WHERE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2050256" y="3543970"/>
            <a:ext cx="970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Filter individual rows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750094" y="3819004"/>
            <a:ext cx="228600" cy="2286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50094" y="381900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1085850" y="3847579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GROUP BY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2050256" y="3858295"/>
            <a:ext cx="9824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Group rows together</a:t>
            </a:r>
            <a:endParaRPr lang="en-US" sz="727" dirty="0"/>
          </a:p>
        </p:txBody>
      </p:sp>
      <p:sp>
        <p:nvSpPr>
          <p:cNvPr id="26" name="Shape 23"/>
          <p:cNvSpPr/>
          <p:nvPr/>
        </p:nvSpPr>
        <p:spPr>
          <a:xfrm>
            <a:off x="750094" y="4133329"/>
            <a:ext cx="228600" cy="2286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50094" y="413332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5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1085850" y="4161904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HAVING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2050256" y="4172620"/>
            <a:ext cx="59588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Filter groups</a:t>
            </a:r>
            <a:endParaRPr lang="en-US" sz="727" dirty="0"/>
          </a:p>
        </p:txBody>
      </p:sp>
      <p:sp>
        <p:nvSpPr>
          <p:cNvPr id="30" name="Shape 27"/>
          <p:cNvSpPr/>
          <p:nvPr/>
        </p:nvSpPr>
        <p:spPr>
          <a:xfrm>
            <a:off x="750094" y="4447654"/>
            <a:ext cx="228600" cy="22860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50094" y="444765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6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1085850" y="4476229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ORDER BY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2050256" y="4486945"/>
            <a:ext cx="71440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Sort the results</a:t>
            </a:r>
            <a:endParaRPr lang="en-US" sz="727" dirty="0"/>
          </a:p>
        </p:txBody>
      </p:sp>
      <p:sp>
        <p:nvSpPr>
          <p:cNvPr id="34" name="Shape 31"/>
          <p:cNvSpPr/>
          <p:nvPr/>
        </p:nvSpPr>
        <p:spPr>
          <a:xfrm>
            <a:off x="4679156" y="2211660"/>
            <a:ext cx="3893344" cy="264318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857750" y="2390254"/>
            <a:ext cx="3536156" cy="342900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59669"/>
                </a:solidFill>
              </a:rPr>
              <a:t>How Database Executes It</a:t>
            </a:r>
            <a:endParaRPr lang="en-US" sz="1090" dirty="0"/>
          </a:p>
        </p:txBody>
      </p:sp>
      <p:sp>
        <p:nvSpPr>
          <p:cNvPr id="36" name="Shape 33"/>
          <p:cNvSpPr/>
          <p:nvPr/>
        </p:nvSpPr>
        <p:spPr>
          <a:xfrm>
            <a:off x="4857750" y="2876029"/>
            <a:ext cx="22860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857750" y="287602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38" name="Text 35"/>
          <p:cNvSpPr/>
          <p:nvPr/>
        </p:nvSpPr>
        <p:spPr>
          <a:xfrm>
            <a:off x="5193506" y="2904604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FROM</a:t>
            </a:r>
            <a:endParaRPr lang="en-US" sz="784" dirty="0"/>
          </a:p>
        </p:txBody>
      </p:sp>
      <p:sp>
        <p:nvSpPr>
          <p:cNvPr id="39" name="Text 36"/>
          <p:cNvSpPr/>
          <p:nvPr/>
        </p:nvSpPr>
        <p:spPr>
          <a:xfrm>
            <a:off x="6157913" y="2915320"/>
            <a:ext cx="88431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Load the table first</a:t>
            </a:r>
            <a:endParaRPr lang="en-US" sz="727" dirty="0"/>
          </a:p>
        </p:txBody>
      </p:sp>
      <p:sp>
        <p:nvSpPr>
          <p:cNvPr id="40" name="Shape 37"/>
          <p:cNvSpPr/>
          <p:nvPr/>
        </p:nvSpPr>
        <p:spPr>
          <a:xfrm>
            <a:off x="4857750" y="3190354"/>
            <a:ext cx="22860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857750" y="319035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42" name="Text 39"/>
          <p:cNvSpPr/>
          <p:nvPr/>
        </p:nvSpPr>
        <p:spPr>
          <a:xfrm>
            <a:off x="5193506" y="3218929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WHERE</a:t>
            </a:r>
            <a:endParaRPr lang="en-US" sz="784" dirty="0"/>
          </a:p>
        </p:txBody>
      </p:sp>
      <p:sp>
        <p:nvSpPr>
          <p:cNvPr id="43" name="Text 40"/>
          <p:cNvSpPr/>
          <p:nvPr/>
        </p:nvSpPr>
        <p:spPr>
          <a:xfrm>
            <a:off x="6157913" y="3229645"/>
            <a:ext cx="128196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Filter rows before grouping</a:t>
            </a:r>
            <a:endParaRPr lang="en-US" sz="727" dirty="0"/>
          </a:p>
        </p:txBody>
      </p:sp>
      <p:sp>
        <p:nvSpPr>
          <p:cNvPr id="44" name="Shape 41"/>
          <p:cNvSpPr/>
          <p:nvPr/>
        </p:nvSpPr>
        <p:spPr>
          <a:xfrm>
            <a:off x="4857750" y="3504679"/>
            <a:ext cx="22860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857750" y="350467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46" name="Text 43"/>
          <p:cNvSpPr/>
          <p:nvPr/>
        </p:nvSpPr>
        <p:spPr>
          <a:xfrm>
            <a:off x="5193506" y="3533254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GROUP BY</a:t>
            </a:r>
            <a:endParaRPr lang="en-US" sz="784" dirty="0"/>
          </a:p>
        </p:txBody>
      </p:sp>
      <p:sp>
        <p:nvSpPr>
          <p:cNvPr id="47" name="Text 44"/>
          <p:cNvSpPr/>
          <p:nvPr/>
        </p:nvSpPr>
        <p:spPr>
          <a:xfrm>
            <a:off x="6157913" y="3543970"/>
            <a:ext cx="108836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Group the filtered rows</a:t>
            </a:r>
            <a:endParaRPr lang="en-US" sz="727" dirty="0"/>
          </a:p>
        </p:txBody>
      </p:sp>
      <p:sp>
        <p:nvSpPr>
          <p:cNvPr id="48" name="Shape 45"/>
          <p:cNvSpPr/>
          <p:nvPr/>
        </p:nvSpPr>
        <p:spPr>
          <a:xfrm>
            <a:off x="4857750" y="3819004"/>
            <a:ext cx="22860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857750" y="381900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50" name="Text 47"/>
          <p:cNvSpPr/>
          <p:nvPr/>
        </p:nvSpPr>
        <p:spPr>
          <a:xfrm>
            <a:off x="5193506" y="3847579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HAVING</a:t>
            </a:r>
            <a:endParaRPr lang="en-US" sz="784" dirty="0"/>
          </a:p>
        </p:txBody>
      </p:sp>
      <p:sp>
        <p:nvSpPr>
          <p:cNvPr id="51" name="Text 48"/>
          <p:cNvSpPr/>
          <p:nvPr/>
        </p:nvSpPr>
        <p:spPr>
          <a:xfrm>
            <a:off x="6157913" y="3858295"/>
            <a:ext cx="776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Filter the groups</a:t>
            </a:r>
            <a:endParaRPr lang="en-US" sz="727" dirty="0"/>
          </a:p>
        </p:txBody>
      </p:sp>
      <p:sp>
        <p:nvSpPr>
          <p:cNvPr id="52" name="Shape 49"/>
          <p:cNvSpPr/>
          <p:nvPr/>
        </p:nvSpPr>
        <p:spPr>
          <a:xfrm>
            <a:off x="4857750" y="4133329"/>
            <a:ext cx="22860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4857750" y="413332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5</a:t>
            </a:r>
            <a:endParaRPr lang="en-US" sz="784" dirty="0"/>
          </a:p>
        </p:txBody>
      </p:sp>
      <p:sp>
        <p:nvSpPr>
          <p:cNvPr id="54" name="Text 51"/>
          <p:cNvSpPr/>
          <p:nvPr/>
        </p:nvSpPr>
        <p:spPr>
          <a:xfrm>
            <a:off x="5193506" y="4161904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SELECT</a:t>
            </a:r>
            <a:endParaRPr lang="en-US" sz="784" dirty="0"/>
          </a:p>
        </p:txBody>
      </p:sp>
      <p:sp>
        <p:nvSpPr>
          <p:cNvPr id="55" name="Text 52"/>
          <p:cNvSpPr/>
          <p:nvPr/>
        </p:nvSpPr>
        <p:spPr>
          <a:xfrm>
            <a:off x="6157913" y="4172620"/>
            <a:ext cx="122107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Choose columns to return</a:t>
            </a:r>
            <a:endParaRPr lang="en-US" sz="727" dirty="0"/>
          </a:p>
        </p:txBody>
      </p:sp>
      <p:sp>
        <p:nvSpPr>
          <p:cNvPr id="56" name="Shape 53"/>
          <p:cNvSpPr/>
          <p:nvPr/>
        </p:nvSpPr>
        <p:spPr>
          <a:xfrm>
            <a:off x="4857750" y="4447654"/>
            <a:ext cx="22860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4857750" y="444765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6</a:t>
            </a:r>
            <a:endParaRPr lang="en-US" sz="784" dirty="0"/>
          </a:p>
        </p:txBody>
      </p:sp>
      <p:sp>
        <p:nvSpPr>
          <p:cNvPr id="58" name="Text 55"/>
          <p:cNvSpPr/>
          <p:nvPr/>
        </p:nvSpPr>
        <p:spPr>
          <a:xfrm>
            <a:off x="5193506" y="4476229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ORDER BY</a:t>
            </a:r>
            <a:endParaRPr lang="en-US" sz="784" dirty="0"/>
          </a:p>
        </p:txBody>
      </p:sp>
      <p:sp>
        <p:nvSpPr>
          <p:cNvPr id="59" name="Text 56"/>
          <p:cNvSpPr/>
          <p:nvPr/>
        </p:nvSpPr>
        <p:spPr>
          <a:xfrm>
            <a:off x="6157913" y="4486945"/>
            <a:ext cx="76401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Sort final results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013"/>
            <a:ext cx="9144000" cy="55062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5643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892969"/>
            <a:ext cx="80010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564356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1E3A8A"/>
                </a:solidFill>
              </a:rPr>
              <a:t>Loading CSV Data with Pandas — Bulk Operations</a:t>
            </a:r>
            <a:endParaRPr lang="en-US" sz="2016" dirty="0"/>
          </a:p>
        </p:txBody>
      </p:sp>
      <p:sp>
        <p:nvSpPr>
          <p:cNvPr id="6" name="Shape 3"/>
          <p:cNvSpPr/>
          <p:nvPr/>
        </p:nvSpPr>
        <p:spPr>
          <a:xfrm>
            <a:off x="571500" y="1143000"/>
            <a:ext cx="3911203" cy="1218679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4375" y="1285875"/>
            <a:ext cx="228600" cy="2286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4375" y="128587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1028700" y="1303734"/>
            <a:ext cx="8481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Read CSV File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714375" y="1707356"/>
            <a:ext cx="3611167" cy="7684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00089" y="1599719"/>
            <a:ext cx="3625453" cy="87306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472B6"/>
                </a:solidFill>
              </a:rPr>
              <a:t>Import </a:t>
            </a:r>
            <a:r>
              <a:rPr lang="en-US" sz="1000" b="1" dirty="0">
                <a:solidFill>
                  <a:srgbClr val="60A5FA"/>
                </a:solidFill>
              </a:rPr>
              <a:t>pandas </a:t>
            </a:r>
            <a:r>
              <a:rPr lang="en-US" sz="1000" b="1" dirty="0">
                <a:solidFill>
                  <a:srgbClr val="F472B6"/>
                </a:solidFill>
              </a:rPr>
              <a:t>as </a:t>
            </a:r>
            <a:r>
              <a:rPr lang="en-US" sz="1000" b="1" dirty="0">
                <a:solidFill>
                  <a:srgbClr val="60A5FA"/>
                </a:solidFill>
              </a:rPr>
              <a:t>pd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472B6"/>
                </a:solidFill>
              </a:rPr>
              <a:t>Import</a:t>
            </a:r>
            <a:r>
              <a:rPr lang="en-US" sz="1000" b="1" dirty="0">
                <a:solidFill>
                  <a:srgbClr val="60A5FA"/>
                </a:solidFill>
              </a:rPr>
              <a:t>sqlite3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4A3B8"/>
                </a:solidFill>
              </a:rPr>
              <a:t># Read CSV into </a:t>
            </a:r>
            <a:r>
              <a:rPr lang="en-US" sz="1000" i="1" dirty="0" err="1">
                <a:solidFill>
                  <a:srgbClr val="94A3B8"/>
                </a:solidFill>
              </a:rPr>
              <a:t>DataFrame</a:t>
            </a:r>
            <a:r>
              <a:rPr lang="en-US" sz="1000" dirty="0">
                <a:solidFill>
                  <a:srgbClr val="E2E8F0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E2E8F0"/>
                </a:solidFill>
              </a:rPr>
              <a:t>df</a:t>
            </a:r>
            <a:r>
              <a:rPr lang="en-US" sz="1000" dirty="0">
                <a:solidFill>
                  <a:srgbClr val="E2E8F0"/>
                </a:solidFill>
              </a:rPr>
              <a:t> = </a:t>
            </a:r>
            <a:r>
              <a:rPr lang="en-US" sz="1000" b="1" dirty="0">
                <a:solidFill>
                  <a:srgbClr val="60A5FA"/>
                </a:solidFill>
              </a:rPr>
              <a:t>pd</a:t>
            </a:r>
            <a:r>
              <a:rPr lang="en-US" sz="1000" dirty="0">
                <a:solidFill>
                  <a:srgbClr val="E2E8F0"/>
                </a:solidFill>
              </a:rPr>
              <a:t>.</a:t>
            </a:r>
            <a:r>
              <a:rPr lang="en-US" sz="1000" b="1" dirty="0">
                <a:solidFill>
                  <a:srgbClr val="34D399"/>
                </a:solidFill>
              </a:rPr>
              <a:t>read_csv</a:t>
            </a:r>
            <a:r>
              <a:rPr lang="en-US" sz="1000" dirty="0">
                <a:solidFill>
                  <a:srgbClr val="E2E8F0"/>
                </a:solidFill>
              </a:rPr>
              <a:t>(</a:t>
            </a:r>
            <a:r>
              <a:rPr lang="en-US" sz="1000" dirty="0">
                <a:solidFill>
                  <a:srgbClr val="FCD34D"/>
                </a:solidFill>
              </a:rPr>
              <a:t>'DATA/</a:t>
            </a:r>
            <a:r>
              <a:rPr lang="en-US" sz="1000" dirty="0" err="1">
                <a:solidFill>
                  <a:srgbClr val="FCD34D"/>
                </a:solidFill>
              </a:rPr>
              <a:t>cyber_incidents.csv</a:t>
            </a:r>
            <a:r>
              <a:rPr lang="en-US" sz="1000" dirty="0">
                <a:solidFill>
                  <a:srgbClr val="FCD34D"/>
                </a:solidFill>
              </a:rPr>
              <a:t>'</a:t>
            </a:r>
            <a:r>
              <a:rPr lang="en-US" sz="1000" dirty="0">
                <a:solidFill>
                  <a:srgbClr val="E2E8F0"/>
                </a:solidFill>
              </a:rPr>
              <a:t>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54154" y="1170453"/>
            <a:ext cx="3911203" cy="1218679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04172" y="1285875"/>
            <a:ext cx="228600" cy="2286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04172" y="128587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118497" y="1303734"/>
            <a:ext cx="7279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Check Data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4804173" y="1707355"/>
            <a:ext cx="3611166" cy="681777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04172" y="1707356"/>
            <a:ext cx="3625453" cy="7191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4A3B8"/>
                </a:solidFill>
              </a:rPr>
              <a:t># View first 5 rows</a:t>
            </a:r>
            <a:r>
              <a:rPr lang="en-US" sz="1000" b="1" dirty="0">
                <a:solidFill>
                  <a:srgbClr val="F472B6"/>
                </a:solidFill>
              </a:rPr>
              <a:t>print</a:t>
            </a:r>
            <a:r>
              <a:rPr lang="en-US" sz="1000" dirty="0">
                <a:solidFill>
                  <a:srgbClr val="E2E8F0"/>
                </a:solidFill>
              </a:rPr>
              <a:t>(df.</a:t>
            </a:r>
            <a:r>
              <a:rPr lang="en-US" sz="1000" b="1" dirty="0">
                <a:solidFill>
                  <a:srgbClr val="34D399"/>
                </a:solidFill>
              </a:rPr>
              <a:t>head</a:t>
            </a:r>
            <a:r>
              <a:rPr lang="en-US" sz="1000" dirty="0">
                <a:solidFill>
                  <a:srgbClr val="E2E8F0"/>
                </a:solidFill>
              </a:rPr>
              <a:t>()) </a:t>
            </a:r>
            <a:r>
              <a:rPr lang="en-US" sz="1000" i="1" dirty="0">
                <a:solidFill>
                  <a:srgbClr val="94A3B8"/>
                </a:solidFill>
              </a:rPr>
              <a:t># Check data types and missing values</a:t>
            </a:r>
            <a:r>
              <a:rPr lang="en-US" sz="1000" b="1" dirty="0">
                <a:solidFill>
                  <a:srgbClr val="F472B6"/>
                </a:solidFill>
              </a:rPr>
              <a:t>print</a:t>
            </a:r>
            <a:r>
              <a:rPr lang="en-US" sz="1000" dirty="0">
                <a:solidFill>
                  <a:srgbClr val="E2E8F0"/>
                </a:solidFill>
              </a:rPr>
              <a:t>(df.</a:t>
            </a:r>
            <a:r>
              <a:rPr lang="en-US" sz="1000" b="1" dirty="0">
                <a:solidFill>
                  <a:srgbClr val="34D399"/>
                </a:solidFill>
              </a:rPr>
              <a:t>info</a:t>
            </a:r>
            <a:r>
              <a:rPr lang="en-US" sz="1000" dirty="0">
                <a:solidFill>
                  <a:srgbClr val="E2E8F0"/>
                </a:solidFill>
              </a:rPr>
              <a:t>()) </a:t>
            </a:r>
            <a:r>
              <a:rPr lang="en-US" sz="1000" i="1" dirty="0">
                <a:solidFill>
                  <a:srgbClr val="94A3B8"/>
                </a:solidFill>
              </a:rPr>
              <a:t># Check for missing data</a:t>
            </a:r>
            <a:r>
              <a:rPr lang="en-US" sz="1000" b="1" dirty="0">
                <a:solidFill>
                  <a:srgbClr val="F472B6"/>
                </a:solidFill>
              </a:rPr>
              <a:t>print</a:t>
            </a:r>
            <a:r>
              <a:rPr lang="en-US" sz="1000" dirty="0">
                <a:solidFill>
                  <a:srgbClr val="E2E8F0"/>
                </a:solidFill>
              </a:rPr>
              <a:t>(df.</a:t>
            </a:r>
            <a:r>
              <a:rPr lang="en-US" sz="1000" b="1" dirty="0">
                <a:solidFill>
                  <a:srgbClr val="34D399"/>
                </a:solidFill>
              </a:rPr>
              <a:t>isnull</a:t>
            </a:r>
            <a:r>
              <a:rPr lang="en-US" sz="1000" dirty="0">
                <a:solidFill>
                  <a:srgbClr val="E2E8F0"/>
                </a:solidFill>
              </a:rPr>
              <a:t>().</a:t>
            </a:r>
            <a:r>
              <a:rPr lang="en-US" sz="1000" b="1" dirty="0">
                <a:solidFill>
                  <a:srgbClr val="34D399"/>
                </a:solidFill>
              </a:rPr>
              <a:t>sum</a:t>
            </a:r>
            <a:r>
              <a:rPr lang="en-US" sz="1000" dirty="0">
                <a:solidFill>
                  <a:srgbClr val="E2E8F0"/>
                </a:solidFill>
              </a:rPr>
              <a:t>())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1500" y="2540273"/>
            <a:ext cx="3911203" cy="151581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14375" y="2683148"/>
            <a:ext cx="228600" cy="2286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4375" y="268314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3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1028700" y="2701007"/>
            <a:ext cx="124256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Load into Database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714375" y="3104628"/>
            <a:ext cx="3625453" cy="118083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14375" y="3104629"/>
            <a:ext cx="3625453" cy="118083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4A3B8"/>
                </a:solidFill>
              </a:rPr>
              <a:t># Connect to database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 conn = </a:t>
            </a:r>
            <a:r>
              <a:rPr lang="en-US" sz="1000" b="1" dirty="0">
                <a:solidFill>
                  <a:srgbClr val="60A5FA"/>
                </a:solidFill>
              </a:rPr>
              <a:t>sqlite3</a:t>
            </a:r>
            <a:r>
              <a:rPr lang="en-US" sz="1000" dirty="0">
                <a:solidFill>
                  <a:srgbClr val="E2E8F0"/>
                </a:solidFill>
              </a:rPr>
              <a:t>.</a:t>
            </a:r>
            <a:r>
              <a:rPr lang="en-US" sz="1000" b="1" dirty="0">
                <a:solidFill>
                  <a:srgbClr val="34D399"/>
                </a:solidFill>
              </a:rPr>
              <a:t>connect</a:t>
            </a:r>
            <a:r>
              <a:rPr lang="en-US" sz="1000" dirty="0">
                <a:solidFill>
                  <a:srgbClr val="E2E8F0"/>
                </a:solidFill>
              </a:rPr>
              <a:t>(</a:t>
            </a:r>
            <a:r>
              <a:rPr lang="en-US" sz="1000" dirty="0">
                <a:solidFill>
                  <a:srgbClr val="FCD34D"/>
                </a:solidFill>
              </a:rPr>
              <a:t>'DATA/</a:t>
            </a:r>
            <a:r>
              <a:rPr lang="en-US" sz="1000" dirty="0" err="1">
                <a:solidFill>
                  <a:srgbClr val="FCD34D"/>
                </a:solidFill>
              </a:rPr>
              <a:t>intelligence_platform.db</a:t>
            </a:r>
            <a:r>
              <a:rPr lang="en-US" sz="1000" dirty="0">
                <a:solidFill>
                  <a:srgbClr val="FCD34D"/>
                </a:solidFill>
              </a:rPr>
              <a:t>’</a:t>
            </a:r>
            <a:r>
              <a:rPr lang="en-US" sz="1000" dirty="0">
                <a:solidFill>
                  <a:srgbClr val="E2E8F0"/>
                </a:solidFill>
              </a:rPr>
              <a:t>)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 </a:t>
            </a:r>
            <a:r>
              <a:rPr lang="en-US" sz="1000" i="1" dirty="0">
                <a:solidFill>
                  <a:srgbClr val="94A3B8"/>
                </a:solidFill>
              </a:rPr>
              <a:t># Bulk insert all rows</a:t>
            </a:r>
            <a:r>
              <a:rPr lang="en-US" sz="1000" dirty="0">
                <a:solidFill>
                  <a:srgbClr val="E2E8F0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E2E8F0"/>
                </a:solidFill>
              </a:rPr>
              <a:t>df.</a:t>
            </a:r>
            <a:r>
              <a:rPr lang="en-US" sz="1000" b="1" dirty="0" err="1">
                <a:solidFill>
                  <a:srgbClr val="34D399"/>
                </a:solidFill>
              </a:rPr>
              <a:t>to_sql</a:t>
            </a:r>
            <a:r>
              <a:rPr lang="en-US" sz="1000" dirty="0">
                <a:solidFill>
                  <a:srgbClr val="E2E8F0"/>
                </a:solidFill>
              </a:rPr>
              <a:t>( </a:t>
            </a:r>
            <a:r>
              <a:rPr lang="en-US" sz="1000" dirty="0">
                <a:solidFill>
                  <a:srgbClr val="FCD34D"/>
                </a:solidFill>
              </a:rPr>
              <a:t>'cyber_incidents'</a:t>
            </a:r>
            <a:r>
              <a:rPr lang="en-US" sz="1000" dirty="0">
                <a:solidFill>
                  <a:srgbClr val="E2E8F0"/>
                </a:solidFill>
              </a:rPr>
              <a:t>, conn, if_exists=</a:t>
            </a:r>
            <a:r>
              <a:rPr lang="en-US" sz="1000" dirty="0">
                <a:solidFill>
                  <a:srgbClr val="FCD34D"/>
                </a:solidFill>
              </a:rPr>
              <a:t>'append'</a:t>
            </a:r>
            <a:r>
              <a:rPr lang="en-US" sz="1000" dirty="0">
                <a:solidFill>
                  <a:srgbClr val="E2E8F0"/>
                </a:solidFill>
              </a:rPr>
              <a:t>, index=</a:t>
            </a:r>
            <a:r>
              <a:rPr lang="en-US" sz="1000" b="1" dirty="0">
                <a:solidFill>
                  <a:srgbClr val="F472B6"/>
                </a:solidFill>
              </a:rPr>
              <a:t>False</a:t>
            </a:r>
            <a:r>
              <a:rPr lang="en-US" sz="1000" dirty="0">
                <a:solidFill>
                  <a:srgbClr val="E2E8F0"/>
                </a:solidFill>
              </a:rPr>
              <a:t> )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472B6"/>
                </a:solidFill>
              </a:rPr>
              <a:t>print</a:t>
            </a:r>
            <a:r>
              <a:rPr lang="en-US" sz="1000" dirty="0">
                <a:solidFill>
                  <a:srgbClr val="E2E8F0"/>
                </a:solidFill>
              </a:rPr>
              <a:t>(</a:t>
            </a:r>
            <a:r>
              <a:rPr lang="en-US" sz="1000" dirty="0">
                <a:solidFill>
                  <a:srgbClr val="FCD34D"/>
                </a:solidFill>
              </a:rPr>
              <a:t>"✓ Data loaded successfully"</a:t>
            </a:r>
            <a:r>
              <a:rPr lang="en-US" sz="1000" dirty="0">
                <a:solidFill>
                  <a:srgbClr val="E2E8F0"/>
                </a:solidFill>
              </a:rPr>
              <a:t>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61297" y="2540273"/>
            <a:ext cx="3911203" cy="151581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804172" y="2683148"/>
            <a:ext cx="228600" cy="2286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04172" y="268314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4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5118497" y="2701007"/>
            <a:ext cx="92737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Verify Loading</a:t>
            </a:r>
            <a:endParaRPr lang="en-US" sz="885" dirty="0"/>
          </a:p>
        </p:txBody>
      </p:sp>
      <p:sp>
        <p:nvSpPr>
          <p:cNvPr id="28" name="Shape 25"/>
          <p:cNvSpPr/>
          <p:nvPr/>
        </p:nvSpPr>
        <p:spPr>
          <a:xfrm>
            <a:off x="4797029" y="2990033"/>
            <a:ext cx="3625452" cy="1413347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11539" y="2850193"/>
            <a:ext cx="3625453" cy="148861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94A3B8"/>
                </a:solidFill>
              </a:rPr>
              <a:t># Count rows in database</a:t>
            </a:r>
            <a:r>
              <a:rPr lang="en-US" sz="1000" dirty="0">
                <a:solidFill>
                  <a:srgbClr val="E2E8F0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cursor = conn.</a:t>
            </a:r>
            <a:r>
              <a:rPr lang="en-US" sz="1000" b="1" dirty="0">
                <a:solidFill>
                  <a:srgbClr val="34D399"/>
                </a:solidFill>
              </a:rPr>
              <a:t>cursor</a:t>
            </a:r>
            <a:r>
              <a:rPr lang="en-US" sz="1000" dirty="0">
                <a:solidFill>
                  <a:srgbClr val="E2E8F0"/>
                </a:solidFill>
              </a:rPr>
              <a:t>()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E2E8F0"/>
                </a:solidFill>
              </a:rPr>
              <a:t>cursor.</a:t>
            </a:r>
            <a:r>
              <a:rPr lang="en-US" sz="1000" b="1" dirty="0" err="1">
                <a:solidFill>
                  <a:srgbClr val="34D399"/>
                </a:solidFill>
              </a:rPr>
              <a:t>execute</a:t>
            </a:r>
            <a:r>
              <a:rPr lang="en-US" sz="1000" dirty="0">
                <a:solidFill>
                  <a:srgbClr val="E2E8F0"/>
                </a:solidFill>
              </a:rPr>
              <a:t>(</a:t>
            </a:r>
            <a:r>
              <a:rPr lang="en-US" sz="1000" dirty="0">
                <a:solidFill>
                  <a:srgbClr val="FCD34D"/>
                </a:solidFill>
              </a:rPr>
              <a:t>"SELECT COUNT(*) FROM cyber_incidents"</a:t>
            </a:r>
            <a:r>
              <a:rPr lang="en-US" sz="1000" dirty="0">
                <a:solidFill>
                  <a:srgbClr val="E2E8F0"/>
                </a:solidFill>
              </a:rPr>
              <a:t>) count = cursor.</a:t>
            </a:r>
            <a:r>
              <a:rPr lang="en-US" sz="1000" b="1" dirty="0">
                <a:solidFill>
                  <a:srgbClr val="34D399"/>
                </a:solidFill>
              </a:rPr>
              <a:t>fetchone</a:t>
            </a:r>
            <a:r>
              <a:rPr lang="en-US" sz="1000" dirty="0">
                <a:solidFill>
                  <a:srgbClr val="E2E8F0"/>
                </a:solidFill>
              </a:rPr>
              <a:t>()[</a:t>
            </a:r>
            <a:r>
              <a:rPr lang="en-US" sz="1000" dirty="0">
                <a:solidFill>
                  <a:srgbClr val="FCD34D"/>
                </a:solidFill>
              </a:rPr>
              <a:t>0</a:t>
            </a:r>
            <a:r>
              <a:rPr lang="en-US" sz="1000" dirty="0">
                <a:solidFill>
                  <a:srgbClr val="E2E8F0"/>
                </a:solidFill>
              </a:rPr>
              <a:t>]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472B6"/>
                </a:solidFill>
              </a:rPr>
              <a:t>print</a:t>
            </a:r>
            <a:r>
              <a:rPr lang="en-US" sz="1000" dirty="0">
                <a:solidFill>
                  <a:srgbClr val="E2E8F0"/>
                </a:solidFill>
              </a:rPr>
              <a:t>(</a:t>
            </a:r>
            <a:r>
              <a:rPr lang="en-US" sz="1000" dirty="0">
                <a:solidFill>
                  <a:srgbClr val="FCD34D"/>
                </a:solidFill>
              </a:rPr>
              <a:t>f"Loaded </a:t>
            </a:r>
            <a:r>
              <a:rPr lang="en-US" sz="1000" dirty="0">
                <a:solidFill>
                  <a:srgbClr val="E2E8F0"/>
                </a:solidFill>
              </a:rPr>
              <a:t>{count}</a:t>
            </a:r>
            <a:r>
              <a:rPr lang="en-US" sz="1000" dirty="0">
                <a:solidFill>
                  <a:srgbClr val="FCD34D"/>
                </a:solidFill>
              </a:rPr>
              <a:t> incidents"</a:t>
            </a:r>
            <a:r>
              <a:rPr lang="en-US" sz="1000" dirty="0">
                <a:solidFill>
                  <a:srgbClr val="E2E8F0"/>
                </a:solidFill>
              </a:rPr>
              <a:t>) </a:t>
            </a:r>
            <a:r>
              <a:rPr lang="en-US" sz="1000" i="1" dirty="0">
                <a:solidFill>
                  <a:srgbClr val="94A3B8"/>
                </a:solidFill>
              </a:rPr>
              <a:t># View sample data</a:t>
            </a:r>
            <a:r>
              <a:rPr lang="en-US" sz="1000" dirty="0">
                <a:solidFill>
                  <a:srgbClr val="E2E8F0"/>
                </a:solidFill>
              </a:rPr>
              <a:t> cursor.</a:t>
            </a:r>
            <a:r>
              <a:rPr lang="en-US" sz="1000" b="1" dirty="0">
                <a:solidFill>
                  <a:srgbClr val="34D399"/>
                </a:solidFill>
              </a:rPr>
              <a:t>execute</a:t>
            </a:r>
            <a:r>
              <a:rPr lang="en-US" sz="1000" dirty="0">
                <a:solidFill>
                  <a:srgbClr val="E2E8F0"/>
                </a:solidFill>
              </a:rPr>
              <a:t>(</a:t>
            </a:r>
            <a:r>
              <a:rPr lang="en-US" sz="1000" dirty="0">
                <a:solidFill>
                  <a:srgbClr val="FCD34D"/>
                </a:solidFill>
              </a:rPr>
              <a:t>"SELECT * FROM cyber_incidents LIMIT 3"</a:t>
            </a:r>
            <a:r>
              <a:rPr lang="en-US" sz="1000" dirty="0">
                <a:solidFill>
                  <a:srgbClr val="E2E8F0"/>
                </a:solidFill>
              </a:rPr>
              <a:t>)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472B6"/>
                </a:solidFill>
              </a:rPr>
              <a:t>for</a:t>
            </a:r>
            <a:r>
              <a:rPr lang="en-US" sz="1000" dirty="0">
                <a:solidFill>
                  <a:srgbClr val="E2E8F0"/>
                </a:solidFill>
              </a:rPr>
              <a:t> row </a:t>
            </a:r>
            <a:r>
              <a:rPr lang="en-US" sz="1000" b="1" dirty="0">
                <a:solidFill>
                  <a:srgbClr val="F472B6"/>
                </a:solidFill>
              </a:rPr>
              <a:t>in</a:t>
            </a:r>
            <a:r>
              <a:rPr lang="en-US" sz="1000" dirty="0">
                <a:solidFill>
                  <a:srgbClr val="E2E8F0"/>
                </a:solidFill>
              </a:rPr>
              <a:t> cursor.</a:t>
            </a:r>
            <a:r>
              <a:rPr lang="en-US" sz="1000" b="1" dirty="0">
                <a:solidFill>
                  <a:srgbClr val="34D399"/>
                </a:solidFill>
              </a:rPr>
              <a:t>fetchall</a:t>
            </a:r>
            <a:r>
              <a:rPr lang="en-US" sz="1000" dirty="0">
                <a:solidFill>
                  <a:srgbClr val="E2E8F0"/>
                </a:solidFill>
              </a:rPr>
              <a:t>():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E2E8F0"/>
                </a:solidFill>
              </a:rPr>
              <a:t>                </a:t>
            </a:r>
            <a:r>
              <a:rPr lang="en-US" sz="1000" b="1" dirty="0">
                <a:solidFill>
                  <a:srgbClr val="F472B6"/>
                </a:solidFill>
              </a:rPr>
              <a:t>print</a:t>
            </a:r>
            <a:r>
              <a:rPr lang="en-US" sz="1000" dirty="0">
                <a:solidFill>
                  <a:srgbClr val="E2E8F0"/>
                </a:solidFill>
              </a:rPr>
              <a:t>(row)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71500" y="4234681"/>
            <a:ext cx="8001000" cy="88582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71500" y="4234681"/>
            <a:ext cx="8001000" cy="21431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28663" y="4363269"/>
            <a:ext cx="1835439" cy="178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i="1" dirty="0">
                <a:solidFill>
                  <a:srgbClr val="1E3A8A"/>
                </a:solidFill>
              </a:rPr>
              <a:t> Why Use Pandas for CSV Loading?</a:t>
            </a:r>
            <a:endParaRPr lang="en-US" sz="1000" i="1" dirty="0"/>
          </a:p>
        </p:txBody>
      </p:sp>
      <p:sp>
        <p:nvSpPr>
          <p:cNvPr id="33" name="Text 30"/>
          <p:cNvSpPr/>
          <p:nvPr/>
        </p:nvSpPr>
        <p:spPr>
          <a:xfrm>
            <a:off x="728663" y="4627587"/>
            <a:ext cx="7686675" cy="348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475569"/>
                </a:solidFill>
              </a:rPr>
              <a:t>Pandas can load </a:t>
            </a:r>
            <a:r>
              <a:rPr lang="en-US" sz="1000" b="1" i="1" dirty="0">
                <a:solidFill>
                  <a:srgbClr val="475569"/>
                </a:solidFill>
              </a:rPr>
              <a:t>thousands of rows in seconds</a:t>
            </a:r>
            <a:r>
              <a:rPr lang="en-US" sz="1000" i="1" dirty="0">
                <a:solidFill>
                  <a:srgbClr val="475569"/>
                </a:solidFill>
              </a:rPr>
              <a:t> with a single command. 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475569"/>
                </a:solidFill>
              </a:rPr>
              <a:t>The </a:t>
            </a:r>
            <a:r>
              <a:rPr lang="en-US" sz="1000" b="1" i="1" dirty="0">
                <a:solidFill>
                  <a:srgbClr val="475569"/>
                </a:solidFill>
              </a:rPr>
              <a:t>to_sql()</a:t>
            </a:r>
            <a:r>
              <a:rPr lang="en-US" sz="1000" i="1" dirty="0">
                <a:solidFill>
                  <a:srgbClr val="475569"/>
                </a:solidFill>
              </a:rPr>
              <a:t> method automatically handles data type conversion, escaping, and bulk insertion. Much faster than inserting rows one-by-one in a loop!</a:t>
            </a:r>
            <a:endParaRPr lang="en-US" sz="10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14313"/>
            <a:ext cx="8001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814388"/>
            <a:ext cx="8001000" cy="28575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214313"/>
            <a:ext cx="8001000" cy="628650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DC2626"/>
                </a:solidFill>
              </a:rPr>
              <a:t>SQL Injection - Critical Security Warning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957263"/>
            <a:ext cx="3911203" cy="1571625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1500" y="957263"/>
            <a:ext cx="3911203" cy="28575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00088" y="1085850"/>
            <a:ext cx="65" cy="2811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1021556" y="1117997"/>
            <a:ext cx="148740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DC2626"/>
                </a:solidFill>
              </a:rPr>
              <a:t>VULNERABLE CODE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700088" y="1471613"/>
            <a:ext cx="3654028" cy="92868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00088" y="1471613"/>
            <a:ext cx="3654028" cy="1066318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94A3B8"/>
                </a:solidFill>
              </a:rPr>
              <a:t># NEVER DO THIS!# String concatenation or f-strings</a:t>
            </a:r>
            <a:r>
              <a:rPr lang="en-US" sz="1000" dirty="0">
                <a:solidFill>
                  <a:srgbClr val="E2E8F0"/>
                </a:solidFill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username = </a:t>
            </a:r>
            <a:r>
              <a:rPr lang="en-US" sz="1000" b="1" dirty="0">
                <a:solidFill>
                  <a:srgbClr val="60A5FA"/>
                </a:solidFill>
              </a:rPr>
              <a:t>input</a:t>
            </a:r>
            <a:r>
              <a:rPr lang="en-US" sz="1000" dirty="0">
                <a:solidFill>
                  <a:srgbClr val="E2E8F0"/>
                </a:solidFill>
              </a:rPr>
              <a:t>(</a:t>
            </a:r>
            <a:r>
              <a:rPr lang="en-US" sz="1000" dirty="0">
                <a:solidFill>
                  <a:srgbClr val="FCD34D"/>
                </a:solidFill>
              </a:rPr>
              <a:t>"Enter username: "</a:t>
            </a:r>
            <a:r>
              <a:rPr lang="en-US" sz="1000" dirty="0">
                <a:solidFill>
                  <a:srgbClr val="E2E8F0"/>
                </a:solidFill>
              </a:rPr>
              <a:t>) </a:t>
            </a:r>
            <a:r>
              <a:rPr lang="en-US" sz="1000" i="1" dirty="0">
                <a:solidFill>
                  <a:srgbClr val="94A3B8"/>
                </a:solidFill>
              </a:rPr>
              <a:t># Dangerous: user input becomes SQL code</a:t>
            </a:r>
            <a:r>
              <a:rPr lang="en-US" sz="1000" dirty="0">
                <a:solidFill>
                  <a:srgbClr val="E2E8F0"/>
                </a:solidFill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query = </a:t>
            </a:r>
            <a:r>
              <a:rPr lang="en-US" sz="1000" dirty="0">
                <a:solidFill>
                  <a:srgbClr val="FCD34D"/>
                </a:solidFill>
              </a:rPr>
              <a:t>f"SELECT * FROM users WHERE username = '{username}'"</a:t>
            </a:r>
            <a:r>
              <a:rPr lang="en-US" sz="1000" dirty="0">
                <a:solidFill>
                  <a:srgbClr val="E2E8F0"/>
                </a:solidFill>
              </a:rPr>
              <a:t> cursor.</a:t>
            </a:r>
            <a:r>
              <a:rPr lang="en-US" sz="1000" b="1" dirty="0">
                <a:solidFill>
                  <a:srgbClr val="60A5FA"/>
                </a:solidFill>
              </a:rPr>
              <a:t>execute</a:t>
            </a:r>
            <a:r>
              <a:rPr lang="en-US" sz="1000" dirty="0">
                <a:solidFill>
                  <a:srgbClr val="E2E8F0"/>
                </a:solidFill>
              </a:rPr>
              <a:t>(query)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1297" y="957263"/>
            <a:ext cx="3911203" cy="1571625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1297" y="957263"/>
            <a:ext cx="3911203" cy="28575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89884" y="1085850"/>
            <a:ext cx="65" cy="2811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endParaRPr lang="en-US" sz="1486" dirty="0"/>
          </a:p>
        </p:txBody>
      </p:sp>
      <p:sp>
        <p:nvSpPr>
          <p:cNvPr id="15" name="Text 12"/>
          <p:cNvSpPr/>
          <p:nvPr/>
        </p:nvSpPr>
        <p:spPr>
          <a:xfrm>
            <a:off x="5111353" y="1117997"/>
            <a:ext cx="105253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59669"/>
                </a:solidFill>
              </a:rPr>
              <a:t>SECURE CODE</a:t>
            </a:r>
            <a:endParaRPr lang="en-US" sz="1090" dirty="0"/>
          </a:p>
        </p:txBody>
      </p:sp>
      <p:sp>
        <p:nvSpPr>
          <p:cNvPr id="16" name="Shape 13"/>
          <p:cNvSpPr/>
          <p:nvPr/>
        </p:nvSpPr>
        <p:spPr>
          <a:xfrm>
            <a:off x="4789884" y="1471613"/>
            <a:ext cx="3654028" cy="92868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89884" y="1471613"/>
            <a:ext cx="3654028" cy="1066318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94A3B8"/>
                </a:solidFill>
              </a:rPr>
              <a:t># ALWAYS DO THIS!# Parameterized queries with ? placeholders</a:t>
            </a:r>
            <a:r>
              <a:rPr lang="en-US" sz="1000" dirty="0">
                <a:solidFill>
                  <a:srgbClr val="E2E8F0"/>
                </a:solidFill>
              </a:rPr>
              <a:t> username = </a:t>
            </a:r>
            <a:r>
              <a:rPr lang="en-US" sz="1000" b="1" dirty="0">
                <a:solidFill>
                  <a:srgbClr val="60A5FA"/>
                </a:solidFill>
              </a:rPr>
              <a:t>input</a:t>
            </a:r>
            <a:r>
              <a:rPr lang="en-US" sz="1000" dirty="0">
                <a:solidFill>
                  <a:srgbClr val="E2E8F0"/>
                </a:solidFill>
              </a:rPr>
              <a:t>(</a:t>
            </a:r>
            <a:r>
              <a:rPr lang="en-US" sz="1000" dirty="0">
                <a:solidFill>
                  <a:srgbClr val="FCD34D"/>
                </a:solidFill>
              </a:rPr>
              <a:t>"Enter username: "</a:t>
            </a:r>
            <a:r>
              <a:rPr lang="en-US" sz="1000" dirty="0">
                <a:solidFill>
                  <a:srgbClr val="E2E8F0"/>
                </a:solidFill>
              </a:rPr>
              <a:t>) </a:t>
            </a:r>
            <a:r>
              <a:rPr lang="en-US" sz="1000" i="1" dirty="0">
                <a:solidFill>
                  <a:srgbClr val="94A3B8"/>
                </a:solidFill>
              </a:rPr>
              <a:t># Safe: user input treated as data</a:t>
            </a:r>
            <a:r>
              <a:rPr lang="en-US" sz="1000" dirty="0">
                <a:solidFill>
                  <a:srgbClr val="E2E8F0"/>
                </a:solidFill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query = </a:t>
            </a:r>
            <a:r>
              <a:rPr lang="en-US" sz="1000" dirty="0">
                <a:solidFill>
                  <a:srgbClr val="FCD34D"/>
                </a:solidFill>
              </a:rPr>
              <a:t>"SELECT * FROM users WHERE username = ?"</a:t>
            </a:r>
            <a:r>
              <a:rPr lang="en-US" sz="1000" dirty="0">
                <a:solidFill>
                  <a:srgbClr val="E2E8F0"/>
                </a:solidFill>
              </a:rPr>
              <a:t> cursor.</a:t>
            </a:r>
            <a:r>
              <a:rPr lang="en-US" sz="1000" b="1" dirty="0">
                <a:solidFill>
                  <a:srgbClr val="60A5FA"/>
                </a:solidFill>
              </a:rPr>
              <a:t>execute</a:t>
            </a:r>
            <a:r>
              <a:rPr lang="en-US" sz="1000" dirty="0">
                <a:solidFill>
                  <a:srgbClr val="E2E8F0"/>
                </a:solidFill>
              </a:rPr>
              <a:t>(query, (username,))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1500" y="2657475"/>
            <a:ext cx="8001000" cy="2043113"/>
          </a:xfrm>
          <a:prstGeom prst="rect">
            <a:avLst/>
          </a:prstGeom>
          <a:solidFill>
            <a:srgbClr val="FEF2F2"/>
          </a:solidFill>
          <a:ln w="18288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50119" y="2786063"/>
            <a:ext cx="158806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DC2626"/>
                </a:solidFill>
              </a:rPr>
              <a:t>How the Attack Works</a:t>
            </a:r>
            <a:endParaRPr lang="en-US" sz="987" dirty="0"/>
          </a:p>
        </p:txBody>
      </p:sp>
      <p:sp>
        <p:nvSpPr>
          <p:cNvPr id="21" name="Shape 18"/>
          <p:cNvSpPr/>
          <p:nvPr/>
        </p:nvSpPr>
        <p:spPr>
          <a:xfrm>
            <a:off x="700088" y="3071813"/>
            <a:ext cx="3818334" cy="6750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85813" y="3157538"/>
            <a:ext cx="36468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991B1B"/>
                </a:solidFill>
              </a:rPr>
              <a:t>Attacker enters this input: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785813" y="3339703"/>
            <a:ext cx="36468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C2626"/>
                </a:solidFill>
              </a:rPr>
              <a:t>admin' OR '1'='1</a:t>
            </a:r>
            <a:endParaRPr lang="en-US" sz="634" dirty="0"/>
          </a:p>
        </p:txBody>
      </p:sp>
      <p:sp>
        <p:nvSpPr>
          <p:cNvPr id="24" name="Shape 21"/>
          <p:cNvSpPr/>
          <p:nvPr/>
        </p:nvSpPr>
        <p:spPr>
          <a:xfrm>
            <a:off x="4625578" y="3071813"/>
            <a:ext cx="3818334" cy="6750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11303" y="3157538"/>
            <a:ext cx="36468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991B1B"/>
                </a:solidFill>
              </a:rPr>
              <a:t>Vulnerable code creates this query: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4711303" y="3339703"/>
            <a:ext cx="36468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C2626"/>
                </a:solidFill>
              </a:rPr>
              <a:t>SELECT * FROM users WHERE username = 'admin' OR '1'='1'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4711303" y="3521869"/>
            <a:ext cx="36468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C2626"/>
                </a:solidFill>
              </a:rPr>
              <a:t>→ Returns ALL users! Authentication bypassed.</a:t>
            </a:r>
            <a:endParaRPr lang="en-US" sz="634" dirty="0"/>
          </a:p>
        </p:txBody>
      </p:sp>
      <p:sp>
        <p:nvSpPr>
          <p:cNvPr id="28" name="Shape 25"/>
          <p:cNvSpPr/>
          <p:nvPr/>
        </p:nvSpPr>
        <p:spPr>
          <a:xfrm>
            <a:off x="700088" y="3854053"/>
            <a:ext cx="3818334" cy="6750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5813" y="3939778"/>
            <a:ext cx="36468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991B1B"/>
                </a:solidFill>
              </a:rPr>
              <a:t>With parameterized query (?):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785813" y="4121944"/>
            <a:ext cx="36468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59669"/>
                </a:solidFill>
              </a:rPr>
              <a:t>SELECT * FROM users WHERE username = ?</a:t>
            </a:r>
            <a:endParaRPr lang="en-US" sz="634" dirty="0"/>
          </a:p>
        </p:txBody>
      </p:sp>
      <p:sp>
        <p:nvSpPr>
          <p:cNvPr id="31" name="Text 28"/>
          <p:cNvSpPr/>
          <p:nvPr/>
        </p:nvSpPr>
        <p:spPr>
          <a:xfrm>
            <a:off x="785813" y="4304109"/>
            <a:ext cx="36468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059669"/>
                </a:solidFill>
              </a:rPr>
              <a:t>Values: ("admin' OR '1'='1",)</a:t>
            </a:r>
            <a:endParaRPr lang="en-US" sz="674" dirty="0"/>
          </a:p>
        </p:txBody>
      </p:sp>
      <p:sp>
        <p:nvSpPr>
          <p:cNvPr id="32" name="Shape 29"/>
          <p:cNvSpPr/>
          <p:nvPr/>
        </p:nvSpPr>
        <p:spPr>
          <a:xfrm>
            <a:off x="4625578" y="3854053"/>
            <a:ext cx="3818334" cy="6750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711303" y="3939778"/>
            <a:ext cx="36468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991B1B"/>
                </a:solidFill>
              </a:rPr>
              <a:t>Database treats it as literal string: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4711303" y="4121944"/>
            <a:ext cx="36468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59669"/>
                </a:solidFill>
              </a:rPr>
              <a:t>Searches for username = "admin' OR '1'='1"</a:t>
            </a:r>
            <a:endParaRPr lang="en-US" sz="634" dirty="0"/>
          </a:p>
        </p:txBody>
      </p:sp>
      <p:sp>
        <p:nvSpPr>
          <p:cNvPr id="35" name="Text 32"/>
          <p:cNvSpPr/>
          <p:nvPr/>
        </p:nvSpPr>
        <p:spPr>
          <a:xfrm>
            <a:off x="4711303" y="4304109"/>
            <a:ext cx="36468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59669"/>
                </a:solidFill>
              </a:rPr>
              <a:t>→ No match found. Attack prevented!</a:t>
            </a:r>
            <a:endParaRPr lang="en-US" sz="63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50031"/>
            <a:ext cx="8001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850106"/>
            <a:ext cx="8001000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250031"/>
            <a:ext cx="8001000" cy="628650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E3A8A"/>
                </a:solidFill>
              </a:rPr>
              <a:t>Your Week 8 Tasks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92981"/>
            <a:ext cx="430232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E3A8A"/>
                </a:solidFill>
              </a:rPr>
              <a:t>What You Need to Build:</a:t>
            </a:r>
            <a:endParaRPr lang="en-US" sz="1090" dirty="0"/>
          </a:p>
        </p:txBody>
      </p:sp>
      <p:sp>
        <p:nvSpPr>
          <p:cNvPr id="7" name="Shape 4"/>
          <p:cNvSpPr/>
          <p:nvPr/>
        </p:nvSpPr>
        <p:spPr>
          <a:xfrm>
            <a:off x="571500" y="1357313"/>
            <a:ext cx="4302323" cy="50433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457325"/>
            <a:ext cx="14108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EA5E9"/>
                </a:solidFill>
              </a:rPr>
              <a:t>☐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912614" y="1443038"/>
            <a:ext cx="1744067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1. Create Database with 4 Tables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2614" y="1635919"/>
            <a:ext cx="384690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users, cyber_incidents, datasets_metadata, it_tickets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571500" y="1947370"/>
            <a:ext cx="4302323" cy="50433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2047382"/>
            <a:ext cx="14108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EA5E9"/>
                </a:solidFill>
              </a:rPr>
              <a:t>☐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912614" y="2033095"/>
            <a:ext cx="1654299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2. Migrate Users from users.txt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2614" y="2225976"/>
            <a:ext cx="384690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Read Week 7 file and insert into database with bcrypt hashing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571500" y="2537427"/>
            <a:ext cx="4302323" cy="50433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2637439"/>
            <a:ext cx="14108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EA5E9"/>
                </a:solidFill>
              </a:rPr>
              <a:t>☐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912614" y="2623152"/>
            <a:ext cx="1833835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3. Load All 3 CSV Files with Pandas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12614" y="2816033"/>
            <a:ext cx="384690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cyber_incidents.csv, datasets_metadata.csv, it_tickets.csv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571500" y="3127484"/>
            <a:ext cx="4302323" cy="50433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5800" y="3227496"/>
            <a:ext cx="14108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EA5E9"/>
                </a:solidFill>
              </a:rPr>
              <a:t>☐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912614" y="3213209"/>
            <a:ext cx="2212144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4. Write CRUD Functions for Each Domain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12614" y="3406090"/>
            <a:ext cx="384690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Separate .py files: users.py, incidents.py, datasets.py, tickets.py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571500" y="3717541"/>
            <a:ext cx="4302323" cy="50433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5800" y="3817553"/>
            <a:ext cx="14108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EA5E9"/>
                </a:solidFill>
              </a:rPr>
              <a:t>☐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912614" y="3803266"/>
            <a:ext cx="1734449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5. Test All Operations in main.py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12614" y="3996147"/>
            <a:ext cx="384690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Demo script showing CREATE, INSERT, SELECT, UPDATE, DELETE</a:t>
            </a:r>
            <a:endParaRPr lang="en-US" sz="727" dirty="0"/>
          </a:p>
        </p:txBody>
      </p:sp>
      <p:sp>
        <p:nvSpPr>
          <p:cNvPr id="27" name="Shape 24"/>
          <p:cNvSpPr/>
          <p:nvPr/>
        </p:nvSpPr>
        <p:spPr>
          <a:xfrm>
            <a:off x="5052417" y="992981"/>
            <a:ext cx="3520083" cy="322889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124171" y="995116"/>
            <a:ext cx="3262908" cy="27860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Project Structure: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5124171" y="1163050"/>
            <a:ext cx="3262908" cy="3231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EA5E9"/>
                </a:solidFill>
              </a:rPr>
              <a:t>CW2_M0123456_CST1510/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│─ </a:t>
            </a:r>
            <a:r>
              <a:rPr lang="en-US" sz="1000" b="1" dirty="0">
                <a:solidFill>
                  <a:srgbClr val="0EA5E9"/>
                </a:solidFill>
              </a:rPr>
              <a:t>app/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1E293B"/>
                </a:solidFill>
              </a:rPr>
              <a:t>│  │└─ </a:t>
            </a:r>
            <a:r>
              <a:rPr lang="en-US" sz="1000" b="1" dirty="0">
                <a:solidFill>
                  <a:srgbClr val="0EA5E9"/>
                </a:solidFill>
              </a:rPr>
              <a:t>data/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  │  ├─ </a:t>
            </a:r>
            <a:r>
              <a:rPr lang="en-US" sz="1000" b="1" dirty="0">
                <a:solidFill>
                  <a:srgbClr val="059669"/>
                </a:solidFill>
              </a:rPr>
              <a:t>db.py</a:t>
            </a:r>
            <a:r>
              <a:rPr lang="en-US" sz="1000" i="1" dirty="0">
                <a:solidFill>
                  <a:srgbClr val="64748B"/>
                </a:solidFill>
              </a:rPr>
              <a:t># Connection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  │  ├─ </a:t>
            </a:r>
            <a:r>
              <a:rPr lang="en-US" sz="1000" b="1" dirty="0">
                <a:solidFill>
                  <a:srgbClr val="059669"/>
                </a:solidFill>
              </a:rPr>
              <a:t>schema.py</a:t>
            </a:r>
            <a:r>
              <a:rPr lang="en-US" sz="1000" i="1" dirty="0">
                <a:solidFill>
                  <a:srgbClr val="64748B"/>
                </a:solidFill>
              </a:rPr>
              <a:t># CREATE TABLE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  │  ├─ </a:t>
            </a:r>
            <a:r>
              <a:rPr lang="en-US" sz="1000" b="1" dirty="0">
                <a:solidFill>
                  <a:srgbClr val="059669"/>
                </a:solidFill>
              </a:rPr>
              <a:t>users.py</a:t>
            </a:r>
            <a:r>
              <a:rPr lang="en-US" sz="1000" i="1" dirty="0">
                <a:solidFill>
                  <a:srgbClr val="64748B"/>
                </a:solidFill>
              </a:rPr>
              <a:t># User CRUD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  │  ├─ </a:t>
            </a:r>
            <a:r>
              <a:rPr lang="en-US" sz="1000" b="1" dirty="0">
                <a:solidFill>
                  <a:srgbClr val="059669"/>
                </a:solidFill>
              </a:rPr>
              <a:t>incidents.py</a:t>
            </a:r>
            <a:r>
              <a:rPr lang="en-US" sz="1000" i="1" dirty="0">
                <a:solidFill>
                  <a:srgbClr val="64748B"/>
                </a:solidFill>
              </a:rPr>
              <a:t># Incident CRUD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  │  ├─ </a:t>
            </a:r>
            <a:r>
              <a:rPr lang="en-US" sz="1000" b="1" dirty="0">
                <a:solidFill>
                  <a:srgbClr val="059669"/>
                </a:solidFill>
              </a:rPr>
              <a:t>datasets.py</a:t>
            </a:r>
            <a:r>
              <a:rPr lang="en-US" sz="1000" i="1" dirty="0">
                <a:solidFill>
                  <a:srgbClr val="64748B"/>
                </a:solidFill>
              </a:rPr>
              <a:t># Dataset CRUD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  │   └─ </a:t>
            </a:r>
            <a:r>
              <a:rPr lang="en-US" sz="1000" b="1" dirty="0">
                <a:solidFill>
                  <a:srgbClr val="059669"/>
                </a:solidFill>
              </a:rPr>
              <a:t>tickets.py</a:t>
            </a:r>
            <a:r>
              <a:rPr lang="en-US" sz="1000" i="1" dirty="0">
                <a:solidFill>
                  <a:srgbClr val="64748B"/>
                </a:solidFill>
              </a:rPr>
              <a:t># Ticket CRUD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  │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  └─ </a:t>
            </a:r>
            <a:r>
              <a:rPr lang="en-US" sz="1000" b="1" dirty="0">
                <a:solidFill>
                  <a:srgbClr val="0EA5E9"/>
                </a:solidFill>
              </a:rPr>
              <a:t>services/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        └─ </a:t>
            </a:r>
            <a:r>
              <a:rPr lang="en-US" sz="1000" b="1" dirty="0">
                <a:solidFill>
                  <a:srgbClr val="059669"/>
                </a:solidFill>
              </a:rPr>
              <a:t>user_service.py</a:t>
            </a:r>
            <a:r>
              <a:rPr lang="en-US" sz="1000" i="1" dirty="0">
                <a:solidFill>
                  <a:srgbClr val="64748B"/>
                </a:solidFill>
              </a:rPr>
              <a:t># Migration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│-─ </a:t>
            </a:r>
            <a:r>
              <a:rPr lang="en-US" sz="1000" b="1" dirty="0">
                <a:solidFill>
                  <a:srgbClr val="0EA5E9"/>
                </a:solidFill>
              </a:rPr>
              <a:t>DATA/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 ├─ </a:t>
            </a:r>
            <a:r>
              <a:rPr lang="en-US" sz="1000" dirty="0" err="1">
                <a:solidFill>
                  <a:srgbClr val="1E293B"/>
                </a:solidFill>
              </a:rPr>
              <a:t>users.txt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 ├─ </a:t>
            </a:r>
            <a:r>
              <a:rPr lang="en-US" sz="1000" dirty="0" err="1">
                <a:solidFill>
                  <a:srgbClr val="1E293B"/>
                </a:solidFill>
              </a:rPr>
              <a:t>cyber_incidents.csv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 ├─ </a:t>
            </a:r>
            <a:r>
              <a:rPr lang="en-US" sz="1000" dirty="0" err="1">
                <a:solidFill>
                  <a:srgbClr val="1E293B"/>
                </a:solidFill>
              </a:rPr>
              <a:t>datasets_metadata.csv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 ├─ </a:t>
            </a:r>
            <a:r>
              <a:rPr lang="en-US" sz="1000" dirty="0" err="1">
                <a:solidFill>
                  <a:srgbClr val="1E293B"/>
                </a:solidFill>
              </a:rPr>
              <a:t>it_tickets.csv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  └─ </a:t>
            </a:r>
            <a:r>
              <a:rPr lang="en-US" sz="1000" dirty="0" err="1">
                <a:solidFill>
                  <a:srgbClr val="1E293B"/>
                </a:solidFill>
              </a:rPr>
              <a:t>intelligence_platform.db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│─ </a:t>
            </a:r>
            <a:r>
              <a:rPr lang="en-US" sz="1000" b="1" dirty="0">
                <a:solidFill>
                  <a:srgbClr val="059669"/>
                </a:solidFill>
              </a:rPr>
              <a:t>main.py</a:t>
            </a:r>
            <a:r>
              <a:rPr lang="en-US" sz="1000" i="1" dirty="0">
                <a:solidFill>
                  <a:srgbClr val="64748B"/>
                </a:solidFill>
              </a:rPr>
              <a:t># Demo script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1E293B"/>
                </a:solidFill>
              </a:rPr>
              <a:t>│─ .</a:t>
            </a:r>
            <a:r>
              <a:rPr lang="en-US" sz="1000" b="1" dirty="0" err="1">
                <a:solidFill>
                  <a:srgbClr val="059669"/>
                </a:solidFill>
              </a:rPr>
              <a:t>gitignore</a:t>
            </a:r>
            <a:r>
              <a:rPr lang="en-US" sz="1000" b="1" dirty="0">
                <a:solidFill>
                  <a:srgbClr val="059669"/>
                </a:solidFill>
              </a:rPr>
              <a:t> </a:t>
            </a:r>
            <a:endParaRPr lang="en-US" sz="1000" b="1" i="1" dirty="0">
              <a:solidFill>
                <a:srgbClr val="64748B"/>
              </a:solidFill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1E293B"/>
                </a:solidFill>
              </a:rPr>
              <a:t>└─ </a:t>
            </a:r>
            <a:r>
              <a:rPr lang="en-US" sz="1000" b="1" dirty="0">
                <a:solidFill>
                  <a:srgbClr val="059669"/>
                </a:solidFill>
              </a:rPr>
              <a:t>requirements.txt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71500" y="4329029"/>
            <a:ext cx="8001000" cy="3429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71500" y="4329029"/>
            <a:ext cx="8001000" cy="21431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069713" y="4414754"/>
            <a:ext cx="500457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92400E"/>
                </a:solidFill>
              </a:rPr>
              <a:t> Remember: Use parameterized queries (? placeholders) everywhere to prevent SQL injection!</a:t>
            </a:r>
            <a:endParaRPr lang="en-US" sz="1000" i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875"/>
            <a:ext cx="9144000" cy="60391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6500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78694"/>
            <a:ext cx="8001000" cy="2857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650081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E3A8A"/>
                </a:solidFill>
              </a:rPr>
              <a:t>Next Steps — Week 9 Preview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28725"/>
            <a:ext cx="3650456" cy="124301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1500" y="1228725"/>
            <a:ext cx="3650456" cy="2857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50094" y="1421606"/>
            <a:ext cx="32932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64748B"/>
                </a:solidFill>
              </a:rPr>
              <a:t>Week 8 (This Week)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750094" y="1628775"/>
            <a:ext cx="329326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E3A8A"/>
                </a:solidFill>
              </a:rPr>
              <a:t>CLI + Database Functions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50094" y="1957388"/>
            <a:ext cx="329326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You built database functions (connect, create, insert, query) and tested them with command-line scripts.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4400550" y="1593056"/>
            <a:ext cx="3429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6366F1"/>
                </a:solidFill>
              </a:rPr>
              <a:t>→</a:t>
            </a:r>
            <a:endParaRPr lang="en-US" sz="2436" dirty="0"/>
          </a:p>
        </p:txBody>
      </p:sp>
      <p:sp>
        <p:nvSpPr>
          <p:cNvPr id="12" name="Shape 9"/>
          <p:cNvSpPr/>
          <p:nvPr/>
        </p:nvSpPr>
        <p:spPr>
          <a:xfrm>
            <a:off x="4922044" y="1228725"/>
            <a:ext cx="3650456" cy="1243013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922044" y="1228725"/>
            <a:ext cx="3650456" cy="2857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00638" y="1407319"/>
            <a:ext cx="32932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kern="0" spc="1" dirty="0">
                <a:solidFill>
                  <a:srgbClr val="64748B"/>
                </a:solidFill>
              </a:rPr>
              <a:t>Week 9 (Next Week)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100638" y="1614488"/>
            <a:ext cx="329326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E3A8A"/>
                </a:solidFill>
              </a:rPr>
              <a:t>Streamlit Web Interface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5100638" y="1943100"/>
            <a:ext cx="329326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You'll import your functions into a web app with pages, forms, tables, and charts — no HTML/CSS required!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571497" y="2629672"/>
            <a:ext cx="8001000" cy="239159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50093" y="2678704"/>
            <a:ext cx="7643813" cy="300038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E3A8A"/>
                </a:solidFill>
              </a:rPr>
              <a:t>How Your Week 8 Functions Will Be Used in Week 9:</a:t>
            </a:r>
            <a:endParaRPr lang="en-US" sz="987" dirty="0"/>
          </a:p>
        </p:txBody>
      </p:sp>
      <p:sp>
        <p:nvSpPr>
          <p:cNvPr id="19" name="Shape 16"/>
          <p:cNvSpPr/>
          <p:nvPr/>
        </p:nvSpPr>
        <p:spPr>
          <a:xfrm>
            <a:off x="750091" y="2901346"/>
            <a:ext cx="7643813" cy="2168951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17984" y="2814638"/>
            <a:ext cx="7643813" cy="232691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94A3B8"/>
                </a:solidFill>
              </a:rPr>
              <a:t># app/views/web/pages/incidents.py (Week 9 Streamlit page)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683" b="1" dirty="0" err="1">
                <a:solidFill>
                  <a:srgbClr val="F472B6"/>
                </a:solidFill>
              </a:rPr>
              <a:t>Import</a:t>
            </a:r>
            <a:r>
              <a:rPr lang="en-US" sz="683" b="1" dirty="0" err="1">
                <a:solidFill>
                  <a:srgbClr val="60A5FA"/>
                </a:solidFill>
              </a:rPr>
              <a:t>streamlit</a:t>
            </a:r>
            <a:r>
              <a:rPr lang="en-US" sz="683" b="1" dirty="0" err="1">
                <a:solidFill>
                  <a:srgbClr val="F472B6"/>
                </a:solidFill>
              </a:rPr>
              <a:t>as</a:t>
            </a:r>
            <a:r>
              <a:rPr lang="en-US" sz="683" b="1" dirty="0" err="1">
                <a:solidFill>
                  <a:srgbClr val="60A5FA"/>
                </a:solidFill>
              </a:rPr>
              <a:t>st</a:t>
            </a:r>
            <a:endParaRPr lang="en-US" sz="683" b="1" dirty="0">
              <a:solidFill>
                <a:srgbClr val="60A5FA"/>
              </a:solidFill>
            </a:endParaRPr>
          </a:p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472B6"/>
                </a:solidFill>
              </a:rPr>
              <a:t>from</a:t>
            </a:r>
            <a:r>
              <a:rPr lang="en-US" sz="727" dirty="0">
                <a:solidFill>
                  <a:srgbClr val="E2E8F0"/>
                </a:solidFill>
              </a:rPr>
              <a:t> app.data.db </a:t>
            </a:r>
            <a:r>
              <a:rPr lang="en-US" sz="683" b="1" dirty="0">
                <a:solidFill>
                  <a:srgbClr val="F472B6"/>
                </a:solidFill>
              </a:rPr>
              <a:t>import</a:t>
            </a:r>
            <a:r>
              <a:rPr lang="en-US" sz="727" dirty="0">
                <a:solidFill>
                  <a:srgbClr val="E2E8F0"/>
                </a:solidFill>
              </a:rPr>
              <a:t> </a:t>
            </a:r>
            <a:r>
              <a:rPr lang="en-US" sz="727" dirty="0" err="1">
                <a:solidFill>
                  <a:srgbClr val="E2E8F0"/>
                </a:solidFill>
              </a:rPr>
              <a:t>connect_database</a:t>
            </a:r>
            <a:r>
              <a:rPr lang="en-US" sz="727" dirty="0">
                <a:solidFill>
                  <a:srgbClr val="E2E8F0"/>
                </a:solidFill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472B6"/>
                </a:solidFill>
              </a:rPr>
              <a:t>from</a:t>
            </a:r>
            <a:r>
              <a:rPr lang="en-US" sz="727" dirty="0">
                <a:solidFill>
                  <a:srgbClr val="E2E8F0"/>
                </a:solidFill>
              </a:rPr>
              <a:t> </a:t>
            </a:r>
            <a:r>
              <a:rPr lang="en-US" sz="727" dirty="0" err="1">
                <a:solidFill>
                  <a:srgbClr val="E2E8F0"/>
                </a:solidFill>
              </a:rPr>
              <a:t>app.data.incidents</a:t>
            </a:r>
            <a:r>
              <a:rPr lang="en-US" sz="727" dirty="0">
                <a:solidFill>
                  <a:srgbClr val="E2E8F0"/>
                </a:solidFill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472B6"/>
                </a:solidFill>
              </a:rPr>
              <a:t>import</a:t>
            </a:r>
            <a:r>
              <a:rPr lang="en-US" sz="727" dirty="0">
                <a:solidFill>
                  <a:srgbClr val="E2E8F0"/>
                </a:solidFill>
              </a:rPr>
              <a:t> get_all_incidents, insert_incident </a:t>
            </a:r>
            <a:r>
              <a:rPr lang="en-US" sz="727" i="1" dirty="0">
                <a:solidFill>
                  <a:srgbClr val="94A3B8"/>
                </a:solidFill>
              </a:rPr>
              <a:t># Your Week 8 functions!# Connect to database</a:t>
            </a:r>
            <a:r>
              <a:rPr lang="en-US" sz="727" dirty="0">
                <a:solidFill>
                  <a:srgbClr val="E2E8F0"/>
                </a:solidFill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conn = </a:t>
            </a:r>
            <a:r>
              <a:rPr lang="en-US" sz="683" b="1" dirty="0">
                <a:solidFill>
                  <a:srgbClr val="34D399"/>
                </a:solidFill>
              </a:rPr>
              <a:t>connect_database</a:t>
            </a:r>
            <a:r>
              <a:rPr lang="en-US" sz="727" dirty="0">
                <a:solidFill>
                  <a:srgbClr val="E2E8F0"/>
                </a:solidFill>
              </a:rPr>
              <a:t>(</a:t>
            </a:r>
            <a:r>
              <a:rPr lang="en-US" sz="727" dirty="0">
                <a:solidFill>
                  <a:srgbClr val="FCD34D"/>
                </a:solidFill>
              </a:rPr>
              <a:t>'DATA/intelligence_platform.db'</a:t>
            </a:r>
            <a:r>
              <a:rPr lang="en-US" sz="727" dirty="0">
                <a:solidFill>
                  <a:srgbClr val="E2E8F0"/>
                </a:solidFill>
              </a:rPr>
              <a:t>) </a:t>
            </a:r>
            <a:r>
              <a:rPr lang="en-US" sz="727" i="1" dirty="0">
                <a:solidFill>
                  <a:srgbClr val="94A3B8"/>
                </a:solidFill>
              </a:rPr>
              <a:t># Display incidents in a beautiful table (Streamlit does the UI for you!)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683" b="1" dirty="0" err="1">
                <a:solidFill>
                  <a:srgbClr val="60A5FA"/>
                </a:solidFill>
              </a:rPr>
              <a:t>st</a:t>
            </a:r>
            <a:r>
              <a:rPr lang="en-US" sz="727" dirty="0" err="1">
                <a:solidFill>
                  <a:srgbClr val="E2E8F0"/>
                </a:solidFill>
              </a:rPr>
              <a:t>.</a:t>
            </a:r>
            <a:r>
              <a:rPr lang="en-US" sz="683" b="1" dirty="0" err="1">
                <a:solidFill>
                  <a:srgbClr val="34D399"/>
                </a:solidFill>
              </a:rPr>
              <a:t>title</a:t>
            </a:r>
            <a:r>
              <a:rPr lang="en-US" sz="727" dirty="0">
                <a:solidFill>
                  <a:srgbClr val="E2E8F0"/>
                </a:solidFill>
              </a:rPr>
              <a:t>(</a:t>
            </a:r>
            <a:r>
              <a:rPr lang="en-US" sz="727" dirty="0">
                <a:solidFill>
                  <a:srgbClr val="FCD34D"/>
                </a:solidFill>
              </a:rPr>
              <a:t>"Cyber Incidents Dashboard"</a:t>
            </a:r>
            <a:r>
              <a:rPr lang="en-US" sz="727" dirty="0">
                <a:solidFill>
                  <a:srgbClr val="E2E8F0"/>
                </a:solidFill>
              </a:rPr>
              <a:t>) incidents = </a:t>
            </a:r>
            <a:r>
              <a:rPr lang="en-US" sz="683" b="1" dirty="0">
                <a:solidFill>
                  <a:srgbClr val="34D399"/>
                </a:solidFill>
              </a:rPr>
              <a:t>get_all_incidents</a:t>
            </a:r>
            <a:r>
              <a:rPr lang="en-US" sz="727" dirty="0">
                <a:solidFill>
                  <a:srgbClr val="E2E8F0"/>
                </a:solidFill>
              </a:rPr>
              <a:t>(conn) </a:t>
            </a:r>
            <a:r>
              <a:rPr lang="en-US" sz="727" i="1" dirty="0">
                <a:solidFill>
                  <a:srgbClr val="94A3B8"/>
                </a:solidFill>
              </a:rPr>
              <a:t># Your Week 8 function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683" b="1" dirty="0" err="1">
                <a:solidFill>
                  <a:srgbClr val="60A5FA"/>
                </a:solidFill>
              </a:rPr>
              <a:t>st</a:t>
            </a:r>
            <a:r>
              <a:rPr lang="en-US" sz="727" dirty="0" err="1">
                <a:solidFill>
                  <a:srgbClr val="E2E8F0"/>
                </a:solidFill>
              </a:rPr>
              <a:t>.</a:t>
            </a:r>
            <a:r>
              <a:rPr lang="en-US" sz="683" b="1" dirty="0" err="1">
                <a:solidFill>
                  <a:srgbClr val="34D399"/>
                </a:solidFill>
              </a:rPr>
              <a:t>dataframe</a:t>
            </a:r>
            <a:r>
              <a:rPr lang="en-US" sz="727" dirty="0">
                <a:solidFill>
                  <a:srgbClr val="E2E8F0"/>
                </a:solidFill>
              </a:rPr>
              <a:t>(incidents, use_container_width=</a:t>
            </a:r>
            <a:r>
              <a:rPr lang="en-US" sz="683" b="1" dirty="0">
                <a:solidFill>
                  <a:srgbClr val="F472B6"/>
                </a:solidFill>
              </a:rPr>
              <a:t>True</a:t>
            </a:r>
            <a:r>
              <a:rPr lang="en-US" sz="727" dirty="0">
                <a:solidFill>
                  <a:srgbClr val="E2E8F0"/>
                </a:solidFill>
              </a:rPr>
              <a:t>) </a:t>
            </a:r>
            <a:r>
              <a:rPr lang="en-US" sz="727" i="1" dirty="0">
                <a:solidFill>
                  <a:srgbClr val="94A3B8"/>
                </a:solidFill>
              </a:rPr>
              <a:t># Beautiful table automatically!# Add new incident with a form</a:t>
            </a:r>
            <a:r>
              <a:rPr lang="en-US" sz="683" b="1" dirty="0">
                <a:solidFill>
                  <a:srgbClr val="F472B6"/>
                </a:solidFill>
              </a:rPr>
              <a:t>with</a:t>
            </a:r>
            <a:r>
              <a:rPr lang="en-US" sz="683" b="1" dirty="0">
                <a:solidFill>
                  <a:srgbClr val="60A5FA"/>
                </a:solidFill>
              </a:rPr>
              <a:t>st</a:t>
            </a:r>
            <a:r>
              <a:rPr lang="en-US" sz="727" dirty="0">
                <a:solidFill>
                  <a:srgbClr val="E2E8F0"/>
                </a:solidFill>
              </a:rPr>
              <a:t>.</a:t>
            </a:r>
            <a:r>
              <a:rPr lang="en-US" sz="683" b="1" dirty="0">
                <a:solidFill>
                  <a:srgbClr val="34D399"/>
                </a:solidFill>
              </a:rPr>
              <a:t>form</a:t>
            </a:r>
            <a:r>
              <a:rPr lang="en-US" sz="727" dirty="0">
                <a:solidFill>
                  <a:srgbClr val="E2E8F0"/>
                </a:solidFill>
              </a:rPr>
              <a:t>(</a:t>
            </a:r>
            <a:r>
              <a:rPr lang="en-US" sz="727" dirty="0">
                <a:solidFill>
                  <a:srgbClr val="FCD34D"/>
                </a:solidFill>
              </a:rPr>
              <a:t>"new_incident"</a:t>
            </a:r>
            <a:r>
              <a:rPr lang="en-US" sz="727" dirty="0">
                <a:solidFill>
                  <a:srgbClr val="E2E8F0"/>
                </a:solidFill>
              </a:rPr>
              <a:t>): title = </a:t>
            </a:r>
            <a:r>
              <a:rPr lang="en-US" sz="683" b="1" dirty="0">
                <a:solidFill>
                  <a:srgbClr val="60A5FA"/>
                </a:solidFill>
              </a:rPr>
              <a:t>st</a:t>
            </a:r>
            <a:r>
              <a:rPr lang="en-US" sz="727" dirty="0">
                <a:solidFill>
                  <a:srgbClr val="E2E8F0"/>
                </a:solidFill>
              </a:rPr>
              <a:t>.</a:t>
            </a:r>
            <a:r>
              <a:rPr lang="en-US" sz="683" b="1" dirty="0">
                <a:solidFill>
                  <a:srgbClr val="34D399"/>
                </a:solidFill>
              </a:rPr>
              <a:t>text_input</a:t>
            </a:r>
            <a:r>
              <a:rPr lang="en-US" sz="727" dirty="0">
                <a:solidFill>
                  <a:srgbClr val="E2E8F0"/>
                </a:solidFill>
              </a:rPr>
              <a:t>(</a:t>
            </a:r>
            <a:r>
              <a:rPr lang="en-US" sz="727" dirty="0">
                <a:solidFill>
                  <a:srgbClr val="FCD34D"/>
                </a:solidFill>
              </a:rPr>
              <a:t>"Incident Title"</a:t>
            </a:r>
            <a:r>
              <a:rPr lang="en-US" sz="727" dirty="0">
                <a:solidFill>
                  <a:srgbClr val="E2E8F0"/>
                </a:solidFill>
              </a:rPr>
              <a:t>)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severity = </a:t>
            </a:r>
            <a:r>
              <a:rPr lang="en-US" sz="683" b="1" dirty="0">
                <a:solidFill>
                  <a:srgbClr val="60A5FA"/>
                </a:solidFill>
              </a:rPr>
              <a:t>st</a:t>
            </a:r>
            <a:r>
              <a:rPr lang="en-US" sz="727" dirty="0">
                <a:solidFill>
                  <a:srgbClr val="E2E8F0"/>
                </a:solidFill>
              </a:rPr>
              <a:t>.</a:t>
            </a:r>
            <a:r>
              <a:rPr lang="en-US" sz="683" b="1" dirty="0">
                <a:solidFill>
                  <a:srgbClr val="34D399"/>
                </a:solidFill>
              </a:rPr>
              <a:t>selectbox</a:t>
            </a:r>
            <a:r>
              <a:rPr lang="en-US" sz="727" dirty="0">
                <a:solidFill>
                  <a:srgbClr val="E2E8F0"/>
                </a:solidFill>
              </a:rPr>
              <a:t>(</a:t>
            </a:r>
            <a:r>
              <a:rPr lang="en-US" sz="727" dirty="0">
                <a:solidFill>
                  <a:srgbClr val="FCD34D"/>
                </a:solidFill>
              </a:rPr>
              <a:t>"Severity"</a:t>
            </a:r>
            <a:r>
              <a:rPr lang="en-US" sz="727" dirty="0">
                <a:solidFill>
                  <a:srgbClr val="E2E8F0"/>
                </a:solidFill>
              </a:rPr>
              <a:t>, [</a:t>
            </a:r>
            <a:r>
              <a:rPr lang="en-US" sz="727" dirty="0">
                <a:solidFill>
                  <a:srgbClr val="FCD34D"/>
                </a:solidFill>
              </a:rPr>
              <a:t>"Low"</a:t>
            </a:r>
            <a:r>
              <a:rPr lang="en-US" sz="727" dirty="0">
                <a:solidFill>
                  <a:srgbClr val="E2E8F0"/>
                </a:solidFill>
              </a:rPr>
              <a:t>, </a:t>
            </a:r>
            <a:r>
              <a:rPr lang="en-US" sz="727" dirty="0">
                <a:solidFill>
                  <a:srgbClr val="FCD34D"/>
                </a:solidFill>
              </a:rPr>
              <a:t>"Medium"</a:t>
            </a:r>
            <a:r>
              <a:rPr lang="en-US" sz="727" dirty="0">
                <a:solidFill>
                  <a:srgbClr val="E2E8F0"/>
                </a:solidFill>
              </a:rPr>
              <a:t>, </a:t>
            </a:r>
            <a:r>
              <a:rPr lang="en-US" sz="727" dirty="0">
                <a:solidFill>
                  <a:srgbClr val="FCD34D"/>
                </a:solidFill>
              </a:rPr>
              <a:t>"High"</a:t>
            </a:r>
            <a:r>
              <a:rPr lang="en-US" sz="727" dirty="0">
                <a:solidFill>
                  <a:srgbClr val="E2E8F0"/>
                </a:solidFill>
              </a:rPr>
              <a:t>, </a:t>
            </a:r>
            <a:r>
              <a:rPr lang="en-US" sz="727" dirty="0">
                <a:solidFill>
                  <a:srgbClr val="FCD34D"/>
                </a:solidFill>
              </a:rPr>
              <a:t>"Critical"</a:t>
            </a:r>
            <a:r>
              <a:rPr lang="en-US" sz="727" dirty="0">
                <a:solidFill>
                  <a:srgbClr val="E2E8F0"/>
                </a:solidFill>
              </a:rPr>
              <a:t>]) </a:t>
            </a:r>
            <a:r>
              <a:rPr lang="en-US" sz="683" b="1" dirty="0">
                <a:solidFill>
                  <a:srgbClr val="F472B6"/>
                </a:solidFill>
              </a:rPr>
              <a:t>if</a:t>
            </a:r>
            <a:r>
              <a:rPr lang="en-US" sz="683" b="1" dirty="0">
                <a:solidFill>
                  <a:srgbClr val="60A5FA"/>
                </a:solidFill>
              </a:rPr>
              <a:t>st</a:t>
            </a:r>
            <a:r>
              <a:rPr lang="en-US" sz="727" dirty="0">
                <a:solidFill>
                  <a:srgbClr val="E2E8F0"/>
                </a:solidFill>
              </a:rPr>
              <a:t>.</a:t>
            </a:r>
            <a:r>
              <a:rPr lang="en-US" sz="683" b="1" dirty="0">
                <a:solidFill>
                  <a:srgbClr val="34D399"/>
                </a:solidFill>
              </a:rPr>
              <a:t>form_submit_button</a:t>
            </a:r>
            <a:r>
              <a:rPr lang="en-US" sz="727" dirty="0">
                <a:solidFill>
                  <a:srgbClr val="E2E8F0"/>
                </a:solidFill>
              </a:rPr>
              <a:t>(</a:t>
            </a:r>
            <a:r>
              <a:rPr lang="en-US" sz="727" dirty="0">
                <a:solidFill>
                  <a:srgbClr val="FCD34D"/>
                </a:solidFill>
              </a:rPr>
              <a:t>"Add Incident"</a:t>
            </a:r>
            <a:r>
              <a:rPr lang="en-US" sz="727" dirty="0">
                <a:solidFill>
                  <a:srgbClr val="E2E8F0"/>
                </a:solidFill>
              </a:rPr>
              <a:t>): </a:t>
            </a:r>
            <a:r>
              <a:rPr lang="en-US" sz="683" b="1" dirty="0">
                <a:solidFill>
                  <a:srgbClr val="34D399"/>
                </a:solidFill>
              </a:rPr>
              <a:t>insert_incident</a:t>
            </a:r>
            <a:r>
              <a:rPr lang="en-US" sz="727" dirty="0">
                <a:solidFill>
                  <a:srgbClr val="E2E8F0"/>
                </a:solidFill>
              </a:rPr>
              <a:t>(conn, title, severity)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94A3B8"/>
                </a:solidFill>
              </a:rPr>
              <a:t># Your Week 8 function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683" b="1" dirty="0" err="1">
                <a:solidFill>
                  <a:srgbClr val="60A5FA"/>
                </a:solidFill>
              </a:rPr>
              <a:t>st</a:t>
            </a:r>
            <a:r>
              <a:rPr lang="en-US" sz="727" dirty="0" err="1">
                <a:solidFill>
                  <a:srgbClr val="E2E8F0"/>
                </a:solidFill>
              </a:rPr>
              <a:t>.</a:t>
            </a:r>
            <a:r>
              <a:rPr lang="en-US" sz="683" b="1" dirty="0" err="1">
                <a:solidFill>
                  <a:srgbClr val="34D399"/>
                </a:solidFill>
              </a:rPr>
              <a:t>success</a:t>
            </a:r>
            <a:r>
              <a:rPr lang="en-US" sz="727" dirty="0">
                <a:solidFill>
                  <a:srgbClr val="E2E8F0"/>
                </a:solidFill>
              </a:rPr>
              <a:t>(</a:t>
            </a:r>
            <a:r>
              <a:rPr lang="en-US" sz="727" dirty="0">
                <a:solidFill>
                  <a:srgbClr val="FCD34D"/>
                </a:solidFill>
              </a:rPr>
              <a:t>" Incident added successfully!"</a:t>
            </a:r>
            <a:r>
              <a:rPr lang="en-US" sz="727" dirty="0">
                <a:solidFill>
                  <a:srgbClr val="E2E8F0"/>
                </a:solidFill>
              </a:rPr>
              <a:t>)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683" b="1" dirty="0" err="1">
                <a:solidFill>
                  <a:srgbClr val="60A5FA"/>
                </a:solidFill>
              </a:rPr>
              <a:t>st</a:t>
            </a:r>
            <a:r>
              <a:rPr lang="en-US" sz="727" dirty="0" err="1">
                <a:solidFill>
                  <a:srgbClr val="E2E8F0"/>
                </a:solidFill>
              </a:rPr>
              <a:t>.</a:t>
            </a:r>
            <a:r>
              <a:rPr lang="en-US" sz="683" b="1" dirty="0" err="1">
                <a:solidFill>
                  <a:srgbClr val="34D399"/>
                </a:solidFill>
              </a:rPr>
              <a:t>rerun</a:t>
            </a:r>
            <a:r>
              <a:rPr lang="en-US" sz="727" dirty="0">
                <a:solidFill>
                  <a:srgbClr val="E2E8F0"/>
                </a:solidFill>
              </a:rPr>
              <a:t>() </a:t>
            </a:r>
            <a:r>
              <a:rPr lang="en-US" sz="727" i="1" dirty="0">
                <a:solidFill>
                  <a:srgbClr val="94A3B8"/>
                </a:solidFill>
              </a:rPr>
              <a:t># Refresh the page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571498" y="5164278"/>
            <a:ext cx="8001000" cy="718617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71498" y="5174539"/>
            <a:ext cx="8001000" cy="21431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50094" y="5227663"/>
            <a:ext cx="7643813" cy="39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b="1" i="1" dirty="0">
                <a:solidFill>
                  <a:srgbClr val="1E3A8A"/>
                </a:solidFill>
              </a:rPr>
              <a:t>Your Week 8 work is the foundation for Week 9! Build your database functions properly this week, and next week you'll have a professional web application with just a few lines of Streamlit code.</a:t>
            </a:r>
            <a:endParaRPr lang="en-US" sz="10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2498</Words>
  <Application>Microsoft Macintosh PowerPoint</Application>
  <PresentationFormat>On-screen Show (16:9)</PresentationFormat>
  <Paragraphs>393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Anna Wieclaw</cp:lastModifiedBy>
  <cp:revision>11</cp:revision>
  <dcterms:created xsi:type="dcterms:W3CDTF">2025-11-06T17:48:23Z</dcterms:created>
  <dcterms:modified xsi:type="dcterms:W3CDTF">2025-11-08T22:59:30Z</dcterms:modified>
</cp:coreProperties>
</file>