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35" y="1128713"/>
            <a:ext cx="600075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75217" y="2157413"/>
            <a:ext cx="299353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Made Easy</a:t>
            </a:r>
            <a:endParaRPr lang="en-US" sz="3375" dirty="0"/>
          </a:p>
        </p:txBody>
      </p:sp>
      <p:sp>
        <p:nvSpPr>
          <p:cNvPr id="5" name="Text 1"/>
          <p:cNvSpPr/>
          <p:nvPr/>
        </p:nvSpPr>
        <p:spPr>
          <a:xfrm>
            <a:off x="3075217" y="2757488"/>
            <a:ext cx="29935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Visual Guide for Beginners</a:t>
            </a:r>
            <a:endParaRPr lang="en-US" sz="168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935" y="3271838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720973" y="3243263"/>
            <a:ext cx="20020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Using Visual Studio Code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378" y="3843338"/>
            <a:ext cx="142875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535403" y="3814763"/>
            <a:ext cx="4542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</a:t>
            </a:r>
            <a:endParaRPr lang="en-US" sz="1046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217" y="3843338"/>
            <a:ext cx="14287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418242" y="3814763"/>
            <a:ext cx="3963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</a:t>
            </a:r>
            <a:endParaRPr lang="en-US" sz="1046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181" y="3843338"/>
            <a:ext cx="142875" cy="1428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243206" y="3814763"/>
            <a:ext cx="5653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Practical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the Git Workflow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5850"/>
            <a:ext cx="394335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3450" y="1428750"/>
            <a:ext cx="3943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of Git like preparing a package to mail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914525"/>
            <a:ext cx="214313" cy="2143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72063" y="1885950"/>
            <a:ext cx="25817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Working Folder</a:t>
            </a:r>
            <a:endParaRPr lang="en-US" sz="1046" dirty="0"/>
          </a:p>
        </p:txBody>
      </p:sp>
      <p:sp>
        <p:nvSpPr>
          <p:cNvPr id="8" name="Text 3"/>
          <p:cNvSpPr/>
          <p:nvPr/>
        </p:nvSpPr>
        <p:spPr>
          <a:xfrm>
            <a:off x="5072063" y="2143125"/>
            <a:ext cx="25817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project files where you make changes</a:t>
            </a:r>
            <a:endParaRPr lang="en-US" sz="94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2543175"/>
            <a:ext cx="187523" cy="2143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45273" y="2514600"/>
            <a:ext cx="31006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Staging Area</a:t>
            </a:r>
            <a:endParaRPr lang="en-US" sz="1046" dirty="0"/>
          </a:p>
        </p:txBody>
      </p:sp>
      <p:sp>
        <p:nvSpPr>
          <p:cNvPr id="11" name="Text 5"/>
          <p:cNvSpPr/>
          <p:nvPr/>
        </p:nvSpPr>
        <p:spPr>
          <a:xfrm>
            <a:off x="5045273" y="2771775"/>
            <a:ext cx="31006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which changes to include (like packing a box)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171825"/>
            <a:ext cx="187523" cy="2143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45273" y="3143250"/>
            <a:ext cx="33870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Repository</a:t>
            </a:r>
            <a:endParaRPr lang="en-US" sz="1046" dirty="0"/>
          </a:p>
        </p:txBody>
      </p:sp>
      <p:sp>
        <p:nvSpPr>
          <p:cNvPr id="14" name="Text 7"/>
          <p:cNvSpPr/>
          <p:nvPr/>
        </p:nvSpPr>
        <p:spPr>
          <a:xfrm>
            <a:off x="5045273" y="3400425"/>
            <a:ext cx="33870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final saved snapshot (package delivered and stored)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293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vs Remote Repositories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97155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computer + GitHub = Perfect backup system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72" y="1428750"/>
            <a:ext cx="2889228" cy="20002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657600"/>
            <a:ext cx="4000500" cy="140017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836194"/>
            <a:ext cx="267891" cy="214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2266" y="3829050"/>
            <a:ext cx="138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Repository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207669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7238" y="4184452"/>
            <a:ext cx="14572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Lives on your computer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464844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7238" y="4441627"/>
            <a:ext cx="8296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Works offline</a:t>
            </a:r>
            <a:endParaRPr lang="en-US" sz="942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722019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57238" y="4698802"/>
            <a:ext cx="9996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Fast and private</a:t>
            </a:r>
            <a:endParaRPr lang="en-US" sz="942" dirty="0"/>
          </a:p>
        </p:txBody>
      </p:sp>
      <p:sp>
        <p:nvSpPr>
          <p:cNvPr id="15" name="Shape 7"/>
          <p:cNvSpPr/>
          <p:nvPr/>
        </p:nvSpPr>
        <p:spPr>
          <a:xfrm>
            <a:off x="4686300" y="3657600"/>
            <a:ext cx="4000500" cy="14001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836194"/>
            <a:ext cx="267891" cy="2143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11366" y="3829050"/>
            <a:ext cx="15948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Remote Repository</a:t>
            </a:r>
            <a:endParaRPr lang="en-US" sz="13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4207669"/>
            <a:ext cx="128588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86338" y="4184452"/>
            <a:ext cx="14708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Lives on GitHub (online)</a:t>
            </a:r>
            <a:endParaRPr lang="en-US" sz="942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4464844"/>
            <a:ext cx="128588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86338" y="4441627"/>
            <a:ext cx="16056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Accessible from anywhere</a:t>
            </a:r>
            <a:endParaRPr lang="en-US" sz="942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4722019"/>
            <a:ext cx="128588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86338" y="4698802"/>
            <a:ext cx="16977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Share with others &amp; backup</a:t>
            </a:r>
            <a:endParaRPr lang="en-US" sz="942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4494" y="5229225"/>
            <a:ext cx="214313" cy="214313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457200" y="5500688"/>
            <a:ext cx="2628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Clone</a:t>
            </a:r>
            <a:endParaRPr lang="en-US" sz="942" dirty="0"/>
          </a:p>
        </p:txBody>
      </p:sp>
      <p:sp>
        <p:nvSpPr>
          <p:cNvPr id="26" name="Text 13"/>
          <p:cNvSpPr/>
          <p:nvPr/>
        </p:nvSpPr>
        <p:spPr>
          <a:xfrm>
            <a:off x="457200" y="5700713"/>
            <a:ext cx="2628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 from GitHub (first time)</a:t>
            </a:r>
            <a:endParaRPr lang="en-US" sz="837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4844" y="5229225"/>
            <a:ext cx="214313" cy="2143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3257550" y="5500688"/>
            <a:ext cx="2628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</a:t>
            </a:r>
            <a:endParaRPr lang="en-US" sz="942" dirty="0"/>
          </a:p>
        </p:txBody>
      </p:sp>
      <p:sp>
        <p:nvSpPr>
          <p:cNvPr id="29" name="Text 15"/>
          <p:cNvSpPr/>
          <p:nvPr/>
        </p:nvSpPr>
        <p:spPr>
          <a:xfrm>
            <a:off x="3257550" y="5700713"/>
            <a:ext cx="2628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to GitHub</a:t>
            </a:r>
            <a:endParaRPr lang="en-US" sz="837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5194" y="5229225"/>
            <a:ext cx="214313" cy="214313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057900" y="5500688"/>
            <a:ext cx="2628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</a:t>
            </a:r>
            <a:endParaRPr lang="en-US" sz="942" dirty="0"/>
          </a:p>
        </p:txBody>
      </p:sp>
      <p:sp>
        <p:nvSpPr>
          <p:cNvPr id="32" name="Text 17"/>
          <p:cNvSpPr/>
          <p:nvPr/>
        </p:nvSpPr>
        <p:spPr>
          <a:xfrm>
            <a:off x="6057900" y="5700713"/>
            <a:ext cx="2628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from GitHub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Commits Create a History Timeline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5725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commit is a checkpoint you can return to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43350" cy="3214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43450" y="1435894"/>
            <a:ext cx="3943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commit saves: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864519"/>
            <a:ext cx="128588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86338" y="1835944"/>
            <a:ext cx="26917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files changed</a:t>
            </a:r>
            <a:endParaRPr lang="en-US" sz="1046" dirty="0"/>
          </a:p>
        </p:txBody>
      </p:sp>
      <p:sp>
        <p:nvSpPr>
          <p:cNvPr id="9" name="Text 4"/>
          <p:cNvSpPr/>
          <p:nvPr/>
        </p:nvSpPr>
        <p:spPr>
          <a:xfrm>
            <a:off x="4986338" y="2035969"/>
            <a:ext cx="26917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files were added, modified, or deleted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2407444"/>
            <a:ext cx="150019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07769" y="2378869"/>
            <a:ext cx="17933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made the change</a:t>
            </a:r>
            <a:endParaRPr lang="en-US" sz="1046" dirty="0"/>
          </a:p>
        </p:txBody>
      </p:sp>
      <p:sp>
        <p:nvSpPr>
          <p:cNvPr id="12" name="Text 6"/>
          <p:cNvSpPr/>
          <p:nvPr/>
        </p:nvSpPr>
        <p:spPr>
          <a:xfrm>
            <a:off x="5007769" y="2578894"/>
            <a:ext cx="17933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name and email address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950369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0" y="2921794"/>
            <a:ext cx="17351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it happened</a:t>
            </a:r>
            <a:endParaRPr lang="en-US" sz="1046" dirty="0"/>
          </a:p>
        </p:txBody>
      </p:sp>
      <p:sp>
        <p:nvSpPr>
          <p:cNvPr id="15" name="Text 8"/>
          <p:cNvSpPr/>
          <p:nvPr/>
        </p:nvSpPr>
        <p:spPr>
          <a:xfrm>
            <a:off x="5029200" y="3121819"/>
            <a:ext cx="17351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 and time of the commit</a:t>
            </a:r>
            <a:endParaRPr lang="en-US" sz="94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493294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29200" y="3464719"/>
            <a:ext cx="19900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message describing why</a:t>
            </a:r>
            <a:endParaRPr lang="en-US" sz="1046" dirty="0"/>
          </a:p>
        </p:txBody>
      </p:sp>
      <p:sp>
        <p:nvSpPr>
          <p:cNvPr id="18" name="Text 10"/>
          <p:cNvSpPr/>
          <p:nvPr/>
        </p:nvSpPr>
        <p:spPr>
          <a:xfrm>
            <a:off x="5029200" y="3664744"/>
            <a:ext cx="19900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explanation of what you did</a:t>
            </a:r>
            <a:endParaRPr lang="en-US" sz="942" dirty="0"/>
          </a:p>
        </p:txBody>
      </p:sp>
      <p:sp>
        <p:nvSpPr>
          <p:cNvPr id="19" name="Shape 11"/>
          <p:cNvSpPr/>
          <p:nvPr/>
        </p:nvSpPr>
        <p:spPr>
          <a:xfrm>
            <a:off x="4743450" y="4093369"/>
            <a:ext cx="3943350" cy="42862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4243388"/>
            <a:ext cx="96441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54191" y="4220170"/>
            <a:ext cx="31893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can jump back to any of these points anytime! 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88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Setting Up Git in VS Code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Code has Git built-in - no extra software needed!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57200" y="1314450"/>
            <a:ext cx="4572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144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1085850" y="1314450"/>
            <a:ext cx="7600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Git on your computer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85850" y="1641277"/>
            <a:ext cx="6170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Windows: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702947" y="1641277"/>
            <a:ext cx="17427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Download from git-scm.com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085850" y="1869877"/>
            <a:ext cx="3016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Mac: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387534" y="1869877"/>
            <a:ext cx="21440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Already installed or use Homebrew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085850" y="2098477"/>
            <a:ext cx="3918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Linux: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1511126" y="1993106"/>
            <a:ext cx="1878806" cy="39647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1"/>
          <p:cNvSpPr/>
          <p:nvPr/>
        </p:nvSpPr>
        <p:spPr>
          <a:xfrm>
            <a:off x="1511126" y="1993106"/>
            <a:ext cx="1878806" cy="396478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2ECC7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sudo apt install git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57200" y="2519958"/>
            <a:ext cx="4572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5199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1085850" y="2519958"/>
            <a:ext cx="7600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Configure your identity (one-time setup)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085850" y="2834283"/>
            <a:ext cx="7600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VS Code Terminal (View → Terminal) and type: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1085850" y="3120033"/>
            <a:ext cx="7600950" cy="61436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7"/>
          <p:cNvSpPr/>
          <p:nvPr/>
        </p:nvSpPr>
        <p:spPr>
          <a:xfrm>
            <a:off x="1257300" y="3243263"/>
            <a:ext cx="25277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config --global user.name "Your Name"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1257300" y="3436144"/>
            <a:ext cx="33866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config --global user.email "your.email@example.com" 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57200" y="3962995"/>
            <a:ext cx="4572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9629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1085850" y="3962995"/>
            <a:ext cx="7600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 in to GitHub in VS Code</a:t>
            </a:r>
            <a:endParaRPr lang="en-US" sz="13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313039"/>
            <a:ext cx="112514" cy="128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98364" y="4289822"/>
            <a:ext cx="2139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Click the Account icon (bottom left)</a:t>
            </a:r>
            <a:endParaRPr lang="en-US" sz="942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570214"/>
            <a:ext cx="112514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98364" y="4546997"/>
            <a:ext cx="20217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Choose "Sign in to Sync Settings"</a:t>
            </a:r>
            <a:endParaRPr lang="en-US" sz="942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4827389"/>
            <a:ext cx="112514" cy="128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98364" y="4804172"/>
            <a:ext cx="19972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Follow the GitHub login prompts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Your GitHub Account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online home for Git repositories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343025"/>
            <a:ext cx="3943350" cy="26574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14475"/>
            <a:ext cx="332184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6559" y="1571625"/>
            <a:ext cx="1335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GitHub?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28825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7250" y="2028825"/>
            <a:ext cx="26162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 platform for hosting Git repositories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343150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7250" y="2343150"/>
            <a:ext cx="2134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cloud backup for your projects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57475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7250" y="2657475"/>
            <a:ext cx="13877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code with others</a:t>
            </a:r>
            <a:endParaRPr lang="en-US" sz="94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971800"/>
            <a:ext cx="142875" cy="1428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57250" y="2971800"/>
            <a:ext cx="18098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your developer portfolio</a:t>
            </a:r>
            <a:endParaRPr lang="en-US" sz="942" dirty="0"/>
          </a:p>
        </p:txBody>
      </p:sp>
      <p:sp>
        <p:nvSpPr>
          <p:cNvPr id="16" name="Shape 8"/>
          <p:cNvSpPr/>
          <p:nvPr/>
        </p:nvSpPr>
        <p:spPr>
          <a:xfrm>
            <a:off x="4743450" y="1343025"/>
            <a:ext cx="3943350" cy="265747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1543050"/>
            <a:ext cx="214313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14938" y="1514475"/>
            <a:ext cx="16846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Create Free Account 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4914900" y="192702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942" dirty="0"/>
          </a:p>
        </p:txBody>
      </p:sp>
      <p:sp>
        <p:nvSpPr>
          <p:cNvPr id="20" name="Text 11"/>
          <p:cNvSpPr/>
          <p:nvPr/>
        </p:nvSpPr>
        <p:spPr>
          <a:xfrm>
            <a:off x="5025126" y="1927027"/>
            <a:ext cx="395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 to </a:t>
            </a:r>
            <a:endParaRPr lang="en-US" sz="942" dirty="0"/>
          </a:p>
        </p:txBody>
      </p:sp>
      <p:sp>
        <p:nvSpPr>
          <p:cNvPr id="21" name="Text 12"/>
          <p:cNvSpPr/>
          <p:nvPr/>
        </p:nvSpPr>
        <p:spPr>
          <a:xfrm>
            <a:off x="5421074" y="1927027"/>
            <a:ext cx="7354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github.com</a:t>
            </a:r>
            <a:endParaRPr lang="en-US" sz="942" dirty="0"/>
          </a:p>
        </p:txBody>
      </p:sp>
      <p:sp>
        <p:nvSpPr>
          <p:cNvPr id="22" name="Text 13"/>
          <p:cNvSpPr/>
          <p:nvPr/>
        </p:nvSpPr>
        <p:spPr>
          <a:xfrm>
            <a:off x="4914900" y="22127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942" dirty="0"/>
          </a:p>
        </p:txBody>
      </p:sp>
      <p:sp>
        <p:nvSpPr>
          <p:cNvPr id="23" name="Text 14"/>
          <p:cNvSpPr/>
          <p:nvPr/>
        </p:nvSpPr>
        <p:spPr>
          <a:xfrm>
            <a:off x="5025126" y="2212777"/>
            <a:ext cx="13449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Click "Sign up" button</a:t>
            </a:r>
            <a:endParaRPr lang="en-US" sz="942" dirty="0"/>
          </a:p>
        </p:txBody>
      </p:sp>
      <p:sp>
        <p:nvSpPr>
          <p:cNvPr id="24" name="Text 15"/>
          <p:cNvSpPr/>
          <p:nvPr/>
        </p:nvSpPr>
        <p:spPr>
          <a:xfrm>
            <a:off x="4914900" y="249852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942" dirty="0"/>
          </a:p>
        </p:txBody>
      </p:sp>
      <p:sp>
        <p:nvSpPr>
          <p:cNvPr id="25" name="Text 16"/>
          <p:cNvSpPr/>
          <p:nvPr/>
        </p:nvSpPr>
        <p:spPr>
          <a:xfrm>
            <a:off x="5025126" y="2498527"/>
            <a:ext cx="15404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Enter your email address</a:t>
            </a:r>
            <a:endParaRPr lang="en-US" sz="942" dirty="0"/>
          </a:p>
        </p:txBody>
      </p:sp>
      <p:sp>
        <p:nvSpPr>
          <p:cNvPr id="26" name="Text 17"/>
          <p:cNvSpPr/>
          <p:nvPr/>
        </p:nvSpPr>
        <p:spPr>
          <a:xfrm>
            <a:off x="4914900" y="27842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</a:t>
            </a:r>
            <a:endParaRPr lang="en-US" sz="942" dirty="0"/>
          </a:p>
        </p:txBody>
      </p:sp>
      <p:sp>
        <p:nvSpPr>
          <p:cNvPr id="27" name="Text 18"/>
          <p:cNvSpPr/>
          <p:nvPr/>
        </p:nvSpPr>
        <p:spPr>
          <a:xfrm>
            <a:off x="5025126" y="2784277"/>
            <a:ext cx="11507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Create a password</a:t>
            </a:r>
            <a:endParaRPr lang="en-US" sz="942" dirty="0"/>
          </a:p>
        </p:txBody>
      </p:sp>
      <p:sp>
        <p:nvSpPr>
          <p:cNvPr id="28" name="Text 19"/>
          <p:cNvSpPr/>
          <p:nvPr/>
        </p:nvSpPr>
        <p:spPr>
          <a:xfrm>
            <a:off x="4914900" y="307002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</a:t>
            </a:r>
            <a:endParaRPr lang="en-US" sz="942" dirty="0"/>
          </a:p>
        </p:txBody>
      </p:sp>
      <p:sp>
        <p:nvSpPr>
          <p:cNvPr id="29" name="Text 20"/>
          <p:cNvSpPr/>
          <p:nvPr/>
        </p:nvSpPr>
        <p:spPr>
          <a:xfrm>
            <a:off x="5025126" y="3070027"/>
            <a:ext cx="12339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Choose a username</a:t>
            </a:r>
            <a:endParaRPr lang="en-US" sz="942" dirty="0"/>
          </a:p>
        </p:txBody>
      </p:sp>
      <p:sp>
        <p:nvSpPr>
          <p:cNvPr id="30" name="Text 21"/>
          <p:cNvSpPr/>
          <p:nvPr/>
        </p:nvSpPr>
        <p:spPr>
          <a:xfrm>
            <a:off x="4914900" y="33557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</a:t>
            </a:r>
            <a:endParaRPr lang="en-US" sz="942" dirty="0"/>
          </a:p>
        </p:txBody>
      </p:sp>
      <p:sp>
        <p:nvSpPr>
          <p:cNvPr id="31" name="Text 22"/>
          <p:cNvSpPr/>
          <p:nvPr/>
        </p:nvSpPr>
        <p:spPr>
          <a:xfrm>
            <a:off x="5025126" y="3355777"/>
            <a:ext cx="20175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Verify your account (check email)</a:t>
            </a:r>
            <a:endParaRPr lang="en-US" sz="942" dirty="0"/>
          </a:p>
        </p:txBody>
      </p:sp>
      <p:sp>
        <p:nvSpPr>
          <p:cNvPr id="32" name="Text 23"/>
          <p:cNvSpPr/>
          <p:nvPr/>
        </p:nvSpPr>
        <p:spPr>
          <a:xfrm>
            <a:off x="4914900" y="364152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7.</a:t>
            </a:r>
            <a:endParaRPr lang="en-US" sz="942" dirty="0"/>
          </a:p>
        </p:txBody>
      </p:sp>
      <p:sp>
        <p:nvSpPr>
          <p:cNvPr id="33" name="Text 24"/>
          <p:cNvSpPr/>
          <p:nvPr/>
        </p:nvSpPr>
        <p:spPr>
          <a:xfrm>
            <a:off x="5025126" y="3641527"/>
            <a:ext cx="6556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the </a:t>
            </a:r>
            <a:endParaRPr lang="en-US" sz="942" dirty="0"/>
          </a:p>
        </p:txBody>
      </p:sp>
      <p:sp>
        <p:nvSpPr>
          <p:cNvPr id="34" name="Text 25"/>
          <p:cNvSpPr/>
          <p:nvPr/>
        </p:nvSpPr>
        <p:spPr>
          <a:xfrm>
            <a:off x="5680816" y="3641527"/>
            <a:ext cx="5737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plan</a:t>
            </a:r>
            <a:endParaRPr lang="en-US" sz="942" dirty="0"/>
          </a:p>
        </p:txBody>
      </p:sp>
      <p:sp>
        <p:nvSpPr>
          <p:cNvPr id="35" name="Shape 26"/>
          <p:cNvSpPr/>
          <p:nvPr/>
        </p:nvSpPr>
        <p:spPr>
          <a:xfrm>
            <a:off x="457200" y="4286250"/>
            <a:ext cx="8229600" cy="48577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770" y="4457700"/>
            <a:ext cx="142875" cy="1428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886815" y="4430911"/>
            <a:ext cx="7845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Important:</a:t>
            </a:r>
            <a:endParaRPr lang="en-US" sz="1046" dirty="0"/>
          </a:p>
        </p:txBody>
      </p:sp>
      <p:sp>
        <p:nvSpPr>
          <p:cNvPr id="38" name="Text 28"/>
          <p:cNvSpPr/>
          <p:nvPr/>
        </p:nvSpPr>
        <p:spPr>
          <a:xfrm>
            <a:off x="2671344" y="4430911"/>
            <a:ext cx="47658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a professional username - employers may see your GitHub profile! </a:t>
            </a:r>
            <a:endParaRPr lang="en-US" sz="1046" dirty="0"/>
          </a:p>
        </p:txBody>
      </p:sp>
      <p:sp>
        <p:nvSpPr>
          <p:cNvPr id="39" name="Shape 29"/>
          <p:cNvSpPr/>
          <p:nvPr/>
        </p:nvSpPr>
        <p:spPr>
          <a:xfrm>
            <a:off x="457200" y="5000625"/>
            <a:ext cx="8229600" cy="4857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2111" y="5172075"/>
            <a:ext cx="125016" cy="14287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074296" y="5145286"/>
            <a:ext cx="3830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Next:</a:t>
            </a:r>
            <a:endParaRPr lang="en-US" sz="1046" dirty="0"/>
          </a:p>
        </p:txBody>
      </p:sp>
      <p:sp>
        <p:nvSpPr>
          <p:cNvPr id="42" name="Text 31"/>
          <p:cNvSpPr/>
          <p:nvPr/>
        </p:nvSpPr>
        <p:spPr>
          <a:xfrm>
            <a:off x="3457352" y="5145286"/>
            <a:ext cx="27745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Connect VS Code to your GitHub account </a:t>
            </a:r>
            <a:endParaRPr lang="en-US" sz="10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07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VS Code to GitHub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685800"/>
            <a:ext cx="845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 your editor to your GitHub account (one-time setup)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143000"/>
            <a:ext cx="4086225" cy="2621756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314450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285875"/>
            <a:ext cx="2048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Step-by-Step Connection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5775" y="1669852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96001" y="1669852"/>
            <a:ext cx="5767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Click the 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1172719" y="1669852"/>
            <a:ext cx="828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 icon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85775" y="1891308"/>
            <a:ext cx="15554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(bottom left corner of VS Code)</a:t>
            </a:r>
            <a:endParaRPr lang="en-US" sz="785" dirty="0"/>
          </a:p>
        </p:txBody>
      </p:sp>
      <p:sp>
        <p:nvSpPr>
          <p:cNvPr id="12" name="Text 8"/>
          <p:cNvSpPr/>
          <p:nvPr/>
        </p:nvSpPr>
        <p:spPr>
          <a:xfrm>
            <a:off x="485775" y="2162770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596001" y="2162770"/>
            <a:ext cx="5173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Choose 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1113309" y="2162770"/>
            <a:ext cx="16122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"Sign in to Sync Settings"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85775" y="2448520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596001" y="2448520"/>
            <a:ext cx="4238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1019826" y="2448520"/>
            <a:ext cx="13620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"Sign in with GitHub"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485775" y="2734270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596001" y="2734270"/>
            <a:ext cx="1781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Browser opens automatically</a:t>
            </a:r>
            <a:endParaRPr lang="en-US" sz="942" dirty="0"/>
          </a:p>
        </p:txBody>
      </p:sp>
      <p:sp>
        <p:nvSpPr>
          <p:cNvPr id="20" name="Text 16"/>
          <p:cNvSpPr/>
          <p:nvPr/>
        </p:nvSpPr>
        <p:spPr>
          <a:xfrm>
            <a:off x="485775" y="2955727"/>
            <a:ext cx="2595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</a:t>
            </a:r>
            <a:endParaRPr lang="en-US" sz="785" dirty="0"/>
          </a:p>
        </p:txBody>
      </p:sp>
      <p:sp>
        <p:nvSpPr>
          <p:cNvPr id="21" name="Text 17"/>
          <p:cNvSpPr/>
          <p:nvPr/>
        </p:nvSpPr>
        <p:spPr>
          <a:xfrm>
            <a:off x="745322" y="2955727"/>
            <a:ext cx="16326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"Authorize Visual Studio Code"</a:t>
            </a:r>
            <a:endParaRPr lang="en-US" sz="785" dirty="0"/>
          </a:p>
        </p:txBody>
      </p:sp>
      <p:sp>
        <p:nvSpPr>
          <p:cNvPr id="22" name="Text 18"/>
          <p:cNvSpPr/>
          <p:nvPr/>
        </p:nvSpPr>
        <p:spPr>
          <a:xfrm>
            <a:off x="485775" y="3227189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596001" y="3227189"/>
            <a:ext cx="11273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Return to VS Code</a:t>
            </a:r>
            <a:endParaRPr lang="en-US" sz="942" dirty="0"/>
          </a:p>
        </p:txBody>
      </p:sp>
      <p:sp>
        <p:nvSpPr>
          <p:cNvPr id="24" name="Text 20"/>
          <p:cNvSpPr/>
          <p:nvPr/>
        </p:nvSpPr>
        <p:spPr>
          <a:xfrm>
            <a:off x="485775" y="3448645"/>
            <a:ext cx="11330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You're now connected!</a:t>
            </a:r>
            <a:endParaRPr lang="en-US" sz="785" dirty="0"/>
          </a:p>
        </p:txBody>
      </p:sp>
      <p:sp>
        <p:nvSpPr>
          <p:cNvPr id="25" name="Shape 21"/>
          <p:cNvSpPr/>
          <p:nvPr/>
        </p:nvSpPr>
        <p:spPr>
          <a:xfrm>
            <a:off x="4714875" y="1219795"/>
            <a:ext cx="4086225" cy="2468166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959" y="1391245"/>
            <a:ext cx="450056" cy="51435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019895"/>
            <a:ext cx="257175" cy="257175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849" y="2402086"/>
            <a:ext cx="498277" cy="5143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98462" y="3030736"/>
            <a:ext cx="15190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Code ↔ GitHub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998462" y="3316486"/>
            <a:ext cx="1519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Connected &amp; Ready!</a:t>
            </a:r>
            <a:endParaRPr lang="en-US" sz="942" dirty="0"/>
          </a:p>
        </p:txBody>
      </p:sp>
      <p:sp>
        <p:nvSpPr>
          <p:cNvPr id="31" name="Shape 24"/>
          <p:cNvSpPr/>
          <p:nvPr/>
        </p:nvSpPr>
        <p:spPr>
          <a:xfrm>
            <a:off x="342900" y="3936206"/>
            <a:ext cx="8458200" cy="77152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7425" y="4107656"/>
            <a:ext cx="171450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023467" y="4075509"/>
            <a:ext cx="53130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Once connected, VS Code can push and pull directly to GitHub!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85775" y="4364831"/>
            <a:ext cx="81724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need to enter your password every time - it's all automatic </a:t>
            </a:r>
            <a:endParaRPr lang="en-US" sz="942" dirty="0"/>
          </a:p>
        </p:txBody>
      </p:sp>
      <p:sp>
        <p:nvSpPr>
          <p:cNvPr id="35" name="Shape 27"/>
          <p:cNvSpPr/>
          <p:nvPr/>
        </p:nvSpPr>
        <p:spPr>
          <a:xfrm>
            <a:off x="342900" y="4879181"/>
            <a:ext cx="8458200" cy="42862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8550" y="5022056"/>
            <a:ext cx="142875" cy="1428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048595" y="4995267"/>
            <a:ext cx="2574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980B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Tip:</a:t>
            </a:r>
            <a:endParaRPr lang="en-US" sz="1046" dirty="0"/>
          </a:p>
        </p:txBody>
      </p:sp>
      <p:sp>
        <p:nvSpPr>
          <p:cNvPr id="38" name="Text 29"/>
          <p:cNvSpPr/>
          <p:nvPr/>
        </p:nvSpPr>
        <p:spPr>
          <a:xfrm>
            <a:off x="3306077" y="4995267"/>
            <a:ext cx="29693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980B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only need to do this once per computer </a:t>
            </a:r>
            <a:endParaRPr lang="en-US" sz="104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70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Your First Repository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97155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ways to start: Create new or clone existing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485900"/>
            <a:ext cx="4000500" cy="2696766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64494"/>
            <a:ext cx="214313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1657350"/>
            <a:ext cx="17983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 A: Create New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28650" y="20574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VS Code: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628650" y="2350294"/>
            <a:ext cx="14492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Open your project folder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28650" y="2537817"/>
            <a:ext cx="9532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(File → Open Folder)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628650" y="2755702"/>
            <a:ext cx="1449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Click Source Control icon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628650" y="2943225"/>
            <a:ext cx="13208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(left sidebar, branch symbol)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628650" y="3153966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Click "Initialize Repository"</a:t>
            </a:r>
            <a:endParaRPr lang="en-US" sz="837" dirty="0"/>
          </a:p>
        </p:txBody>
      </p:sp>
      <p:sp>
        <p:nvSpPr>
          <p:cNvPr id="14" name="Text 10"/>
          <p:cNvSpPr/>
          <p:nvPr/>
        </p:nvSpPr>
        <p:spPr>
          <a:xfrm>
            <a:off x="628650" y="3496866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 command: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628650" y="3789759"/>
            <a:ext cx="720179" cy="18573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6" name="Text 12"/>
          <p:cNvSpPr/>
          <p:nvPr/>
        </p:nvSpPr>
        <p:spPr>
          <a:xfrm>
            <a:off x="628650" y="3789759"/>
            <a:ext cx="720179" cy="18573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837" dirty="0"/>
          </a:p>
        </p:txBody>
      </p:sp>
      <p:sp>
        <p:nvSpPr>
          <p:cNvPr id="17" name="Shape 13"/>
          <p:cNvSpPr/>
          <p:nvPr/>
        </p:nvSpPr>
        <p:spPr>
          <a:xfrm>
            <a:off x="4686300" y="1485900"/>
            <a:ext cx="4000500" cy="2696766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664494"/>
            <a:ext cx="214313" cy="2143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7788" y="1657350"/>
            <a:ext cx="20065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 B: Clone Existing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857750" y="205740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VS Code:</a:t>
            </a:r>
            <a:endParaRPr lang="en-US" sz="942" dirty="0"/>
          </a:p>
        </p:txBody>
      </p:sp>
      <p:sp>
        <p:nvSpPr>
          <p:cNvPr id="21" name="Text 16"/>
          <p:cNvSpPr/>
          <p:nvPr/>
        </p:nvSpPr>
        <p:spPr>
          <a:xfrm>
            <a:off x="4857750" y="2350294"/>
            <a:ext cx="10770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Press Ctrl+Shift+P</a:t>
            </a:r>
            <a:endParaRPr lang="en-US" sz="837" dirty="0"/>
          </a:p>
        </p:txBody>
      </p:sp>
      <p:sp>
        <p:nvSpPr>
          <p:cNvPr id="22" name="Text 17"/>
          <p:cNvSpPr/>
          <p:nvPr/>
        </p:nvSpPr>
        <p:spPr>
          <a:xfrm>
            <a:off x="4857750" y="2537817"/>
            <a:ext cx="10353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(Cmd+Shift+P on Mac)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4857750" y="2748558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Type "Git: Clone"</a:t>
            </a:r>
            <a:endParaRPr lang="en-US" sz="837" dirty="0"/>
          </a:p>
        </p:txBody>
      </p:sp>
      <p:sp>
        <p:nvSpPr>
          <p:cNvPr id="24" name="Text 19"/>
          <p:cNvSpPr/>
          <p:nvPr/>
        </p:nvSpPr>
        <p:spPr>
          <a:xfrm>
            <a:off x="4857750" y="2977158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Paste GitHub repository URL</a:t>
            </a:r>
            <a:endParaRPr lang="en-US" sz="837" dirty="0"/>
          </a:p>
        </p:txBody>
      </p:sp>
      <p:sp>
        <p:nvSpPr>
          <p:cNvPr id="25" name="Text 20"/>
          <p:cNvSpPr/>
          <p:nvPr/>
        </p:nvSpPr>
        <p:spPr>
          <a:xfrm>
            <a:off x="4857750" y="3205758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Choose where to save it</a:t>
            </a:r>
            <a:endParaRPr lang="en-US" sz="837" dirty="0"/>
          </a:p>
        </p:txBody>
      </p:sp>
      <p:sp>
        <p:nvSpPr>
          <p:cNvPr id="26" name="Text 21"/>
          <p:cNvSpPr/>
          <p:nvPr/>
        </p:nvSpPr>
        <p:spPr>
          <a:xfrm>
            <a:off x="4857750" y="3548658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 command:</a:t>
            </a:r>
            <a:endParaRPr lang="en-US" sz="942" dirty="0"/>
          </a:p>
        </p:txBody>
      </p:sp>
      <p:sp>
        <p:nvSpPr>
          <p:cNvPr id="27" name="Shape 22"/>
          <p:cNvSpPr/>
          <p:nvPr/>
        </p:nvSpPr>
        <p:spPr>
          <a:xfrm>
            <a:off x="4857750" y="3850481"/>
            <a:ext cx="2932258" cy="17145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3"/>
          <p:cNvSpPr/>
          <p:nvPr/>
        </p:nvSpPr>
        <p:spPr>
          <a:xfrm>
            <a:off x="4857750" y="3850481"/>
            <a:ext cx="2932258" cy="17145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https://github.com/username/repo.git</a:t>
            </a:r>
            <a:endParaRPr lang="en-US" sz="732" dirty="0"/>
          </a:p>
        </p:txBody>
      </p:sp>
      <p:sp>
        <p:nvSpPr>
          <p:cNvPr id="29" name="Shape 24"/>
          <p:cNvSpPr/>
          <p:nvPr/>
        </p:nvSpPr>
        <p:spPr>
          <a:xfrm>
            <a:off x="457200" y="4411266"/>
            <a:ext cx="8229600" cy="42862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942" y="4561284"/>
            <a:ext cx="96441" cy="128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220841" y="4538067"/>
            <a:ext cx="231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Tip:</a:t>
            </a:r>
            <a:endParaRPr lang="en-US" sz="942" dirty="0"/>
          </a:p>
        </p:txBody>
      </p:sp>
      <p:sp>
        <p:nvSpPr>
          <p:cNvPr id="32" name="Text 26"/>
          <p:cNvSpPr/>
          <p:nvPr/>
        </p:nvSpPr>
        <p:spPr>
          <a:xfrm>
            <a:off x="2452567" y="4538067"/>
            <a:ext cx="46004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 Option A for new projects, Option B to work on existing GitHub projects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0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Making Your First Commit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001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 a snapshot of your work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50069" y="1314450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550069" y="13144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7288" y="1314450"/>
            <a:ext cx="75295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changes to your files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7288" y="1628775"/>
            <a:ext cx="75295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or edit files in your project. VS Code shows changed files with colored indicators.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50069" y="2057400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550069" y="20574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7288" y="2057400"/>
            <a:ext cx="75295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your changes (choose what to save)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2407444"/>
            <a:ext cx="112514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6952" y="2371725"/>
            <a:ext cx="7005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VS Code: 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1157288" y="2628900"/>
            <a:ext cx="3679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Open Source Control panel (left sidebar)</a:t>
            </a:r>
            <a:endParaRPr lang="en-US" sz="837" dirty="0"/>
          </a:p>
        </p:txBody>
      </p:sp>
      <p:sp>
        <p:nvSpPr>
          <p:cNvPr id="15" name="Text 11"/>
          <p:cNvSpPr/>
          <p:nvPr/>
        </p:nvSpPr>
        <p:spPr>
          <a:xfrm>
            <a:off x="1157288" y="2828925"/>
            <a:ext cx="3679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See changed files under "Changes"</a:t>
            </a:r>
            <a:endParaRPr lang="en-US" sz="837" dirty="0"/>
          </a:p>
        </p:txBody>
      </p:sp>
      <p:sp>
        <p:nvSpPr>
          <p:cNvPr id="16" name="Text 12"/>
          <p:cNvSpPr/>
          <p:nvPr/>
        </p:nvSpPr>
        <p:spPr>
          <a:xfrm>
            <a:off x="1157288" y="3036094"/>
            <a:ext cx="3495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Click 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1506829" y="3036094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1572211" y="3036094"/>
            <a:ext cx="16997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icon next to each file to stage it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1157288" y="3236119"/>
            <a:ext cx="4983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Or click 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1655648" y="3236119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1721030" y="3236119"/>
            <a:ext cx="1612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next to "Changes" to stage all</a:t>
            </a:r>
            <a:endParaRPr lang="en-US" sz="837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69" y="2407444"/>
            <a:ext cx="144661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9580" y="2371725"/>
            <a:ext cx="1250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command: </a:t>
            </a:r>
            <a:endParaRPr lang="en-US" sz="942" dirty="0"/>
          </a:p>
        </p:txBody>
      </p:sp>
      <p:sp>
        <p:nvSpPr>
          <p:cNvPr id="24" name="Shape 19"/>
          <p:cNvSpPr/>
          <p:nvPr/>
        </p:nvSpPr>
        <p:spPr>
          <a:xfrm>
            <a:off x="5007769" y="2628900"/>
            <a:ext cx="3679031" cy="3429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20"/>
          <p:cNvSpPr/>
          <p:nvPr/>
        </p:nvSpPr>
        <p:spPr>
          <a:xfrm>
            <a:off x="5007769" y="2628900"/>
            <a:ext cx="3679031" cy="3429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add filename.txt</a:t>
            </a:r>
            <a:endParaRPr lang="en-US" sz="837" dirty="0"/>
          </a:p>
        </p:txBody>
      </p:sp>
      <p:sp>
        <p:nvSpPr>
          <p:cNvPr id="26" name="Shape 21"/>
          <p:cNvSpPr/>
          <p:nvPr/>
        </p:nvSpPr>
        <p:spPr>
          <a:xfrm>
            <a:off x="5007769" y="3028950"/>
            <a:ext cx="3679031" cy="3429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2"/>
          <p:cNvSpPr/>
          <p:nvPr/>
        </p:nvSpPr>
        <p:spPr>
          <a:xfrm>
            <a:off x="5007769" y="3028950"/>
            <a:ext cx="3679031" cy="3429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add .</a:t>
            </a:r>
            <a:endParaRPr lang="en-US" sz="837" dirty="0"/>
          </a:p>
        </p:txBody>
      </p:sp>
      <p:sp>
        <p:nvSpPr>
          <p:cNvPr id="28" name="Text 23"/>
          <p:cNvSpPr/>
          <p:nvPr/>
        </p:nvSpPr>
        <p:spPr>
          <a:xfrm>
            <a:off x="5007769" y="3429000"/>
            <a:ext cx="36790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dot (.) stages all files</a:t>
            </a:r>
            <a:endParaRPr lang="en-US" sz="732" dirty="0"/>
          </a:p>
        </p:txBody>
      </p:sp>
      <p:sp>
        <p:nvSpPr>
          <p:cNvPr id="29" name="Shape 24"/>
          <p:cNvSpPr/>
          <p:nvPr/>
        </p:nvSpPr>
        <p:spPr>
          <a:xfrm>
            <a:off x="550069" y="3800475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0" name="Text 25"/>
          <p:cNvSpPr/>
          <p:nvPr/>
        </p:nvSpPr>
        <p:spPr>
          <a:xfrm>
            <a:off x="550069" y="3800475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1157288" y="3800475"/>
            <a:ext cx="75295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 (create the snapshot)</a:t>
            </a:r>
            <a:endParaRPr lang="en-US" sz="13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88" y="4150519"/>
            <a:ext cx="112514" cy="128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326952" y="4114800"/>
            <a:ext cx="7005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VS Code: </a:t>
            </a:r>
            <a:endParaRPr lang="en-US" sz="942" dirty="0"/>
          </a:p>
        </p:txBody>
      </p:sp>
      <p:sp>
        <p:nvSpPr>
          <p:cNvPr id="34" name="Text 28"/>
          <p:cNvSpPr/>
          <p:nvPr/>
        </p:nvSpPr>
        <p:spPr>
          <a:xfrm>
            <a:off x="1157288" y="4371975"/>
            <a:ext cx="3679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Type a message in the text box at top</a:t>
            </a:r>
            <a:endParaRPr lang="en-US" sz="837" dirty="0"/>
          </a:p>
        </p:txBody>
      </p:sp>
      <p:sp>
        <p:nvSpPr>
          <p:cNvPr id="35" name="Text 29"/>
          <p:cNvSpPr/>
          <p:nvPr/>
        </p:nvSpPr>
        <p:spPr>
          <a:xfrm>
            <a:off x="1157288" y="4572000"/>
            <a:ext cx="3679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Example: "Added homepage"</a:t>
            </a:r>
            <a:endParaRPr lang="en-US" sz="837" dirty="0"/>
          </a:p>
        </p:txBody>
      </p:sp>
      <p:sp>
        <p:nvSpPr>
          <p:cNvPr id="36" name="Text 30"/>
          <p:cNvSpPr/>
          <p:nvPr/>
        </p:nvSpPr>
        <p:spPr>
          <a:xfrm>
            <a:off x="1157288" y="4779169"/>
            <a:ext cx="5556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Click the </a:t>
            </a:r>
            <a:endParaRPr lang="en-US" sz="837" dirty="0"/>
          </a:p>
        </p:txBody>
      </p:sp>
      <p:sp>
        <p:nvSpPr>
          <p:cNvPr id="37" name="Text 31"/>
          <p:cNvSpPr/>
          <p:nvPr/>
        </p:nvSpPr>
        <p:spPr>
          <a:xfrm>
            <a:off x="1712909" y="4779169"/>
            <a:ext cx="564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Commit</a:t>
            </a:r>
            <a:endParaRPr lang="en-US" sz="837" dirty="0"/>
          </a:p>
        </p:txBody>
      </p:sp>
      <p:sp>
        <p:nvSpPr>
          <p:cNvPr id="38" name="Text 32"/>
          <p:cNvSpPr/>
          <p:nvPr/>
        </p:nvSpPr>
        <p:spPr>
          <a:xfrm>
            <a:off x="2277796" y="4779169"/>
            <a:ext cx="3929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button</a:t>
            </a:r>
            <a:endParaRPr lang="en-US" sz="837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769" y="4150519"/>
            <a:ext cx="144661" cy="128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209580" y="4114800"/>
            <a:ext cx="1250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command: </a:t>
            </a:r>
            <a:endParaRPr lang="en-US" sz="942" dirty="0"/>
          </a:p>
        </p:txBody>
      </p:sp>
      <p:sp>
        <p:nvSpPr>
          <p:cNvPr id="41" name="Shape 34"/>
          <p:cNvSpPr/>
          <p:nvPr/>
        </p:nvSpPr>
        <p:spPr>
          <a:xfrm>
            <a:off x="5007769" y="4371975"/>
            <a:ext cx="3679031" cy="3429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2" name="Text 35"/>
          <p:cNvSpPr/>
          <p:nvPr/>
        </p:nvSpPr>
        <p:spPr>
          <a:xfrm>
            <a:off x="5007769" y="4371975"/>
            <a:ext cx="3679031" cy="342900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commit -m "Added homepage"</a:t>
            </a:r>
            <a:endParaRPr lang="en-US" sz="837" dirty="0"/>
          </a:p>
        </p:txBody>
      </p:sp>
      <p:sp>
        <p:nvSpPr>
          <p:cNvPr id="43" name="Text 36"/>
          <p:cNvSpPr/>
          <p:nvPr/>
        </p:nvSpPr>
        <p:spPr>
          <a:xfrm>
            <a:off x="5007769" y="4772025"/>
            <a:ext cx="36790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-m flag adds your message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649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Checking Your Status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10287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what's changed and what's staged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0194"/>
            <a:ext cx="187523" cy="214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0448" y="1543050"/>
            <a:ext cx="8862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VS Code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3100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1519" y="1943100"/>
            <a:ext cx="19163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Control Panel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721519" y="2171700"/>
            <a:ext cx="19163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the branch icon on left sidebar</a:t>
            </a:r>
            <a:endParaRPr lang="en-US" sz="83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86025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950" y="2486025"/>
            <a:ext cx="15615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Badge Number</a:t>
            </a:r>
            <a:endParaRPr lang="en-US" sz="942" dirty="0"/>
          </a:p>
        </p:txBody>
      </p:sp>
      <p:sp>
        <p:nvSpPr>
          <p:cNvPr id="12" name="Text 6"/>
          <p:cNvSpPr/>
          <p:nvPr/>
        </p:nvSpPr>
        <p:spPr>
          <a:xfrm>
            <a:off x="742950" y="2714625"/>
            <a:ext cx="15615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count of changed files</a:t>
            </a:r>
            <a:endParaRPr lang="en-US" sz="83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28950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950" y="3028950"/>
            <a:ext cx="19227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List</a:t>
            </a:r>
            <a:endParaRPr lang="en-US" sz="942" dirty="0"/>
          </a:p>
        </p:txBody>
      </p:sp>
      <p:sp>
        <p:nvSpPr>
          <p:cNvPr id="15" name="Text 8"/>
          <p:cNvSpPr/>
          <p:nvPr/>
        </p:nvSpPr>
        <p:spPr>
          <a:xfrm>
            <a:off x="742950" y="3257550"/>
            <a:ext cx="19227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all modified files with indicators</a:t>
            </a:r>
            <a:endParaRPr lang="en-US" sz="837" dirty="0"/>
          </a:p>
        </p:txBody>
      </p:sp>
      <p:sp>
        <p:nvSpPr>
          <p:cNvPr id="16" name="Shape 9"/>
          <p:cNvSpPr/>
          <p:nvPr/>
        </p:nvSpPr>
        <p:spPr>
          <a:xfrm>
            <a:off x="457200" y="3571875"/>
            <a:ext cx="3943350" cy="120015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Text 10"/>
          <p:cNvSpPr/>
          <p:nvPr/>
        </p:nvSpPr>
        <p:spPr>
          <a:xfrm>
            <a:off x="600075" y="3714750"/>
            <a:ext cx="3657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Colored Indicators:</a:t>
            </a:r>
            <a:endParaRPr lang="en-US" sz="942" dirty="0"/>
          </a:p>
        </p:txBody>
      </p:sp>
      <p:sp>
        <p:nvSpPr>
          <p:cNvPr id="18" name="Text 11"/>
          <p:cNvSpPr/>
          <p:nvPr/>
        </p:nvSpPr>
        <p:spPr>
          <a:xfrm>
            <a:off x="600075" y="4007644"/>
            <a:ext cx="1062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706282" y="4007644"/>
            <a:ext cx="6009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Modified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600075" y="4236244"/>
            <a:ext cx="85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685465" y="4236244"/>
            <a:ext cx="10009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Untracked (new)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600075" y="4464844"/>
            <a:ext cx="84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684209" y="4464844"/>
            <a:ext cx="5427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Deleted</a:t>
            </a:r>
            <a:endParaRPr lang="en-US" sz="837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1550194"/>
            <a:ext cx="241102" cy="2143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70277" y="1543050"/>
            <a:ext cx="16426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 Command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4743450" y="1943100"/>
            <a:ext cx="3943350" cy="478631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19"/>
          <p:cNvSpPr/>
          <p:nvPr/>
        </p:nvSpPr>
        <p:spPr>
          <a:xfrm>
            <a:off x="4743450" y="1943100"/>
            <a:ext cx="394335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status </a:t>
            </a:r>
            <a:endParaRPr lang="en-US" sz="942" dirty="0"/>
          </a:p>
        </p:txBody>
      </p:sp>
      <p:sp>
        <p:nvSpPr>
          <p:cNvPr id="28" name="Text 20"/>
          <p:cNvSpPr/>
          <p:nvPr/>
        </p:nvSpPr>
        <p:spPr>
          <a:xfrm>
            <a:off x="4743450" y="2593181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you'll see:</a:t>
            </a:r>
            <a:endParaRPr lang="en-US" sz="942" dirty="0"/>
          </a:p>
        </p:txBody>
      </p:sp>
      <p:sp>
        <p:nvSpPr>
          <p:cNvPr id="29" name="Shape 21"/>
          <p:cNvSpPr/>
          <p:nvPr/>
        </p:nvSpPr>
        <p:spPr>
          <a:xfrm>
            <a:off x="4743450" y="2878931"/>
            <a:ext cx="3943350" cy="600075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30" name="Text 22"/>
          <p:cNvSpPr/>
          <p:nvPr/>
        </p:nvSpPr>
        <p:spPr>
          <a:xfrm>
            <a:off x="4857750" y="2993231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C039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Files in red</a:t>
            </a:r>
            <a:endParaRPr lang="en-US" sz="837" dirty="0"/>
          </a:p>
        </p:txBody>
      </p:sp>
      <p:sp>
        <p:nvSpPr>
          <p:cNvPr id="31" name="Text 23"/>
          <p:cNvSpPr/>
          <p:nvPr/>
        </p:nvSpPr>
        <p:spPr>
          <a:xfrm>
            <a:off x="4857750" y="3193256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Changed but not staged</a:t>
            </a:r>
            <a:endParaRPr lang="en-US" sz="837" dirty="0"/>
          </a:p>
        </p:txBody>
      </p:sp>
      <p:sp>
        <p:nvSpPr>
          <p:cNvPr id="32" name="Shape 24"/>
          <p:cNvSpPr/>
          <p:nvPr/>
        </p:nvSpPr>
        <p:spPr>
          <a:xfrm>
            <a:off x="4743450" y="3593306"/>
            <a:ext cx="3943350" cy="600075"/>
          </a:xfrm>
          <a:prstGeom prst="rect">
            <a:avLst/>
          </a:prstGeom>
          <a:solidFill>
            <a:srgbClr val="E8F8E8"/>
          </a:solidFill>
          <a:ln/>
        </p:spPr>
      </p:sp>
      <p:sp>
        <p:nvSpPr>
          <p:cNvPr id="33" name="Text 25"/>
          <p:cNvSpPr/>
          <p:nvPr/>
        </p:nvSpPr>
        <p:spPr>
          <a:xfrm>
            <a:off x="4857750" y="3707606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Files in green</a:t>
            </a:r>
            <a:endParaRPr lang="en-US" sz="837" dirty="0"/>
          </a:p>
        </p:txBody>
      </p:sp>
      <p:sp>
        <p:nvSpPr>
          <p:cNvPr id="34" name="Text 26"/>
          <p:cNvSpPr/>
          <p:nvPr/>
        </p:nvSpPr>
        <p:spPr>
          <a:xfrm>
            <a:off x="4857750" y="3907631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Staged and ready to commit</a:t>
            </a:r>
            <a:endParaRPr lang="en-US" sz="837" dirty="0"/>
          </a:p>
        </p:txBody>
      </p:sp>
      <p:sp>
        <p:nvSpPr>
          <p:cNvPr id="35" name="Shape 27"/>
          <p:cNvSpPr/>
          <p:nvPr/>
        </p:nvSpPr>
        <p:spPr>
          <a:xfrm>
            <a:off x="4743450" y="4307681"/>
            <a:ext cx="3943350" cy="60007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6" name="Text 28"/>
          <p:cNvSpPr/>
          <p:nvPr/>
        </p:nvSpPr>
        <p:spPr>
          <a:xfrm>
            <a:off x="4857750" y="4421981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980B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"Nothing to commit"</a:t>
            </a:r>
            <a:endParaRPr lang="en-US" sz="837" dirty="0"/>
          </a:p>
        </p:txBody>
      </p:sp>
      <p:sp>
        <p:nvSpPr>
          <p:cNvPr id="37" name="Text 29"/>
          <p:cNvSpPr/>
          <p:nvPr/>
        </p:nvSpPr>
        <p:spPr>
          <a:xfrm>
            <a:off x="4857750" y="4622006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Everything is saved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4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Viewing Your Commit History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all the snapshots you've created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0169"/>
            <a:ext cx="187523" cy="214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0448" y="1343025"/>
            <a:ext cx="8862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VS Code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165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1743075"/>
            <a:ext cx="22878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Timeline View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685800" y="1971675"/>
            <a:ext cx="22878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the clock icon in Source Control panel</a:t>
            </a:r>
            <a:endParaRPr lang="en-US" sz="83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14575"/>
            <a:ext cx="16073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3659" y="2286000"/>
            <a:ext cx="22016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Graph Extension</a:t>
            </a:r>
            <a:endParaRPr lang="en-US" sz="942" dirty="0"/>
          </a:p>
        </p:txBody>
      </p:sp>
      <p:sp>
        <p:nvSpPr>
          <p:cNvPr id="12" name="Text 6"/>
          <p:cNvSpPr/>
          <p:nvPr/>
        </p:nvSpPr>
        <p:spPr>
          <a:xfrm>
            <a:off x="703659" y="2514600"/>
            <a:ext cx="22016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for visual timeline (recommended)</a:t>
            </a:r>
            <a:endParaRPr lang="en-US" sz="837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57500"/>
            <a:ext cx="89297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2222" y="2828925"/>
            <a:ext cx="21977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Any Commit</a:t>
            </a:r>
            <a:endParaRPr lang="en-US" sz="942" dirty="0"/>
          </a:p>
        </p:txBody>
      </p:sp>
      <p:sp>
        <p:nvSpPr>
          <p:cNvPr id="15" name="Text 8"/>
          <p:cNvSpPr/>
          <p:nvPr/>
        </p:nvSpPr>
        <p:spPr>
          <a:xfrm>
            <a:off x="632222" y="3057525"/>
            <a:ext cx="2197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exactly what changed in that commit</a:t>
            </a:r>
            <a:endParaRPr lang="en-US" sz="83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350169"/>
            <a:ext cx="241102" cy="2143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41702" y="1343025"/>
            <a:ext cx="17266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 Commands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4714875" y="1743075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history:</a:t>
            </a:r>
            <a:endParaRPr lang="en-US" sz="837" dirty="0"/>
          </a:p>
        </p:txBody>
      </p:sp>
      <p:sp>
        <p:nvSpPr>
          <p:cNvPr id="19" name="Shape 11"/>
          <p:cNvSpPr/>
          <p:nvPr/>
        </p:nvSpPr>
        <p:spPr>
          <a:xfrm>
            <a:off x="4714875" y="1971675"/>
            <a:ext cx="3971925" cy="35361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0" name="Text 12"/>
          <p:cNvSpPr/>
          <p:nvPr/>
        </p:nvSpPr>
        <p:spPr>
          <a:xfrm>
            <a:off x="4714875" y="1971675"/>
            <a:ext cx="3971925" cy="35361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log</a:t>
            </a:r>
            <a:endParaRPr lang="en-US" sz="889" dirty="0"/>
          </a:p>
        </p:txBody>
      </p:sp>
      <p:sp>
        <p:nvSpPr>
          <p:cNvPr id="21" name="Text 13"/>
          <p:cNvSpPr/>
          <p:nvPr/>
        </p:nvSpPr>
        <p:spPr>
          <a:xfrm>
            <a:off x="4714875" y="2439591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Compact view (one line per commit):</a:t>
            </a:r>
            <a:endParaRPr lang="en-US" sz="837" dirty="0"/>
          </a:p>
        </p:txBody>
      </p:sp>
      <p:sp>
        <p:nvSpPr>
          <p:cNvPr id="22" name="Shape 14"/>
          <p:cNvSpPr/>
          <p:nvPr/>
        </p:nvSpPr>
        <p:spPr>
          <a:xfrm>
            <a:off x="4714875" y="2668191"/>
            <a:ext cx="3971925" cy="35361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5"/>
          <p:cNvSpPr/>
          <p:nvPr/>
        </p:nvSpPr>
        <p:spPr>
          <a:xfrm>
            <a:off x="4714875" y="2668191"/>
            <a:ext cx="3971925" cy="353616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log --oneline</a:t>
            </a:r>
            <a:endParaRPr lang="en-US" sz="889" dirty="0"/>
          </a:p>
        </p:txBody>
      </p:sp>
      <p:sp>
        <p:nvSpPr>
          <p:cNvPr id="24" name="Shape 16"/>
          <p:cNvSpPr/>
          <p:nvPr/>
        </p:nvSpPr>
        <p:spPr>
          <a:xfrm>
            <a:off x="457200" y="3514725"/>
            <a:ext cx="8229600" cy="15716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5" name="Text 17"/>
          <p:cNvSpPr/>
          <p:nvPr/>
        </p:nvSpPr>
        <p:spPr>
          <a:xfrm>
            <a:off x="628650" y="3686175"/>
            <a:ext cx="7886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commit shows:</a:t>
            </a:r>
            <a:endParaRPr lang="en-US" sz="13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157663"/>
            <a:ext cx="171450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85825" y="4057650"/>
            <a:ext cx="18061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Unique ID</a:t>
            </a:r>
            <a:endParaRPr lang="en-US" sz="942" dirty="0"/>
          </a:p>
        </p:txBody>
      </p:sp>
      <p:sp>
        <p:nvSpPr>
          <p:cNvPr id="28" name="Text 19"/>
          <p:cNvSpPr/>
          <p:nvPr/>
        </p:nvSpPr>
        <p:spPr>
          <a:xfrm>
            <a:off x="885825" y="4257675"/>
            <a:ext cx="1806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 code identifying the commit</a:t>
            </a:r>
            <a:endParaRPr lang="en-US" sz="837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450" y="4157663"/>
            <a:ext cx="150019" cy="1714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79194" y="4057650"/>
            <a:ext cx="12258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Author Name</a:t>
            </a:r>
            <a:endParaRPr lang="en-US" sz="942" dirty="0"/>
          </a:p>
        </p:txBody>
      </p:sp>
      <p:sp>
        <p:nvSpPr>
          <p:cNvPr id="31" name="Text 21"/>
          <p:cNvSpPr/>
          <p:nvPr/>
        </p:nvSpPr>
        <p:spPr>
          <a:xfrm>
            <a:off x="4979194" y="4257675"/>
            <a:ext cx="12258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made the commit</a:t>
            </a:r>
            <a:endParaRPr lang="en-US" sz="837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643438"/>
            <a:ext cx="150019" cy="17145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4394" y="4543425"/>
            <a:ext cx="10850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 and Time</a:t>
            </a:r>
            <a:endParaRPr lang="en-US" sz="942" dirty="0"/>
          </a:p>
        </p:txBody>
      </p:sp>
      <p:sp>
        <p:nvSpPr>
          <p:cNvPr id="34" name="Text 23"/>
          <p:cNvSpPr/>
          <p:nvPr/>
        </p:nvSpPr>
        <p:spPr>
          <a:xfrm>
            <a:off x="864394" y="4743450"/>
            <a:ext cx="10850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it was created</a:t>
            </a:r>
            <a:endParaRPr lang="en-US" sz="837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4643438"/>
            <a:ext cx="171450" cy="17145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00625" y="4543425"/>
            <a:ext cx="15438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 Message</a:t>
            </a:r>
            <a:endParaRPr lang="en-US" sz="942" dirty="0"/>
          </a:p>
        </p:txBody>
      </p:sp>
      <p:sp>
        <p:nvSpPr>
          <p:cNvPr id="37" name="Text 25"/>
          <p:cNvSpPr/>
          <p:nvPr/>
        </p:nvSpPr>
        <p:spPr>
          <a:xfrm>
            <a:off x="5000625" y="4743450"/>
            <a:ext cx="15438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 of what changed</a:t>
            </a:r>
            <a:endParaRPr lang="en-US" sz="83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4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Connecting to GitHub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your repository to the cloud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343025"/>
            <a:ext cx="4572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43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1085850" y="1343025"/>
            <a:ext cx="7600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 repository on GitHub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721644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8364" y="1698427"/>
            <a:ext cx="3959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 to 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1594312" y="1698427"/>
            <a:ext cx="7354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github.com</a:t>
            </a:r>
            <a:endParaRPr lang="en-US" sz="94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978819"/>
            <a:ext cx="112514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8364" y="1955602"/>
            <a:ext cx="22815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Click "New repository" (green button)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2235994"/>
            <a:ext cx="112514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8364" y="2212777"/>
            <a:ext cx="22627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Give it a name (same as your project)</a:t>
            </a:r>
            <a:endParaRPr lang="en-US" sz="94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1721644"/>
            <a:ext cx="112514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84564" y="1698427"/>
            <a:ext cx="17315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Don't initialize with README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1978819"/>
            <a:ext cx="112514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84564" y="1955602"/>
            <a:ext cx="15014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Click "Create repository"</a:t>
            </a:r>
            <a:endParaRPr lang="en-US" sz="942" dirty="0"/>
          </a:p>
        </p:txBody>
      </p:sp>
      <p:sp>
        <p:nvSpPr>
          <p:cNvPr id="19" name="Shape 11"/>
          <p:cNvSpPr/>
          <p:nvPr/>
        </p:nvSpPr>
        <p:spPr>
          <a:xfrm>
            <a:off x="457200" y="2686050"/>
            <a:ext cx="4572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0" name="Text 12"/>
          <p:cNvSpPr/>
          <p:nvPr/>
        </p:nvSpPr>
        <p:spPr>
          <a:xfrm>
            <a:off x="457200" y="26860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688" dirty="0"/>
          </a:p>
        </p:txBody>
      </p:sp>
      <p:sp>
        <p:nvSpPr>
          <p:cNvPr id="21" name="Text 13"/>
          <p:cNvSpPr/>
          <p:nvPr/>
        </p:nvSpPr>
        <p:spPr>
          <a:xfrm>
            <a:off x="1085850" y="2686050"/>
            <a:ext cx="7600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 your local repository to GitHub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3057525"/>
            <a:ext cx="125016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68016" y="3028950"/>
            <a:ext cx="7783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VS Code: </a:t>
            </a:r>
            <a:endParaRPr lang="en-US" sz="1046" dirty="0"/>
          </a:p>
        </p:txBody>
      </p:sp>
      <p:sp>
        <p:nvSpPr>
          <p:cNvPr id="24" name="Text 15"/>
          <p:cNvSpPr/>
          <p:nvPr/>
        </p:nvSpPr>
        <p:spPr>
          <a:xfrm>
            <a:off x="1085850" y="3314700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Click "Publish to GitHub" in Source Control panel</a:t>
            </a:r>
            <a:endParaRPr lang="en-US" sz="942" dirty="0"/>
          </a:p>
        </p:txBody>
      </p:sp>
      <p:sp>
        <p:nvSpPr>
          <p:cNvPr id="25" name="Text 16"/>
          <p:cNvSpPr/>
          <p:nvPr/>
        </p:nvSpPr>
        <p:spPr>
          <a:xfrm>
            <a:off x="1085850" y="3571875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Choose public or private</a:t>
            </a:r>
            <a:endParaRPr lang="en-US" sz="942" dirty="0"/>
          </a:p>
        </p:txBody>
      </p:sp>
      <p:sp>
        <p:nvSpPr>
          <p:cNvPr id="26" name="Text 17"/>
          <p:cNvSpPr/>
          <p:nvPr/>
        </p:nvSpPr>
        <p:spPr>
          <a:xfrm>
            <a:off x="1085850" y="3829050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Select which files to include</a:t>
            </a:r>
            <a:endParaRPr lang="en-US" sz="942" dirty="0"/>
          </a:p>
        </p:txBody>
      </p:sp>
      <p:sp>
        <p:nvSpPr>
          <p:cNvPr id="27" name="Text 18"/>
          <p:cNvSpPr/>
          <p:nvPr/>
        </p:nvSpPr>
        <p:spPr>
          <a:xfrm>
            <a:off x="1085850" y="4086225"/>
            <a:ext cx="36861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Done!</a:t>
            </a:r>
            <a:endParaRPr lang="en-US" sz="942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057525"/>
            <a:ext cx="160734" cy="14287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218509" y="3028950"/>
            <a:ext cx="14596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commands: </a:t>
            </a:r>
            <a:endParaRPr lang="en-US" sz="1046" dirty="0"/>
          </a:p>
        </p:txBody>
      </p:sp>
      <p:sp>
        <p:nvSpPr>
          <p:cNvPr id="30" name="Shape 20"/>
          <p:cNvSpPr/>
          <p:nvPr/>
        </p:nvSpPr>
        <p:spPr>
          <a:xfrm>
            <a:off x="5000625" y="3314700"/>
            <a:ext cx="3686175" cy="6858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1" name="Text 21"/>
          <p:cNvSpPr/>
          <p:nvPr/>
        </p:nvSpPr>
        <p:spPr>
          <a:xfrm>
            <a:off x="5143500" y="3412927"/>
            <a:ext cx="334843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remote add origin https://github.com/username/repo-name.git</a:t>
            </a:r>
            <a:endParaRPr lang="en-US" sz="785" dirty="0"/>
          </a:p>
        </p:txBody>
      </p:sp>
      <p:sp>
        <p:nvSpPr>
          <p:cNvPr id="32" name="Text 22"/>
          <p:cNvSpPr/>
          <p:nvPr/>
        </p:nvSpPr>
        <p:spPr>
          <a:xfrm>
            <a:off x="5143500" y="3584377"/>
            <a:ext cx="9536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branch -M main</a:t>
            </a:r>
            <a:endParaRPr lang="en-US" sz="785" dirty="0"/>
          </a:p>
        </p:txBody>
      </p:sp>
      <p:sp>
        <p:nvSpPr>
          <p:cNvPr id="33" name="Text 23"/>
          <p:cNvSpPr/>
          <p:nvPr/>
        </p:nvSpPr>
        <p:spPr>
          <a:xfrm>
            <a:off x="5143500" y="3755827"/>
            <a:ext cx="114475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push -u origin main </a:t>
            </a:r>
            <a:endParaRPr lang="en-US" sz="785" dirty="0"/>
          </a:p>
        </p:txBody>
      </p:sp>
      <p:sp>
        <p:nvSpPr>
          <p:cNvPr id="34" name="Shape 24"/>
          <p:cNvSpPr/>
          <p:nvPr/>
        </p:nvSpPr>
        <p:spPr>
          <a:xfrm>
            <a:off x="457200" y="4572000"/>
            <a:ext cx="8229600" cy="4857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7287" y="4743450"/>
            <a:ext cx="142875" cy="14287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2717332" y="4716661"/>
            <a:ext cx="5867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Success!</a:t>
            </a:r>
            <a:endParaRPr lang="en-US" sz="1046" dirty="0"/>
          </a:p>
        </p:txBody>
      </p:sp>
      <p:sp>
        <p:nvSpPr>
          <p:cNvPr id="37" name="Text 26"/>
          <p:cNvSpPr/>
          <p:nvPr/>
        </p:nvSpPr>
        <p:spPr>
          <a:xfrm>
            <a:off x="3304124" y="4716661"/>
            <a:ext cx="33025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Your local repository is now connected to GitHub </a:t>
            </a:r>
            <a:endParaRPr lang="en-US" sz="104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15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Pushing Changes to GitHub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your new commits to the cloud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1343025"/>
            <a:ext cx="8229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making and committing changes locally, send them to GitHub:</a:t>
            </a:r>
            <a:endParaRPr lang="en-US" sz="104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8794"/>
            <a:ext cx="187523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0448" y="1771650"/>
            <a:ext cx="8862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VS Code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170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5439" y="2184202"/>
            <a:ext cx="5432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the </a:t>
            </a:r>
            <a:endParaRPr lang="en-US" sz="942" dirty="0"/>
          </a:p>
        </p:txBody>
      </p:sp>
      <p:sp>
        <p:nvSpPr>
          <p:cNvPr id="10" name="Text 5"/>
          <p:cNvSpPr/>
          <p:nvPr/>
        </p:nvSpPr>
        <p:spPr>
          <a:xfrm>
            <a:off x="1198727" y="2184202"/>
            <a:ext cx="1099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...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1308674" y="2184202"/>
            <a:ext cx="18269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menu in Source Control panel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86025"/>
            <a:ext cx="112514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5439" y="2498527"/>
            <a:ext cx="390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</a:t>
            </a:r>
            <a:endParaRPr lang="en-US" sz="942" dirty="0"/>
          </a:p>
        </p:txBody>
      </p:sp>
      <p:sp>
        <p:nvSpPr>
          <p:cNvPr id="14" name="Text 8"/>
          <p:cNvSpPr/>
          <p:nvPr/>
        </p:nvSpPr>
        <p:spPr>
          <a:xfrm>
            <a:off x="1045834" y="2498527"/>
            <a:ext cx="43373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"Push"</a:t>
            </a:r>
            <a:endParaRPr lang="en-US" sz="94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00350"/>
            <a:ext cx="112514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5439" y="2800350"/>
            <a:ext cx="34646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click the cloud icon with up arrow in bottom status bar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2000250" y="3228975"/>
            <a:ext cx="857250" cy="6858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1778794"/>
            <a:ext cx="241102" cy="2143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70277" y="1771650"/>
            <a:ext cx="16426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Terminal Command</a:t>
            </a:r>
            <a:endParaRPr lang="en-US" sz="1350" dirty="0"/>
          </a:p>
        </p:txBody>
      </p:sp>
      <p:sp>
        <p:nvSpPr>
          <p:cNvPr id="20" name="Shape 11"/>
          <p:cNvSpPr/>
          <p:nvPr/>
        </p:nvSpPr>
        <p:spPr>
          <a:xfrm>
            <a:off x="4743450" y="2171700"/>
            <a:ext cx="3943350" cy="50006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2"/>
          <p:cNvSpPr/>
          <p:nvPr/>
        </p:nvSpPr>
        <p:spPr>
          <a:xfrm>
            <a:off x="4743450" y="2171700"/>
            <a:ext cx="3943350" cy="50006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push </a:t>
            </a:r>
            <a:endParaRPr lang="en-US" sz="1046" dirty="0"/>
          </a:p>
        </p:txBody>
      </p:sp>
      <p:sp>
        <p:nvSpPr>
          <p:cNvPr id="22" name="Shape 13"/>
          <p:cNvSpPr/>
          <p:nvPr/>
        </p:nvSpPr>
        <p:spPr>
          <a:xfrm>
            <a:off x="4743450" y="2900363"/>
            <a:ext cx="3943350" cy="930473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3078956"/>
            <a:ext cx="128588" cy="128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14913" y="3055739"/>
            <a:ext cx="12336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First time pushing? </a:t>
            </a:r>
            <a:endParaRPr lang="en-US" sz="942" dirty="0"/>
          </a:p>
        </p:txBody>
      </p:sp>
      <p:sp>
        <p:nvSpPr>
          <p:cNvPr id="25" name="Text 15"/>
          <p:cNvSpPr/>
          <p:nvPr/>
        </p:nvSpPr>
        <p:spPr>
          <a:xfrm>
            <a:off x="4886325" y="3336131"/>
            <a:ext cx="1147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may need to use:</a:t>
            </a:r>
            <a:endParaRPr lang="en-US" sz="837" dirty="0"/>
          </a:p>
        </p:txBody>
      </p:sp>
      <p:sp>
        <p:nvSpPr>
          <p:cNvPr id="26" name="Shape 16"/>
          <p:cNvSpPr/>
          <p:nvPr/>
        </p:nvSpPr>
        <p:spPr>
          <a:xfrm>
            <a:off x="4886325" y="3516511"/>
            <a:ext cx="1551868" cy="17145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17"/>
          <p:cNvSpPr/>
          <p:nvPr/>
        </p:nvSpPr>
        <p:spPr>
          <a:xfrm>
            <a:off x="4886325" y="3516511"/>
            <a:ext cx="1551868" cy="171450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ECC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git push -u origin main</a:t>
            </a:r>
            <a:endParaRPr lang="en-US" sz="732" dirty="0"/>
          </a:p>
        </p:txBody>
      </p:sp>
      <p:sp>
        <p:nvSpPr>
          <p:cNvPr id="28" name="Shape 18"/>
          <p:cNvSpPr/>
          <p:nvPr/>
        </p:nvSpPr>
        <p:spPr>
          <a:xfrm>
            <a:off x="457200" y="4200525"/>
            <a:ext cx="8229600" cy="14573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9" name="Text 19"/>
          <p:cNvSpPr/>
          <p:nvPr/>
        </p:nvSpPr>
        <p:spPr>
          <a:xfrm>
            <a:off x="628650" y="4371975"/>
            <a:ext cx="7886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happens:</a:t>
            </a:r>
            <a:endParaRPr lang="en-US" sz="13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5216" y="4714875"/>
            <a:ext cx="321469" cy="25717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28650" y="5057775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local commits</a:t>
            </a:r>
            <a:endParaRPr lang="en-US" sz="942" dirty="0"/>
          </a:p>
        </p:txBody>
      </p:sp>
      <p:sp>
        <p:nvSpPr>
          <p:cNvPr id="32" name="Text 21"/>
          <p:cNvSpPr/>
          <p:nvPr/>
        </p:nvSpPr>
        <p:spPr>
          <a:xfrm>
            <a:off x="628650" y="5314950"/>
            <a:ext cx="2514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to GitHub</a:t>
            </a:r>
            <a:endParaRPr lang="en-US" sz="837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9486" y="4714875"/>
            <a:ext cx="225028" cy="2571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314700" y="5057775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Transfer</a:t>
            </a:r>
            <a:endParaRPr lang="en-US" sz="942" dirty="0"/>
          </a:p>
        </p:txBody>
      </p:sp>
      <p:sp>
        <p:nvSpPr>
          <p:cNvPr id="35" name="Text 23"/>
          <p:cNvSpPr/>
          <p:nvPr/>
        </p:nvSpPr>
        <p:spPr>
          <a:xfrm>
            <a:off x="3314700" y="5314950"/>
            <a:ext cx="2514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Sent over internet</a:t>
            </a:r>
            <a:endParaRPr lang="en-US" sz="837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7316" y="4714875"/>
            <a:ext cx="321469" cy="257175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000750" y="5057775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updates</a:t>
            </a:r>
            <a:endParaRPr lang="en-US" sz="942" dirty="0"/>
          </a:p>
        </p:txBody>
      </p:sp>
      <p:sp>
        <p:nvSpPr>
          <p:cNvPr id="38" name="Text 25"/>
          <p:cNvSpPr/>
          <p:nvPr/>
        </p:nvSpPr>
        <p:spPr>
          <a:xfrm>
            <a:off x="6000750" y="5314950"/>
            <a:ext cx="2514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Others can see changes</a:t>
            </a:r>
            <a:endParaRPr lang="en-US" sz="83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Pulling Changes from GitHub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updates from the cloud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343025"/>
            <a:ext cx="9524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How to Pull 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8794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6864" y="1743075"/>
            <a:ext cx="7005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VS Code: 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457200" y="2069902"/>
            <a:ext cx="6250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Click the </a:t>
            </a:r>
            <a:endParaRPr lang="en-US" sz="942" dirty="0"/>
          </a:p>
        </p:txBody>
      </p:sp>
      <p:sp>
        <p:nvSpPr>
          <p:cNvPr id="10" name="Text 5"/>
          <p:cNvSpPr/>
          <p:nvPr/>
        </p:nvSpPr>
        <p:spPr>
          <a:xfrm>
            <a:off x="1082278" y="2069902"/>
            <a:ext cx="1099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...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1192225" y="2069902"/>
            <a:ext cx="18269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menu in Source Control panel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457200" y="2327077"/>
            <a:ext cx="4721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Select 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929385" y="2327077"/>
            <a:ext cx="3650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"Pull"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457200" y="2571750"/>
            <a:ext cx="39433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Or click the cloud icon with down arrow in bottom status bar</a:t>
            </a:r>
            <a:endParaRPr lang="en-US" sz="942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6094"/>
            <a:ext cx="144661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9011" y="3000375"/>
            <a:ext cx="12506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command: 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57200" y="3314700"/>
            <a:ext cx="3943350" cy="442913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Text 12"/>
          <p:cNvSpPr/>
          <p:nvPr/>
        </p:nvSpPr>
        <p:spPr>
          <a:xfrm>
            <a:off x="457200" y="3314700"/>
            <a:ext cx="3943350" cy="442913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pull </a:t>
            </a:r>
            <a:endParaRPr lang="en-US" sz="1046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1371600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00625" y="1343025"/>
            <a:ext cx="10617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When to Pull 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1743075"/>
            <a:ext cx="171450" cy="1714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29200" y="1743075"/>
            <a:ext cx="24375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starting work each day</a:t>
            </a:r>
            <a:endParaRPr lang="en-US" sz="942" dirty="0"/>
          </a:p>
        </p:txBody>
      </p:sp>
      <p:sp>
        <p:nvSpPr>
          <p:cNvPr id="23" name="Text 15"/>
          <p:cNvSpPr/>
          <p:nvPr/>
        </p:nvSpPr>
        <p:spPr>
          <a:xfrm>
            <a:off x="5029200" y="1971675"/>
            <a:ext cx="24375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the latest version before making changes</a:t>
            </a:r>
            <a:endParaRPr lang="en-US" sz="837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2286000"/>
            <a:ext cx="171450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29200" y="2286000"/>
            <a:ext cx="21276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Before making new changes</a:t>
            </a:r>
            <a:endParaRPr lang="en-US" sz="942" dirty="0"/>
          </a:p>
        </p:txBody>
      </p:sp>
      <p:sp>
        <p:nvSpPr>
          <p:cNvPr id="26" name="Text 17"/>
          <p:cNvSpPr/>
          <p:nvPr/>
        </p:nvSpPr>
        <p:spPr>
          <a:xfrm>
            <a:off x="5029200" y="2514600"/>
            <a:ext cx="21276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you're working with current files</a:t>
            </a:r>
            <a:endParaRPr lang="en-US" sz="837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450" y="2828925"/>
            <a:ext cx="214313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72063" y="2828925"/>
            <a:ext cx="16714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working with others</a:t>
            </a:r>
            <a:endParaRPr lang="en-US" sz="942" dirty="0"/>
          </a:p>
        </p:txBody>
      </p:sp>
      <p:sp>
        <p:nvSpPr>
          <p:cNvPr id="29" name="Text 19"/>
          <p:cNvSpPr/>
          <p:nvPr/>
        </p:nvSpPr>
        <p:spPr>
          <a:xfrm>
            <a:off x="5072063" y="3057525"/>
            <a:ext cx="16714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Stay in sync with team changes</a:t>
            </a:r>
            <a:endParaRPr lang="en-US" sz="837" dirty="0"/>
          </a:p>
        </p:txBody>
      </p:sp>
      <p:sp>
        <p:nvSpPr>
          <p:cNvPr id="30" name="Shape 20"/>
          <p:cNvSpPr/>
          <p:nvPr/>
        </p:nvSpPr>
        <p:spPr>
          <a:xfrm>
            <a:off x="457200" y="3986213"/>
            <a:ext cx="8229600" cy="1128713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186238"/>
            <a:ext cx="142875" cy="14287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57250" y="4157663"/>
            <a:ext cx="19709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What happens during a pull: </a:t>
            </a:r>
            <a:endParaRPr lang="en-US" sz="1046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005" y="4471988"/>
            <a:ext cx="267891" cy="214313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28650" y="4743450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Downloads new commits from GitHub</a:t>
            </a:r>
            <a:endParaRPr lang="en-US" sz="942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4844" y="4471988"/>
            <a:ext cx="214313" cy="214313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3314700" y="4743450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Updates your local files automatically</a:t>
            </a:r>
            <a:endParaRPr lang="en-US" sz="942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0894" y="4471988"/>
            <a:ext cx="214313" cy="214313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000750" y="4743450"/>
            <a:ext cx="2514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Keeps your computer in sync with GitHub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43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Beginner Workflow - Part 1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001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daily Git routine in VS Code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314450"/>
            <a:ext cx="822960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Shape 3"/>
          <p:cNvSpPr/>
          <p:nvPr/>
        </p:nvSpPr>
        <p:spPr>
          <a:xfrm>
            <a:off x="707231" y="1485900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707231" y="14859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71588" y="1457325"/>
            <a:ext cx="1900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first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71588" y="1685925"/>
            <a:ext cx="19002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latest changes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286125" y="1557338"/>
            <a:ext cx="2571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Control → ... → Pull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972175" y="1578769"/>
            <a:ext cx="685884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9"/>
          <p:cNvSpPr/>
          <p:nvPr/>
        </p:nvSpPr>
        <p:spPr>
          <a:xfrm>
            <a:off x="5972175" y="1578769"/>
            <a:ext cx="685884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78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633" y="2171700"/>
            <a:ext cx="160734" cy="21431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557463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7231" y="2728913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2"/>
          <p:cNvSpPr/>
          <p:nvPr/>
        </p:nvSpPr>
        <p:spPr>
          <a:xfrm>
            <a:off x="707231" y="2728913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271588" y="2700338"/>
            <a:ext cx="1900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changes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271588" y="2928938"/>
            <a:ext cx="19002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 files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3286125" y="2800350"/>
            <a:ext cx="5257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Code, create, modify files normally</a:t>
            </a:r>
            <a:endParaRPr lang="en-US" sz="942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633" y="3414713"/>
            <a:ext cx="160734" cy="21431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7200" y="3800475"/>
            <a:ext cx="822960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Shape 17"/>
          <p:cNvSpPr/>
          <p:nvPr/>
        </p:nvSpPr>
        <p:spPr>
          <a:xfrm>
            <a:off x="707231" y="3971925"/>
            <a:ext cx="342900" cy="3429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18"/>
          <p:cNvSpPr/>
          <p:nvPr/>
        </p:nvSpPr>
        <p:spPr>
          <a:xfrm>
            <a:off x="707231" y="3971925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271588" y="3943350"/>
            <a:ext cx="1900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status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271588" y="4171950"/>
            <a:ext cx="19002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what changed</a:t>
            </a:r>
            <a:endParaRPr lang="en-US" sz="837" dirty="0"/>
          </a:p>
        </p:txBody>
      </p:sp>
      <p:sp>
        <p:nvSpPr>
          <p:cNvPr id="26" name="Text 21"/>
          <p:cNvSpPr/>
          <p:nvPr/>
        </p:nvSpPr>
        <p:spPr>
          <a:xfrm>
            <a:off x="3286125" y="4043363"/>
            <a:ext cx="2571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at Source Control panel</a:t>
            </a:r>
            <a:endParaRPr lang="en-US" sz="942" dirty="0"/>
          </a:p>
        </p:txBody>
      </p:sp>
      <p:sp>
        <p:nvSpPr>
          <p:cNvPr id="27" name="Shape 22"/>
          <p:cNvSpPr/>
          <p:nvPr/>
        </p:nvSpPr>
        <p:spPr>
          <a:xfrm>
            <a:off x="5972175" y="4064794"/>
            <a:ext cx="814499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3"/>
          <p:cNvSpPr/>
          <p:nvPr/>
        </p:nvSpPr>
        <p:spPr>
          <a:xfrm>
            <a:off x="5972175" y="4064794"/>
            <a:ext cx="81449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785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486" y="4657725"/>
            <a:ext cx="225028" cy="25717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57200" y="5200650"/>
            <a:ext cx="8229600" cy="48577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632" y="5372100"/>
            <a:ext cx="125016" cy="14287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47818" y="5345311"/>
            <a:ext cx="18105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Continued on next slide...</a:t>
            </a:r>
            <a:endParaRPr lang="en-US" sz="104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15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Beginner Workflow - Part 2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001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Saving and uploading your changes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314450"/>
            <a:ext cx="82296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09603" y="1457325"/>
            <a:ext cx="285750" cy="2857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709603" y="14573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247756" y="1428750"/>
            <a:ext cx="1914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files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1247756" y="1628775"/>
            <a:ext cx="1914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what to save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3276581" y="1514475"/>
            <a:ext cx="25908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+ next to changed files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5981691" y="1521619"/>
            <a:ext cx="750205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9"/>
          <p:cNvSpPr/>
          <p:nvPr/>
        </p:nvSpPr>
        <p:spPr>
          <a:xfrm>
            <a:off x="5981691" y="1521619"/>
            <a:ext cx="750205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78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706" y="2028825"/>
            <a:ext cx="128588" cy="1714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343150"/>
            <a:ext cx="8229600" cy="571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603" y="2486025"/>
            <a:ext cx="285750" cy="2857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2"/>
          <p:cNvSpPr/>
          <p:nvPr/>
        </p:nvSpPr>
        <p:spPr>
          <a:xfrm>
            <a:off x="709603" y="24860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1247756" y="2457450"/>
            <a:ext cx="1914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</a:t>
            </a:r>
            <a:endParaRPr lang="en-US" sz="1046" dirty="0"/>
          </a:p>
        </p:txBody>
      </p:sp>
      <p:sp>
        <p:nvSpPr>
          <p:cNvPr id="18" name="Text 14"/>
          <p:cNvSpPr/>
          <p:nvPr/>
        </p:nvSpPr>
        <p:spPr>
          <a:xfrm>
            <a:off x="1247756" y="2657475"/>
            <a:ext cx="1914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 snapshot</a:t>
            </a:r>
            <a:endParaRPr lang="en-US" sz="732" dirty="0"/>
          </a:p>
        </p:txBody>
      </p:sp>
      <p:sp>
        <p:nvSpPr>
          <p:cNvPr id="19" name="Text 15"/>
          <p:cNvSpPr/>
          <p:nvPr/>
        </p:nvSpPr>
        <p:spPr>
          <a:xfrm>
            <a:off x="3276581" y="2543175"/>
            <a:ext cx="25908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message, click ✓</a:t>
            </a:r>
            <a:endParaRPr lang="en-US" sz="837" dirty="0"/>
          </a:p>
        </p:txBody>
      </p:sp>
      <p:sp>
        <p:nvSpPr>
          <p:cNvPr id="20" name="Shape 16"/>
          <p:cNvSpPr/>
          <p:nvPr/>
        </p:nvSpPr>
        <p:spPr>
          <a:xfrm>
            <a:off x="5981691" y="2550319"/>
            <a:ext cx="1650457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7"/>
          <p:cNvSpPr/>
          <p:nvPr/>
        </p:nvSpPr>
        <p:spPr>
          <a:xfrm>
            <a:off x="5981691" y="2550319"/>
            <a:ext cx="1650457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785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06" y="3057525"/>
            <a:ext cx="128588" cy="1714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7200" y="3371850"/>
            <a:ext cx="82296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709603" y="3514725"/>
            <a:ext cx="285750" cy="28575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0"/>
          <p:cNvSpPr/>
          <p:nvPr/>
        </p:nvSpPr>
        <p:spPr>
          <a:xfrm>
            <a:off x="709603" y="35147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46" dirty="0"/>
          </a:p>
        </p:txBody>
      </p:sp>
      <p:sp>
        <p:nvSpPr>
          <p:cNvPr id="26" name="Text 21"/>
          <p:cNvSpPr/>
          <p:nvPr/>
        </p:nvSpPr>
        <p:spPr>
          <a:xfrm>
            <a:off x="1247756" y="3486150"/>
            <a:ext cx="19145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</a:t>
            </a:r>
            <a:endParaRPr lang="en-US" sz="1046" dirty="0"/>
          </a:p>
        </p:txBody>
      </p:sp>
      <p:sp>
        <p:nvSpPr>
          <p:cNvPr id="27" name="Text 22"/>
          <p:cNvSpPr/>
          <p:nvPr/>
        </p:nvSpPr>
        <p:spPr>
          <a:xfrm>
            <a:off x="1247756" y="3686175"/>
            <a:ext cx="19145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to GitHub</a:t>
            </a:r>
            <a:endParaRPr lang="en-US" sz="732" dirty="0"/>
          </a:p>
        </p:txBody>
      </p:sp>
      <p:sp>
        <p:nvSpPr>
          <p:cNvPr id="28" name="Text 23"/>
          <p:cNvSpPr/>
          <p:nvPr/>
        </p:nvSpPr>
        <p:spPr>
          <a:xfrm>
            <a:off x="3276581" y="3571875"/>
            <a:ext cx="25908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Control → ... → Push</a:t>
            </a:r>
            <a:endParaRPr lang="en-US" sz="837" dirty="0"/>
          </a:p>
        </p:txBody>
      </p:sp>
      <p:sp>
        <p:nvSpPr>
          <p:cNvPr id="29" name="Shape 24"/>
          <p:cNvSpPr/>
          <p:nvPr/>
        </p:nvSpPr>
        <p:spPr>
          <a:xfrm>
            <a:off x="5981691" y="3579019"/>
            <a:ext cx="685884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0" name="Text 25"/>
          <p:cNvSpPr/>
          <p:nvPr/>
        </p:nvSpPr>
        <p:spPr>
          <a:xfrm>
            <a:off x="5981691" y="3579019"/>
            <a:ext cx="685884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785" dirty="0"/>
          </a:p>
        </p:txBody>
      </p:sp>
      <p:sp>
        <p:nvSpPr>
          <p:cNvPr id="31" name="Shape 26"/>
          <p:cNvSpPr/>
          <p:nvPr/>
        </p:nvSpPr>
        <p:spPr>
          <a:xfrm>
            <a:off x="457200" y="4286250"/>
            <a:ext cx="8229600" cy="85725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811" y="4486275"/>
            <a:ext cx="171450" cy="1714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168854" y="4454128"/>
            <a:ext cx="50223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 this workflow every time you work on your project!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28650" y="4772025"/>
            <a:ext cx="7886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This 6-step routine will become second nature with practice </a:t>
            </a:r>
            <a:endParaRPr lang="en-US" sz="942" dirty="0"/>
          </a:p>
        </p:txBody>
      </p:sp>
      <p:sp>
        <p:nvSpPr>
          <p:cNvPr id="35" name="Shape 29"/>
          <p:cNvSpPr/>
          <p:nvPr/>
        </p:nvSpPr>
        <p:spPr>
          <a:xfrm>
            <a:off x="457200" y="5372100"/>
            <a:ext cx="8229600" cy="48577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163" y="5550694"/>
            <a:ext cx="96441" cy="128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865062" y="5527477"/>
            <a:ext cx="4813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 Tip:</a:t>
            </a:r>
            <a:endParaRPr lang="en-US" sz="942" dirty="0"/>
          </a:p>
        </p:txBody>
      </p:sp>
      <p:sp>
        <p:nvSpPr>
          <p:cNvPr id="38" name="Text 31"/>
          <p:cNvSpPr/>
          <p:nvPr/>
        </p:nvSpPr>
        <p:spPr>
          <a:xfrm>
            <a:off x="3346372" y="5527477"/>
            <a:ext cx="30624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Always pull before starting work to avoid conflicts! </a:t>
            </a:r>
            <a:endParaRPr lang="en-US" sz="94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for Python &amp; Streamlit Projects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to track and what to ignore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343025"/>
            <a:ext cx="3971925" cy="280035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14475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1514475"/>
            <a:ext cx="18816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Commit These</a:t>
            </a:r>
            <a:endParaRPr lang="en-US" sz="1688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943100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4394" y="1943100"/>
            <a:ext cx="2280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Python code</a:t>
            </a:r>
            <a:endParaRPr lang="en-US" sz="1046" dirty="0"/>
          </a:p>
        </p:txBody>
      </p:sp>
      <p:sp>
        <p:nvSpPr>
          <p:cNvPr id="10" name="Text 5"/>
          <p:cNvSpPr/>
          <p:nvPr/>
        </p:nvSpPr>
        <p:spPr>
          <a:xfrm>
            <a:off x="864394" y="2143125"/>
            <a:ext cx="2280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.py files, including your Streamlit app</a:t>
            </a:r>
            <a:endParaRPr lang="en-US" sz="889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86025"/>
            <a:ext cx="128588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2963" y="2486025"/>
            <a:ext cx="18042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requirements.txt</a:t>
            </a:r>
            <a:endParaRPr lang="en-US" sz="1046" dirty="0"/>
          </a:p>
        </p:txBody>
      </p:sp>
      <p:sp>
        <p:nvSpPr>
          <p:cNvPr id="13" name="Text 7"/>
          <p:cNvSpPr/>
          <p:nvPr/>
        </p:nvSpPr>
        <p:spPr>
          <a:xfrm>
            <a:off x="842963" y="2686050"/>
            <a:ext cx="18042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Lists your project dependencies</a:t>
            </a:r>
            <a:endParaRPr lang="en-US" sz="889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028950"/>
            <a:ext cx="150019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4394" y="3028950"/>
            <a:ext cx="225728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README.md</a:t>
            </a:r>
            <a:endParaRPr lang="en-US" sz="1046" dirty="0"/>
          </a:p>
        </p:txBody>
      </p:sp>
      <p:sp>
        <p:nvSpPr>
          <p:cNvPr id="16" name="Text 9"/>
          <p:cNvSpPr/>
          <p:nvPr/>
        </p:nvSpPr>
        <p:spPr>
          <a:xfrm>
            <a:off x="864394" y="3228975"/>
            <a:ext cx="225728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documentation and instructions</a:t>
            </a:r>
            <a:endParaRPr lang="en-US" sz="889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571875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85825" y="3571875"/>
            <a:ext cx="14934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 files</a:t>
            </a:r>
            <a:endParaRPr lang="en-US" sz="1046" dirty="0"/>
          </a:p>
        </p:txBody>
      </p:sp>
      <p:sp>
        <p:nvSpPr>
          <p:cNvPr id="19" name="Text 11"/>
          <p:cNvSpPr/>
          <p:nvPr/>
        </p:nvSpPr>
        <p:spPr>
          <a:xfrm>
            <a:off x="885825" y="3771900"/>
            <a:ext cx="14934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Like .streamlit/config.toml</a:t>
            </a:r>
            <a:endParaRPr lang="en-US" sz="889" dirty="0"/>
          </a:p>
        </p:txBody>
      </p:sp>
      <p:sp>
        <p:nvSpPr>
          <p:cNvPr id="20" name="Shape 12"/>
          <p:cNvSpPr/>
          <p:nvPr/>
        </p:nvSpPr>
        <p:spPr>
          <a:xfrm>
            <a:off x="4714875" y="1343025"/>
            <a:ext cx="3971925" cy="2800350"/>
          </a:xfrm>
          <a:prstGeom prst="rect">
            <a:avLst/>
          </a:prstGeom>
          <a:solidFill>
            <a:srgbClr val="FFE8E8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1514475"/>
            <a:ext cx="257175" cy="2571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29225" y="1514475"/>
            <a:ext cx="223186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8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DON'T Commit These</a:t>
            </a:r>
            <a:endParaRPr lang="en-US" sz="1688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1943100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43500" y="1943100"/>
            <a:ext cx="29053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venv/ or env/</a:t>
            </a:r>
            <a:endParaRPr lang="en-US" sz="1046" dirty="0"/>
          </a:p>
        </p:txBody>
      </p:sp>
      <p:sp>
        <p:nvSpPr>
          <p:cNvPr id="25" name="Text 15"/>
          <p:cNvSpPr/>
          <p:nvPr/>
        </p:nvSpPr>
        <p:spPr>
          <a:xfrm>
            <a:off x="5143500" y="2143125"/>
            <a:ext cx="29053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Virtual environment folder (huge and unnecessary)</a:t>
            </a:r>
            <a:endParaRPr lang="en-US" sz="889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2486025"/>
            <a:ext cx="171450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43500" y="2486025"/>
            <a:ext cx="20190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__pycache__/</a:t>
            </a:r>
            <a:endParaRPr lang="en-US" sz="1046" dirty="0"/>
          </a:p>
        </p:txBody>
      </p:sp>
      <p:sp>
        <p:nvSpPr>
          <p:cNvPr id="28" name="Text 17"/>
          <p:cNvSpPr/>
          <p:nvPr/>
        </p:nvSpPr>
        <p:spPr>
          <a:xfrm>
            <a:off x="5143500" y="2686050"/>
            <a:ext cx="20190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cache files (auto-generated)</a:t>
            </a:r>
            <a:endParaRPr lang="en-US" sz="889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6325" y="3028950"/>
            <a:ext cx="128588" cy="1714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00638" y="3028950"/>
            <a:ext cx="22350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*.pyc files</a:t>
            </a:r>
            <a:endParaRPr lang="en-US" sz="1046" dirty="0"/>
          </a:p>
        </p:txBody>
      </p:sp>
      <p:sp>
        <p:nvSpPr>
          <p:cNvPr id="31" name="Text 19"/>
          <p:cNvSpPr/>
          <p:nvPr/>
        </p:nvSpPr>
        <p:spPr>
          <a:xfrm>
            <a:off x="5100638" y="3228975"/>
            <a:ext cx="22350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Compiled Python files (auto-generated)</a:t>
            </a:r>
            <a:endParaRPr lang="en-US" sz="889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325" y="3571875"/>
            <a:ext cx="171450" cy="17145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43500" y="3571875"/>
            <a:ext cx="25129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.env files</a:t>
            </a:r>
            <a:endParaRPr lang="en-US" sz="1046" dirty="0"/>
          </a:p>
        </p:txBody>
      </p:sp>
      <p:sp>
        <p:nvSpPr>
          <p:cNvPr id="34" name="Text 21"/>
          <p:cNvSpPr/>
          <p:nvPr/>
        </p:nvSpPr>
        <p:spPr>
          <a:xfrm>
            <a:off x="5143500" y="3771900"/>
            <a:ext cx="25129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Contains API keys and secrets (security risk!)</a:t>
            </a:r>
            <a:endParaRPr lang="en-US" sz="889" dirty="0"/>
          </a:p>
        </p:txBody>
      </p:sp>
      <p:sp>
        <p:nvSpPr>
          <p:cNvPr id="35" name="Shape 22"/>
          <p:cNvSpPr/>
          <p:nvPr/>
        </p:nvSpPr>
        <p:spPr>
          <a:xfrm>
            <a:off x="457200" y="4429125"/>
            <a:ext cx="8229600" cy="48577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8133" y="4600575"/>
            <a:ext cx="125016" cy="142875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2100318" y="4573786"/>
            <a:ext cx="3830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Next:</a:t>
            </a:r>
            <a:endParaRPr lang="en-US" sz="1046" dirty="0"/>
          </a:p>
        </p:txBody>
      </p:sp>
      <p:sp>
        <p:nvSpPr>
          <p:cNvPr id="38" name="Text 24"/>
          <p:cNvSpPr/>
          <p:nvPr/>
        </p:nvSpPr>
        <p:spPr>
          <a:xfrm>
            <a:off x="2483374" y="4573786"/>
            <a:ext cx="47224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Learn how to create a .gitignore file to automatically ignore these files </a:t>
            </a:r>
            <a:endParaRPr lang="en-US" sz="104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005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.gitignore for Python Projects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657225"/>
            <a:ext cx="845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Tell Git what files to automatically ignore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028700"/>
            <a:ext cx="4143375" cy="3628802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1575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513" y="1143000"/>
            <a:ext cx="15626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What is .gitignore?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57200" y="1469827"/>
            <a:ext cx="30870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special file that tells Git which files and folders to 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3544221" y="1469827"/>
            <a:ext cx="7339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never track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4278213" y="1469827"/>
            <a:ext cx="34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57200" y="1669852"/>
            <a:ext cx="33522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Once you create it, Git automatically ignores those files. 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57200" y="1943100"/>
            <a:ext cx="39147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create it: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457200" y="22127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567426" y="2212777"/>
            <a:ext cx="18593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VS Code Explorer, right-click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57200" y="24413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567426" y="2441377"/>
            <a:ext cx="4238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Select 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991251" y="2441377"/>
            <a:ext cx="6666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"New File"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457200" y="26699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567426" y="2669977"/>
            <a:ext cx="8378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Type exactly: </a:t>
            </a:r>
            <a:endParaRPr lang="en-US" sz="942" dirty="0"/>
          </a:p>
        </p:txBody>
      </p:sp>
      <p:sp>
        <p:nvSpPr>
          <p:cNvPr id="20" name="Text 16"/>
          <p:cNvSpPr/>
          <p:nvPr/>
        </p:nvSpPr>
        <p:spPr>
          <a:xfrm>
            <a:off x="1405310" y="2669977"/>
            <a:ext cx="6295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.gitignore</a:t>
            </a:r>
            <a:endParaRPr lang="en-US" sz="942" dirty="0"/>
          </a:p>
        </p:txBody>
      </p:sp>
      <p:sp>
        <p:nvSpPr>
          <p:cNvPr id="21" name="Text 17"/>
          <p:cNvSpPr/>
          <p:nvPr/>
        </p:nvSpPr>
        <p:spPr>
          <a:xfrm>
            <a:off x="457200" y="28985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567426" y="2898577"/>
            <a:ext cx="17742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Copy the example content →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457200" y="3127177"/>
            <a:ext cx="110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</a:t>
            </a:r>
            <a:endParaRPr lang="en-US" sz="942" dirty="0"/>
          </a:p>
        </p:txBody>
      </p:sp>
      <p:sp>
        <p:nvSpPr>
          <p:cNvPr id="24" name="Text 20"/>
          <p:cNvSpPr/>
          <p:nvPr/>
        </p:nvSpPr>
        <p:spPr>
          <a:xfrm>
            <a:off x="567426" y="3127177"/>
            <a:ext cx="7624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Save the file</a:t>
            </a:r>
            <a:endParaRPr lang="en-US" sz="942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064419"/>
            <a:ext cx="128588" cy="128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86313" y="1041202"/>
            <a:ext cx="17722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Example .gitignore content: </a:t>
            </a:r>
            <a:endParaRPr lang="en-US" sz="942" dirty="0"/>
          </a:p>
        </p:txBody>
      </p:sp>
      <p:sp>
        <p:nvSpPr>
          <p:cNvPr id="27" name="Shape 22"/>
          <p:cNvSpPr/>
          <p:nvPr/>
        </p:nvSpPr>
        <p:spPr>
          <a:xfrm>
            <a:off x="4657725" y="1285875"/>
            <a:ext cx="4143375" cy="3371627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3"/>
          <p:cNvSpPr/>
          <p:nvPr/>
        </p:nvSpPr>
        <p:spPr>
          <a:xfrm>
            <a:off x="4772025" y="1373386"/>
            <a:ext cx="1174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Virtual environment</a:t>
            </a:r>
            <a:endParaRPr lang="en-US" sz="837" dirty="0"/>
          </a:p>
        </p:txBody>
      </p:sp>
      <p:sp>
        <p:nvSpPr>
          <p:cNvPr id="29" name="Text 24"/>
          <p:cNvSpPr/>
          <p:nvPr/>
        </p:nvSpPr>
        <p:spPr>
          <a:xfrm>
            <a:off x="4772025" y="1533395"/>
            <a:ext cx="2937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venv/</a:t>
            </a:r>
            <a:endParaRPr lang="en-US" sz="837" dirty="0"/>
          </a:p>
        </p:txBody>
      </p:sp>
      <p:sp>
        <p:nvSpPr>
          <p:cNvPr id="30" name="Text 25"/>
          <p:cNvSpPr/>
          <p:nvPr/>
        </p:nvSpPr>
        <p:spPr>
          <a:xfrm>
            <a:off x="4772025" y="1693404"/>
            <a:ext cx="235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env/</a:t>
            </a:r>
            <a:endParaRPr lang="en-US" sz="837" dirty="0"/>
          </a:p>
        </p:txBody>
      </p:sp>
      <p:sp>
        <p:nvSpPr>
          <p:cNvPr id="31" name="Text 26"/>
          <p:cNvSpPr/>
          <p:nvPr/>
        </p:nvSpPr>
        <p:spPr>
          <a:xfrm>
            <a:off x="4772025" y="2013421"/>
            <a:ext cx="821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Python cache</a:t>
            </a:r>
            <a:endParaRPr lang="en-US" sz="837" dirty="0"/>
          </a:p>
        </p:txBody>
      </p:sp>
      <p:sp>
        <p:nvSpPr>
          <p:cNvPr id="32" name="Text 27"/>
          <p:cNvSpPr/>
          <p:nvPr/>
        </p:nvSpPr>
        <p:spPr>
          <a:xfrm>
            <a:off x="4772025" y="2173430"/>
            <a:ext cx="6807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__pycache__/</a:t>
            </a:r>
            <a:endParaRPr lang="en-US" sz="837" dirty="0"/>
          </a:p>
        </p:txBody>
      </p:sp>
      <p:sp>
        <p:nvSpPr>
          <p:cNvPr id="33" name="Text 28"/>
          <p:cNvSpPr/>
          <p:nvPr/>
        </p:nvSpPr>
        <p:spPr>
          <a:xfrm>
            <a:off x="4772025" y="2333439"/>
            <a:ext cx="274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*.pyc</a:t>
            </a:r>
            <a:endParaRPr lang="en-US" sz="837" dirty="0"/>
          </a:p>
        </p:txBody>
      </p:sp>
      <p:sp>
        <p:nvSpPr>
          <p:cNvPr id="34" name="Text 29"/>
          <p:cNvSpPr/>
          <p:nvPr/>
        </p:nvSpPr>
        <p:spPr>
          <a:xfrm>
            <a:off x="4772025" y="2493448"/>
            <a:ext cx="2890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*.pyo</a:t>
            </a:r>
            <a:endParaRPr lang="en-US" sz="837" dirty="0"/>
          </a:p>
        </p:txBody>
      </p:sp>
      <p:sp>
        <p:nvSpPr>
          <p:cNvPr id="35" name="Text 30"/>
          <p:cNvSpPr/>
          <p:nvPr/>
        </p:nvSpPr>
        <p:spPr>
          <a:xfrm>
            <a:off x="4772025" y="2813465"/>
            <a:ext cx="13049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Environment variables</a:t>
            </a:r>
            <a:endParaRPr lang="en-US" sz="837" dirty="0"/>
          </a:p>
        </p:txBody>
      </p:sp>
      <p:sp>
        <p:nvSpPr>
          <p:cNvPr id="36" name="Text 31"/>
          <p:cNvSpPr/>
          <p:nvPr/>
        </p:nvSpPr>
        <p:spPr>
          <a:xfrm>
            <a:off x="4772025" y="2973474"/>
            <a:ext cx="223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.env</a:t>
            </a:r>
            <a:endParaRPr lang="en-US" sz="837" dirty="0"/>
          </a:p>
        </p:txBody>
      </p:sp>
      <p:sp>
        <p:nvSpPr>
          <p:cNvPr id="37" name="Text 32"/>
          <p:cNvSpPr/>
          <p:nvPr/>
        </p:nvSpPr>
        <p:spPr>
          <a:xfrm>
            <a:off x="4772025" y="3133483"/>
            <a:ext cx="4969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.env.local</a:t>
            </a:r>
            <a:endParaRPr lang="en-US" sz="837" dirty="0"/>
          </a:p>
        </p:txBody>
      </p:sp>
      <p:sp>
        <p:nvSpPr>
          <p:cNvPr id="38" name="Text 33"/>
          <p:cNvSpPr/>
          <p:nvPr/>
        </p:nvSpPr>
        <p:spPr>
          <a:xfrm>
            <a:off x="4772025" y="3453501"/>
            <a:ext cx="745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IDE settings</a:t>
            </a:r>
            <a:endParaRPr lang="en-US" sz="837" dirty="0"/>
          </a:p>
        </p:txBody>
      </p:sp>
      <p:sp>
        <p:nvSpPr>
          <p:cNvPr id="39" name="Text 34"/>
          <p:cNvSpPr/>
          <p:nvPr/>
        </p:nvSpPr>
        <p:spPr>
          <a:xfrm>
            <a:off x="4772025" y="3613510"/>
            <a:ext cx="4447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.vscode/</a:t>
            </a:r>
            <a:endParaRPr lang="en-US" sz="837" dirty="0"/>
          </a:p>
        </p:txBody>
      </p:sp>
      <p:sp>
        <p:nvSpPr>
          <p:cNvPr id="40" name="Text 35"/>
          <p:cNvSpPr/>
          <p:nvPr/>
        </p:nvSpPr>
        <p:spPr>
          <a:xfrm>
            <a:off x="4772025" y="3773519"/>
            <a:ext cx="301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.idea/</a:t>
            </a:r>
            <a:endParaRPr lang="en-US" sz="837" dirty="0"/>
          </a:p>
        </p:txBody>
      </p:sp>
      <p:sp>
        <p:nvSpPr>
          <p:cNvPr id="41" name="Text 36"/>
          <p:cNvSpPr/>
          <p:nvPr/>
        </p:nvSpPr>
        <p:spPr>
          <a:xfrm>
            <a:off x="4772025" y="4093536"/>
            <a:ext cx="5028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OS files</a:t>
            </a:r>
            <a:endParaRPr lang="en-US" sz="837" dirty="0"/>
          </a:p>
        </p:txBody>
      </p:sp>
      <p:sp>
        <p:nvSpPr>
          <p:cNvPr id="42" name="Text 37"/>
          <p:cNvSpPr/>
          <p:nvPr/>
        </p:nvSpPr>
        <p:spPr>
          <a:xfrm>
            <a:off x="4772025" y="4253545"/>
            <a:ext cx="5101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.DS_Store</a:t>
            </a:r>
            <a:endParaRPr lang="en-US" sz="837" dirty="0"/>
          </a:p>
        </p:txBody>
      </p:sp>
      <p:sp>
        <p:nvSpPr>
          <p:cNvPr id="43" name="Text 38"/>
          <p:cNvSpPr/>
          <p:nvPr/>
        </p:nvSpPr>
        <p:spPr>
          <a:xfrm>
            <a:off x="4772025" y="4413554"/>
            <a:ext cx="607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Thumbs.db </a:t>
            </a:r>
            <a:endParaRPr lang="en-US" sz="837" dirty="0"/>
          </a:p>
        </p:txBody>
      </p:sp>
      <p:sp>
        <p:nvSpPr>
          <p:cNvPr id="44" name="Shape 39"/>
          <p:cNvSpPr/>
          <p:nvPr/>
        </p:nvSpPr>
        <p:spPr>
          <a:xfrm>
            <a:off x="342900" y="4800377"/>
            <a:ext cx="8458200" cy="65722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432" y="4943252"/>
            <a:ext cx="142875" cy="142875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3320476" y="4916463"/>
            <a:ext cx="26830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this BEFORE your first commit!</a:t>
            </a:r>
            <a:endParaRPr lang="en-US" sz="1046" dirty="0"/>
          </a:p>
        </p:txBody>
      </p:sp>
      <p:sp>
        <p:nvSpPr>
          <p:cNvPr id="47" name="Text 41"/>
          <p:cNvSpPr/>
          <p:nvPr/>
        </p:nvSpPr>
        <p:spPr>
          <a:xfrm>
            <a:off x="457200" y="5171852"/>
            <a:ext cx="8229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Prevents accidentally committing large files or secrets. If you already committed venv/ by mistake, ask for help to remove it. </a:t>
            </a:r>
            <a:endParaRPr lang="en-US" sz="83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73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VS Code Git Operations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685800"/>
            <a:ext cx="845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Quick reference for common tasks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085850"/>
            <a:ext cx="8458200" cy="3750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085850"/>
            <a:ext cx="2537454" cy="37504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342900" y="1085850"/>
            <a:ext cx="2537454" cy="37504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9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you want to do</a:t>
            </a:r>
            <a:endParaRPr lang="en-US" sz="994" dirty="0"/>
          </a:p>
        </p:txBody>
      </p:sp>
      <p:sp>
        <p:nvSpPr>
          <p:cNvPr id="8" name="Shape 5"/>
          <p:cNvSpPr/>
          <p:nvPr/>
        </p:nvSpPr>
        <p:spPr>
          <a:xfrm>
            <a:off x="2880354" y="1085850"/>
            <a:ext cx="2960359" cy="375047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54" y="1205508"/>
            <a:ext cx="119658" cy="1357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14312" y="1180505"/>
            <a:ext cx="111503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9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VS Code Method</a:t>
            </a:r>
            <a:endParaRPr lang="en-US" sz="994" dirty="0"/>
          </a:p>
        </p:txBody>
      </p:sp>
      <p:sp>
        <p:nvSpPr>
          <p:cNvPr id="11" name="Shape 7"/>
          <p:cNvSpPr/>
          <p:nvPr/>
        </p:nvSpPr>
        <p:spPr>
          <a:xfrm>
            <a:off x="5840713" y="1085850"/>
            <a:ext cx="2960387" cy="375047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13" y="1205508"/>
            <a:ext cx="153591" cy="1357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08604" y="1180505"/>
            <a:ext cx="1335742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94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</a:t>
            </a:r>
            <a:endParaRPr lang="en-US" sz="994" dirty="0"/>
          </a:p>
        </p:txBody>
      </p:sp>
      <p:sp>
        <p:nvSpPr>
          <p:cNvPr id="14" name="Shape 9"/>
          <p:cNvSpPr/>
          <p:nvPr/>
        </p:nvSpPr>
        <p:spPr>
          <a:xfrm>
            <a:off x="342900" y="1460897"/>
            <a:ext cx="8458200" cy="33754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0"/>
          <p:cNvSpPr/>
          <p:nvPr/>
        </p:nvSpPr>
        <p:spPr>
          <a:xfrm>
            <a:off x="342900" y="1460897"/>
            <a:ext cx="2537454" cy="33754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tracking a project</a:t>
            </a:r>
            <a:endParaRPr lang="en-US" sz="889" dirty="0"/>
          </a:p>
        </p:txBody>
      </p:sp>
      <p:sp>
        <p:nvSpPr>
          <p:cNvPr id="16" name="Text 11"/>
          <p:cNvSpPr/>
          <p:nvPr/>
        </p:nvSpPr>
        <p:spPr>
          <a:xfrm>
            <a:off x="2880354" y="1460897"/>
            <a:ext cx="2960359" cy="33754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Control → Initialize Repository</a:t>
            </a:r>
            <a:endParaRPr lang="en-US" sz="889" dirty="0"/>
          </a:p>
        </p:txBody>
      </p:sp>
      <p:sp>
        <p:nvSpPr>
          <p:cNvPr id="17" name="Shape 12"/>
          <p:cNvSpPr/>
          <p:nvPr/>
        </p:nvSpPr>
        <p:spPr>
          <a:xfrm>
            <a:off x="5955013" y="1553766"/>
            <a:ext cx="657309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Text 13"/>
          <p:cNvSpPr/>
          <p:nvPr/>
        </p:nvSpPr>
        <p:spPr>
          <a:xfrm>
            <a:off x="5955013" y="1553766"/>
            <a:ext cx="657309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785" dirty="0"/>
          </a:p>
        </p:txBody>
      </p:sp>
      <p:sp>
        <p:nvSpPr>
          <p:cNvPr id="19" name="Shape 14"/>
          <p:cNvSpPr/>
          <p:nvPr/>
        </p:nvSpPr>
        <p:spPr>
          <a:xfrm>
            <a:off x="342900" y="1798439"/>
            <a:ext cx="8458200" cy="341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342900" y="1798439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 a GitHub project</a:t>
            </a:r>
            <a:endParaRPr lang="en-US" sz="889" dirty="0"/>
          </a:p>
        </p:txBody>
      </p:sp>
      <p:sp>
        <p:nvSpPr>
          <p:cNvPr id="21" name="Text 16"/>
          <p:cNvSpPr/>
          <p:nvPr/>
        </p:nvSpPr>
        <p:spPr>
          <a:xfrm>
            <a:off x="2880354" y="1798439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Command Palette → Git: Clone</a:t>
            </a:r>
            <a:endParaRPr lang="en-US" sz="889" dirty="0"/>
          </a:p>
        </p:txBody>
      </p:sp>
      <p:sp>
        <p:nvSpPr>
          <p:cNvPr id="22" name="Shape 17"/>
          <p:cNvSpPr/>
          <p:nvPr/>
        </p:nvSpPr>
        <p:spPr>
          <a:xfrm>
            <a:off x="5955013" y="1894880"/>
            <a:ext cx="1107449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8"/>
          <p:cNvSpPr/>
          <p:nvPr/>
        </p:nvSpPr>
        <p:spPr>
          <a:xfrm>
            <a:off x="5955013" y="1894880"/>
            <a:ext cx="1107449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785" dirty="0"/>
          </a:p>
        </p:txBody>
      </p:sp>
      <p:sp>
        <p:nvSpPr>
          <p:cNvPr id="24" name="Shape 19"/>
          <p:cNvSpPr/>
          <p:nvPr/>
        </p:nvSpPr>
        <p:spPr>
          <a:xfrm>
            <a:off x="342900" y="2139553"/>
            <a:ext cx="8458200" cy="34111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0"/>
          <p:cNvSpPr/>
          <p:nvPr/>
        </p:nvSpPr>
        <p:spPr>
          <a:xfrm>
            <a:off x="342900" y="2139553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 what changed</a:t>
            </a:r>
            <a:endParaRPr lang="en-US" sz="889" dirty="0"/>
          </a:p>
        </p:txBody>
      </p:sp>
      <p:sp>
        <p:nvSpPr>
          <p:cNvPr id="26" name="Text 21"/>
          <p:cNvSpPr/>
          <p:nvPr/>
        </p:nvSpPr>
        <p:spPr>
          <a:xfrm>
            <a:off x="2880354" y="2139553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 Control panel</a:t>
            </a:r>
            <a:endParaRPr lang="en-US" sz="889" dirty="0"/>
          </a:p>
        </p:txBody>
      </p:sp>
      <p:sp>
        <p:nvSpPr>
          <p:cNvPr id="27" name="Shape 22"/>
          <p:cNvSpPr/>
          <p:nvPr/>
        </p:nvSpPr>
        <p:spPr>
          <a:xfrm>
            <a:off x="5955013" y="2235994"/>
            <a:ext cx="785924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8" name="Text 23"/>
          <p:cNvSpPr/>
          <p:nvPr/>
        </p:nvSpPr>
        <p:spPr>
          <a:xfrm>
            <a:off x="5955013" y="2235994"/>
            <a:ext cx="785924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785" dirty="0"/>
          </a:p>
        </p:txBody>
      </p:sp>
      <p:sp>
        <p:nvSpPr>
          <p:cNvPr id="29" name="Shape 24"/>
          <p:cNvSpPr/>
          <p:nvPr/>
        </p:nvSpPr>
        <p:spPr>
          <a:xfrm>
            <a:off x="342900" y="2480667"/>
            <a:ext cx="8458200" cy="341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342900" y="2480667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 files to save</a:t>
            </a:r>
            <a:endParaRPr lang="en-US" sz="889" dirty="0"/>
          </a:p>
        </p:txBody>
      </p:sp>
      <p:sp>
        <p:nvSpPr>
          <p:cNvPr id="31" name="Text 26"/>
          <p:cNvSpPr/>
          <p:nvPr/>
        </p:nvSpPr>
        <p:spPr>
          <a:xfrm>
            <a:off x="2880354" y="2480667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+ on files</a:t>
            </a:r>
            <a:endParaRPr lang="en-US" sz="889" dirty="0"/>
          </a:p>
        </p:txBody>
      </p:sp>
      <p:sp>
        <p:nvSpPr>
          <p:cNvPr id="32" name="Shape 27"/>
          <p:cNvSpPr/>
          <p:nvPr/>
        </p:nvSpPr>
        <p:spPr>
          <a:xfrm>
            <a:off x="5955013" y="2577108"/>
            <a:ext cx="721630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3" name="Text 28"/>
          <p:cNvSpPr/>
          <p:nvPr/>
        </p:nvSpPr>
        <p:spPr>
          <a:xfrm>
            <a:off x="5955013" y="2577108"/>
            <a:ext cx="721630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785" dirty="0"/>
          </a:p>
        </p:txBody>
      </p:sp>
      <p:sp>
        <p:nvSpPr>
          <p:cNvPr id="34" name="Shape 29"/>
          <p:cNvSpPr/>
          <p:nvPr/>
        </p:nvSpPr>
        <p:spPr>
          <a:xfrm>
            <a:off x="342900" y="2821781"/>
            <a:ext cx="8458200" cy="34111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Text 30"/>
          <p:cNvSpPr/>
          <p:nvPr/>
        </p:nvSpPr>
        <p:spPr>
          <a:xfrm>
            <a:off x="342900" y="2821781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 a snapshot</a:t>
            </a:r>
            <a:endParaRPr lang="en-US" sz="889" dirty="0"/>
          </a:p>
        </p:txBody>
      </p:sp>
      <p:sp>
        <p:nvSpPr>
          <p:cNvPr id="36" name="Text 31"/>
          <p:cNvSpPr/>
          <p:nvPr/>
        </p:nvSpPr>
        <p:spPr>
          <a:xfrm>
            <a:off x="2880354" y="2821781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 message, click ✓</a:t>
            </a:r>
            <a:endParaRPr lang="en-US" sz="889" dirty="0"/>
          </a:p>
        </p:txBody>
      </p:sp>
      <p:sp>
        <p:nvSpPr>
          <p:cNvPr id="37" name="Shape 32"/>
          <p:cNvSpPr/>
          <p:nvPr/>
        </p:nvSpPr>
        <p:spPr>
          <a:xfrm>
            <a:off x="5955013" y="2918222"/>
            <a:ext cx="1621882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8" name="Text 33"/>
          <p:cNvSpPr/>
          <p:nvPr/>
        </p:nvSpPr>
        <p:spPr>
          <a:xfrm>
            <a:off x="5955013" y="2918222"/>
            <a:ext cx="1621882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785" dirty="0"/>
          </a:p>
        </p:txBody>
      </p:sp>
      <p:sp>
        <p:nvSpPr>
          <p:cNvPr id="39" name="Shape 34"/>
          <p:cNvSpPr/>
          <p:nvPr/>
        </p:nvSpPr>
        <p:spPr>
          <a:xfrm>
            <a:off x="342900" y="3162895"/>
            <a:ext cx="8458200" cy="341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5"/>
          <p:cNvSpPr/>
          <p:nvPr/>
        </p:nvSpPr>
        <p:spPr>
          <a:xfrm>
            <a:off x="342900" y="3162895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to GitHub</a:t>
            </a:r>
            <a:endParaRPr lang="en-US" sz="889" dirty="0"/>
          </a:p>
        </p:txBody>
      </p:sp>
      <p:sp>
        <p:nvSpPr>
          <p:cNvPr id="41" name="Text 36"/>
          <p:cNvSpPr/>
          <p:nvPr/>
        </p:nvSpPr>
        <p:spPr>
          <a:xfrm>
            <a:off x="2880354" y="3162895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... menu → Push</a:t>
            </a:r>
            <a:endParaRPr lang="en-US" sz="889" dirty="0"/>
          </a:p>
        </p:txBody>
      </p:sp>
      <p:sp>
        <p:nvSpPr>
          <p:cNvPr id="42" name="Shape 37"/>
          <p:cNvSpPr/>
          <p:nvPr/>
        </p:nvSpPr>
        <p:spPr>
          <a:xfrm>
            <a:off x="5955013" y="3259336"/>
            <a:ext cx="657309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3" name="Text 38"/>
          <p:cNvSpPr/>
          <p:nvPr/>
        </p:nvSpPr>
        <p:spPr>
          <a:xfrm>
            <a:off x="5955013" y="3259336"/>
            <a:ext cx="657309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785" dirty="0"/>
          </a:p>
        </p:txBody>
      </p:sp>
      <p:sp>
        <p:nvSpPr>
          <p:cNvPr id="44" name="Shape 39"/>
          <p:cNvSpPr/>
          <p:nvPr/>
        </p:nvSpPr>
        <p:spPr>
          <a:xfrm>
            <a:off x="342900" y="3504009"/>
            <a:ext cx="8458200" cy="34111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Text 40"/>
          <p:cNvSpPr/>
          <p:nvPr/>
        </p:nvSpPr>
        <p:spPr>
          <a:xfrm>
            <a:off x="342900" y="3504009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from GitHub</a:t>
            </a:r>
            <a:endParaRPr lang="en-US" sz="889" dirty="0"/>
          </a:p>
        </p:txBody>
      </p:sp>
      <p:sp>
        <p:nvSpPr>
          <p:cNvPr id="46" name="Text 41"/>
          <p:cNvSpPr/>
          <p:nvPr/>
        </p:nvSpPr>
        <p:spPr>
          <a:xfrm>
            <a:off x="2880354" y="3504009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... menu → Pull</a:t>
            </a:r>
            <a:endParaRPr lang="en-US" sz="889" dirty="0"/>
          </a:p>
        </p:txBody>
      </p:sp>
      <p:sp>
        <p:nvSpPr>
          <p:cNvPr id="47" name="Shape 42"/>
          <p:cNvSpPr/>
          <p:nvPr/>
        </p:nvSpPr>
        <p:spPr>
          <a:xfrm>
            <a:off x="5955013" y="3600450"/>
            <a:ext cx="657309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8" name="Text 43"/>
          <p:cNvSpPr/>
          <p:nvPr/>
        </p:nvSpPr>
        <p:spPr>
          <a:xfrm>
            <a:off x="5955013" y="3600450"/>
            <a:ext cx="657309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785" dirty="0"/>
          </a:p>
        </p:txBody>
      </p:sp>
      <p:sp>
        <p:nvSpPr>
          <p:cNvPr id="49" name="Shape 44"/>
          <p:cNvSpPr/>
          <p:nvPr/>
        </p:nvSpPr>
        <p:spPr>
          <a:xfrm>
            <a:off x="342900" y="3845123"/>
            <a:ext cx="8458200" cy="341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5"/>
          <p:cNvSpPr/>
          <p:nvPr/>
        </p:nvSpPr>
        <p:spPr>
          <a:xfrm>
            <a:off x="342900" y="3845123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 history</a:t>
            </a:r>
            <a:endParaRPr lang="en-US" sz="889" dirty="0"/>
          </a:p>
        </p:txBody>
      </p:sp>
      <p:sp>
        <p:nvSpPr>
          <p:cNvPr id="51" name="Text 46"/>
          <p:cNvSpPr/>
          <p:nvPr/>
        </p:nvSpPr>
        <p:spPr>
          <a:xfrm>
            <a:off x="2880354" y="3845123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Timeline view or Git Graph</a:t>
            </a:r>
            <a:endParaRPr lang="en-US" sz="889" dirty="0"/>
          </a:p>
        </p:txBody>
      </p:sp>
      <p:sp>
        <p:nvSpPr>
          <p:cNvPr id="52" name="Shape 47"/>
          <p:cNvSpPr/>
          <p:nvPr/>
        </p:nvSpPr>
        <p:spPr>
          <a:xfrm>
            <a:off x="5955013" y="3941564"/>
            <a:ext cx="593015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3" name="Text 48"/>
          <p:cNvSpPr/>
          <p:nvPr/>
        </p:nvSpPr>
        <p:spPr>
          <a:xfrm>
            <a:off x="5955013" y="3941564"/>
            <a:ext cx="593015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785" dirty="0"/>
          </a:p>
        </p:txBody>
      </p:sp>
      <p:sp>
        <p:nvSpPr>
          <p:cNvPr id="54" name="Shape 49"/>
          <p:cNvSpPr/>
          <p:nvPr/>
        </p:nvSpPr>
        <p:spPr>
          <a:xfrm>
            <a:off x="342900" y="4186238"/>
            <a:ext cx="8458200" cy="34111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Text 50"/>
          <p:cNvSpPr/>
          <p:nvPr/>
        </p:nvSpPr>
        <p:spPr>
          <a:xfrm>
            <a:off x="342900" y="4186238"/>
            <a:ext cx="2537454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 to GitHub</a:t>
            </a:r>
            <a:endParaRPr lang="en-US" sz="889" dirty="0"/>
          </a:p>
        </p:txBody>
      </p:sp>
      <p:sp>
        <p:nvSpPr>
          <p:cNvPr id="56" name="Text 51"/>
          <p:cNvSpPr/>
          <p:nvPr/>
        </p:nvSpPr>
        <p:spPr>
          <a:xfrm>
            <a:off x="2880354" y="4186238"/>
            <a:ext cx="2960359" cy="34111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Publish to GitHub button</a:t>
            </a:r>
            <a:endParaRPr lang="en-US" sz="889" dirty="0"/>
          </a:p>
        </p:txBody>
      </p:sp>
      <p:sp>
        <p:nvSpPr>
          <p:cNvPr id="57" name="Shape 52"/>
          <p:cNvSpPr/>
          <p:nvPr/>
        </p:nvSpPr>
        <p:spPr>
          <a:xfrm>
            <a:off x="5955013" y="4282678"/>
            <a:ext cx="1879113" cy="17859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8" name="Text 53"/>
          <p:cNvSpPr/>
          <p:nvPr/>
        </p:nvSpPr>
        <p:spPr>
          <a:xfrm>
            <a:off x="5955013" y="4282678"/>
            <a:ext cx="1879113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&lt;url&gt;</a:t>
            </a:r>
            <a:endParaRPr lang="en-US" sz="785" dirty="0"/>
          </a:p>
        </p:txBody>
      </p:sp>
      <p:sp>
        <p:nvSpPr>
          <p:cNvPr id="59" name="Shape 54"/>
          <p:cNvSpPr/>
          <p:nvPr/>
        </p:nvSpPr>
        <p:spPr>
          <a:xfrm>
            <a:off x="342900" y="4702373"/>
            <a:ext cx="8458200" cy="42862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252" y="4852392"/>
            <a:ext cx="96441" cy="12858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2866151" y="4829175"/>
            <a:ext cx="231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Tip:</a:t>
            </a:r>
            <a:endParaRPr lang="en-US" sz="942" dirty="0"/>
          </a:p>
        </p:txBody>
      </p:sp>
      <p:sp>
        <p:nvSpPr>
          <p:cNvPr id="62" name="Text 56"/>
          <p:cNvSpPr/>
          <p:nvPr/>
        </p:nvSpPr>
        <p:spPr>
          <a:xfrm>
            <a:off x="3097876" y="4829175"/>
            <a:ext cx="33098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Bookmark this slide for quick reference while working! </a:t>
            </a:r>
            <a:endParaRPr lang="en-US" sz="94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29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Git Messages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VS Code is telling you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12858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Status Indicators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728788"/>
            <a:ext cx="22860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7287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71525" y="1657350"/>
            <a:ext cx="9162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Modified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71525" y="1857375"/>
            <a:ext cx="9162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was changed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2557463" y="1728788"/>
            <a:ext cx="228600" cy="228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8"/>
          <p:cNvSpPr/>
          <p:nvPr/>
        </p:nvSpPr>
        <p:spPr>
          <a:xfrm>
            <a:off x="2557463" y="17287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871788" y="1657350"/>
            <a:ext cx="6555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Untracked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871788" y="1857375"/>
            <a:ext cx="6555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file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4657725" y="1728788"/>
            <a:ext cx="2286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2"/>
          <p:cNvSpPr/>
          <p:nvPr/>
        </p:nvSpPr>
        <p:spPr>
          <a:xfrm>
            <a:off x="4657725" y="17287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972050" y="1657350"/>
            <a:ext cx="6884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Deleted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972050" y="1857375"/>
            <a:ext cx="6884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removed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6757988" y="1728788"/>
            <a:ext cx="228600" cy="2286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/>
          <p:nvPr/>
        </p:nvSpPr>
        <p:spPr>
          <a:xfrm>
            <a:off x="6757988" y="17287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7072313" y="1657350"/>
            <a:ext cx="8262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Added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7072313" y="1857375"/>
            <a:ext cx="826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file staged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457200" y="225742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Messages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200" y="2628900"/>
            <a:ext cx="4029075" cy="7143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807494"/>
            <a:ext cx="128588" cy="128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8663" y="2784277"/>
            <a:ext cx="8863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"No changes" </a:t>
            </a:r>
            <a:endParaRPr lang="en-US" sz="942" dirty="0"/>
          </a:p>
        </p:txBody>
      </p:sp>
      <p:sp>
        <p:nvSpPr>
          <p:cNvPr id="26" name="Text 22"/>
          <p:cNvSpPr/>
          <p:nvPr/>
        </p:nvSpPr>
        <p:spPr>
          <a:xfrm>
            <a:off x="600075" y="302895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Everything is committed, nothing to save</a:t>
            </a:r>
            <a:endParaRPr lang="en-US" sz="837" dirty="0"/>
          </a:p>
        </p:txBody>
      </p:sp>
      <p:sp>
        <p:nvSpPr>
          <p:cNvPr id="27" name="Shape 23"/>
          <p:cNvSpPr/>
          <p:nvPr/>
        </p:nvSpPr>
        <p:spPr>
          <a:xfrm>
            <a:off x="4657725" y="2628900"/>
            <a:ext cx="4029075" cy="71437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807494"/>
            <a:ext cx="128588" cy="128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929188" y="2784277"/>
            <a:ext cx="1010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"Sync Changes" </a:t>
            </a:r>
            <a:endParaRPr lang="en-US" sz="942" dirty="0"/>
          </a:p>
        </p:txBody>
      </p:sp>
      <p:sp>
        <p:nvSpPr>
          <p:cNvPr id="30" name="Text 25"/>
          <p:cNvSpPr/>
          <p:nvPr/>
        </p:nvSpPr>
        <p:spPr>
          <a:xfrm>
            <a:off x="4800600" y="302895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and pull at the same time</a:t>
            </a:r>
            <a:endParaRPr lang="en-US" sz="837" dirty="0"/>
          </a:p>
        </p:txBody>
      </p:sp>
      <p:sp>
        <p:nvSpPr>
          <p:cNvPr id="31" name="Shape 26"/>
          <p:cNvSpPr/>
          <p:nvPr/>
        </p:nvSpPr>
        <p:spPr>
          <a:xfrm>
            <a:off x="457200" y="3514725"/>
            <a:ext cx="4029075" cy="71437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693319"/>
            <a:ext cx="160734" cy="128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0809" y="3670102"/>
            <a:ext cx="10872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"Publish Branch" </a:t>
            </a:r>
            <a:endParaRPr lang="en-US" sz="942" dirty="0"/>
          </a:p>
        </p:txBody>
      </p:sp>
      <p:sp>
        <p:nvSpPr>
          <p:cNvPr id="34" name="Text 28"/>
          <p:cNvSpPr/>
          <p:nvPr/>
        </p:nvSpPr>
        <p:spPr>
          <a:xfrm>
            <a:off x="600075" y="39147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time pushing to GitHub</a:t>
            </a:r>
            <a:endParaRPr lang="en-US" sz="837" dirty="0"/>
          </a:p>
        </p:txBody>
      </p:sp>
      <p:sp>
        <p:nvSpPr>
          <p:cNvPr id="35" name="Shape 29"/>
          <p:cNvSpPr/>
          <p:nvPr/>
        </p:nvSpPr>
        <p:spPr>
          <a:xfrm>
            <a:off x="4657725" y="3514725"/>
            <a:ext cx="4029075" cy="714375"/>
          </a:xfrm>
          <a:prstGeom prst="rect">
            <a:avLst/>
          </a:prstGeom>
          <a:solidFill>
            <a:srgbClr val="FFE8E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693319"/>
            <a:ext cx="128588" cy="128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929188" y="3670102"/>
            <a:ext cx="10532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"Merge conflict" </a:t>
            </a:r>
            <a:endParaRPr lang="en-US" sz="942" dirty="0"/>
          </a:p>
        </p:txBody>
      </p:sp>
      <p:sp>
        <p:nvSpPr>
          <p:cNvPr id="38" name="Text 31"/>
          <p:cNvSpPr/>
          <p:nvPr/>
        </p:nvSpPr>
        <p:spPr>
          <a:xfrm>
            <a:off x="4800600" y="39147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people changed same line (advanced)</a:t>
            </a:r>
            <a:endParaRPr lang="en-US" sz="837" dirty="0"/>
          </a:p>
        </p:txBody>
      </p:sp>
      <p:sp>
        <p:nvSpPr>
          <p:cNvPr id="39" name="Shape 32"/>
          <p:cNvSpPr/>
          <p:nvPr/>
        </p:nvSpPr>
        <p:spPr>
          <a:xfrm>
            <a:off x="457200" y="4457700"/>
            <a:ext cx="8229600" cy="11144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0" name="Text 33"/>
          <p:cNvSpPr/>
          <p:nvPr/>
        </p:nvSpPr>
        <p:spPr>
          <a:xfrm>
            <a:off x="628650" y="4629150"/>
            <a:ext cx="7886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Bar Indicators (bottom of VS Code)</a:t>
            </a:r>
            <a:endParaRPr lang="en-US" sz="135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000625"/>
            <a:ext cx="267891" cy="214313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10841" y="5000625"/>
            <a:ext cx="10748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with arrow</a:t>
            </a:r>
            <a:endParaRPr lang="en-US" sz="942" dirty="0"/>
          </a:p>
        </p:txBody>
      </p:sp>
      <p:sp>
        <p:nvSpPr>
          <p:cNvPr id="43" name="Text 35"/>
          <p:cNvSpPr/>
          <p:nvPr/>
        </p:nvSpPr>
        <p:spPr>
          <a:xfrm>
            <a:off x="1010841" y="5229225"/>
            <a:ext cx="10748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Push/pull available</a:t>
            </a:r>
            <a:endParaRPr lang="en-US" sz="837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5000625"/>
            <a:ext cx="187523" cy="21431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635555" y="5000625"/>
            <a:ext cx="20390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Branch icon</a:t>
            </a:r>
            <a:endParaRPr lang="en-US" sz="942" dirty="0"/>
          </a:p>
        </p:txBody>
      </p:sp>
      <p:sp>
        <p:nvSpPr>
          <p:cNvPr id="46" name="Text 37"/>
          <p:cNvSpPr/>
          <p:nvPr/>
        </p:nvSpPr>
        <p:spPr>
          <a:xfrm>
            <a:off x="3635555" y="5229225"/>
            <a:ext cx="203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current branch (usually "main")</a:t>
            </a:r>
            <a:endParaRPr lang="en-US" sz="837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41" y="5000625"/>
            <a:ext cx="214313" cy="214313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367453" y="5000625"/>
            <a:ext cx="17561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 icon</a:t>
            </a:r>
            <a:endParaRPr lang="en-US" sz="942" dirty="0"/>
          </a:p>
        </p:txBody>
      </p:sp>
      <p:sp>
        <p:nvSpPr>
          <p:cNvPr id="49" name="Text 39"/>
          <p:cNvSpPr/>
          <p:nvPr/>
        </p:nvSpPr>
        <p:spPr>
          <a:xfrm>
            <a:off x="6367453" y="5229225"/>
            <a:ext cx="17561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Number of commits to push/pull</a:t>
            </a:r>
            <a:endParaRPr lang="en-US" sz="83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43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Practices for Beginners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001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rules to avoid problems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257300"/>
            <a:ext cx="4029075" cy="145732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414463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1400175"/>
            <a:ext cx="1272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 Messages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600075" y="17145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Write clear, short descriptions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600075" y="19431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Use present tense: "Add feature" not "Added feature"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600075" y="21717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Be specific: "Fix login button" not "Fixed stuff"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4657725" y="1257300"/>
            <a:ext cx="4029075" cy="145732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14463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57775" y="1400175"/>
            <a:ext cx="11755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to Commit</a:t>
            </a:r>
            <a:endParaRPr lang="en-US" sz="1046" dirty="0"/>
          </a:p>
        </p:txBody>
      </p:sp>
      <p:sp>
        <p:nvSpPr>
          <p:cNvPr id="14" name="Text 9"/>
          <p:cNvSpPr/>
          <p:nvPr/>
        </p:nvSpPr>
        <p:spPr>
          <a:xfrm>
            <a:off x="4800600" y="17145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After completing a small task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4800600" y="19431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Before trying something risky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4800600" y="21717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At the end of each work session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4800600" y="240030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When something works (before breaking it!)</a:t>
            </a:r>
            <a:endParaRPr lang="en-US" sz="837" dirty="0"/>
          </a:p>
        </p:txBody>
      </p:sp>
      <p:sp>
        <p:nvSpPr>
          <p:cNvPr id="18" name="Shape 13"/>
          <p:cNvSpPr/>
          <p:nvPr/>
        </p:nvSpPr>
        <p:spPr>
          <a:xfrm>
            <a:off x="457200" y="2886075"/>
            <a:ext cx="4029075" cy="145732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043238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7250" y="3028950"/>
            <a:ext cx="11428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to Commit</a:t>
            </a:r>
            <a:endParaRPr lang="en-US" sz="1046" dirty="0"/>
          </a:p>
        </p:txBody>
      </p:sp>
      <p:sp>
        <p:nvSpPr>
          <p:cNvPr id="21" name="Text 15"/>
          <p:cNvSpPr/>
          <p:nvPr/>
        </p:nvSpPr>
        <p:spPr>
          <a:xfrm>
            <a:off x="600075" y="33432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Your code files</a:t>
            </a:r>
            <a:endParaRPr lang="en-US" sz="837" dirty="0"/>
          </a:p>
        </p:txBody>
      </p:sp>
      <p:sp>
        <p:nvSpPr>
          <p:cNvPr id="22" name="Text 16"/>
          <p:cNvSpPr/>
          <p:nvPr/>
        </p:nvSpPr>
        <p:spPr>
          <a:xfrm>
            <a:off x="600075" y="35718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Documentation</a:t>
            </a:r>
            <a:endParaRPr lang="en-US" sz="837" dirty="0"/>
          </a:p>
        </p:txBody>
      </p:sp>
      <p:sp>
        <p:nvSpPr>
          <p:cNvPr id="23" name="Text 17"/>
          <p:cNvSpPr/>
          <p:nvPr/>
        </p:nvSpPr>
        <p:spPr>
          <a:xfrm>
            <a:off x="600075" y="38004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Configuration files</a:t>
            </a:r>
            <a:endParaRPr lang="en-US" sz="837" dirty="0"/>
          </a:p>
        </p:txBody>
      </p:sp>
      <p:sp>
        <p:nvSpPr>
          <p:cNvPr id="24" name="Shape 18"/>
          <p:cNvSpPr/>
          <p:nvPr/>
        </p:nvSpPr>
        <p:spPr>
          <a:xfrm>
            <a:off x="4657725" y="2886075"/>
            <a:ext cx="4029075" cy="1457325"/>
          </a:xfrm>
          <a:prstGeom prst="rect">
            <a:avLst/>
          </a:prstGeom>
          <a:solidFill>
            <a:srgbClr val="FFE8E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043238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57775" y="3028950"/>
            <a:ext cx="14833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NOT to Commit</a:t>
            </a:r>
            <a:endParaRPr lang="en-US" sz="1046" dirty="0"/>
          </a:p>
        </p:txBody>
      </p:sp>
      <p:sp>
        <p:nvSpPr>
          <p:cNvPr id="27" name="Text 20"/>
          <p:cNvSpPr/>
          <p:nvPr/>
        </p:nvSpPr>
        <p:spPr>
          <a:xfrm>
            <a:off x="4800600" y="33432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Passwords or API keys</a:t>
            </a:r>
            <a:endParaRPr lang="en-US" sz="837" dirty="0"/>
          </a:p>
        </p:txBody>
      </p:sp>
      <p:sp>
        <p:nvSpPr>
          <p:cNvPr id="28" name="Text 21"/>
          <p:cNvSpPr/>
          <p:nvPr/>
        </p:nvSpPr>
        <p:spPr>
          <a:xfrm>
            <a:off x="4800600" y="35718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Large files (videos, datasets)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4800600" y="38004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Generated files (node_modules, build folders)</a:t>
            </a:r>
            <a:endParaRPr lang="en-US" sz="837" dirty="0"/>
          </a:p>
        </p:txBody>
      </p:sp>
      <p:sp>
        <p:nvSpPr>
          <p:cNvPr id="30" name="Text 23"/>
          <p:cNvSpPr/>
          <p:nvPr/>
        </p:nvSpPr>
        <p:spPr>
          <a:xfrm>
            <a:off x="4800600" y="4029075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Personal settings</a:t>
            </a:r>
            <a:endParaRPr lang="en-US" sz="837" dirty="0"/>
          </a:p>
        </p:txBody>
      </p:sp>
      <p:sp>
        <p:nvSpPr>
          <p:cNvPr id="31" name="Shape 24"/>
          <p:cNvSpPr/>
          <p:nvPr/>
        </p:nvSpPr>
        <p:spPr>
          <a:xfrm>
            <a:off x="457200" y="4514850"/>
            <a:ext cx="8229600" cy="1171575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217" y="4686300"/>
            <a:ext cx="289322" cy="2571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28839" y="4686300"/>
            <a:ext cx="12863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Golden Rule</a:t>
            </a:r>
            <a:endParaRPr lang="en-US" sz="1688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9461" y="4686300"/>
            <a:ext cx="289322" cy="25717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8650" y="5029200"/>
            <a:ext cx="7886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 often, push regularly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628650" y="5314950"/>
            <a:ext cx="7886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before you start working • Write meaningful commit messages</a:t>
            </a:r>
            <a:endParaRPr lang="en-US" sz="104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Troubleshooting Common Issues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2867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Solutions to beginner problems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57200" y="1285875"/>
            <a:ext cx="4029075" cy="914400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428750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1428750"/>
            <a:ext cx="19096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"Nothing to commit"</a:t>
            </a:r>
            <a:endParaRPr lang="en-US" sz="94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714500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8675" y="1714500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haven't made any changes, or you already committed them. Make some edits first!</a:t>
            </a:r>
            <a:endParaRPr lang="en-US" sz="837" dirty="0"/>
          </a:p>
        </p:txBody>
      </p:sp>
      <p:sp>
        <p:nvSpPr>
          <p:cNvPr id="10" name="Shape 5"/>
          <p:cNvSpPr/>
          <p:nvPr/>
        </p:nvSpPr>
        <p:spPr>
          <a:xfrm>
            <a:off x="4657725" y="1285875"/>
            <a:ext cx="4029075" cy="914400"/>
          </a:xfrm>
          <a:prstGeom prst="rect">
            <a:avLst/>
          </a:prstGeom>
          <a:solidFill>
            <a:srgbClr val="FFE8E8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28750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57775" y="1428750"/>
            <a:ext cx="23871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039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"Please tell me who you are"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714500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0" y="1714500"/>
            <a:ext cx="3514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Configure your name and email using the terminal commands from the setup slide.</a:t>
            </a:r>
            <a:endParaRPr lang="en-US" sz="837" dirty="0"/>
          </a:p>
        </p:txBody>
      </p:sp>
      <p:sp>
        <p:nvSpPr>
          <p:cNvPr id="15" name="Shape 8"/>
          <p:cNvSpPr/>
          <p:nvPr/>
        </p:nvSpPr>
        <p:spPr>
          <a:xfrm>
            <a:off x="457200" y="2371725"/>
            <a:ext cx="4029075" cy="108585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514600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57250" y="2514600"/>
            <a:ext cx="19036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Can't push to GitHub</a:t>
            </a:r>
            <a:endParaRPr lang="en-US" sz="942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2800350"/>
            <a:ext cx="142875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28675" y="2800350"/>
            <a:ext cx="2655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Make sure you're signed in to GitHub in VS Code</a:t>
            </a:r>
            <a:endParaRPr lang="en-US" sz="837" dirty="0"/>
          </a:p>
        </p:txBody>
      </p:sp>
      <p:sp>
        <p:nvSpPr>
          <p:cNvPr id="20" name="Text 11"/>
          <p:cNvSpPr/>
          <p:nvPr/>
        </p:nvSpPr>
        <p:spPr>
          <a:xfrm>
            <a:off x="828675" y="2971800"/>
            <a:ext cx="2655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Check internet connection</a:t>
            </a:r>
            <a:endParaRPr lang="en-US" sz="837" dirty="0"/>
          </a:p>
        </p:txBody>
      </p:sp>
      <p:sp>
        <p:nvSpPr>
          <p:cNvPr id="21" name="Text 12"/>
          <p:cNvSpPr/>
          <p:nvPr/>
        </p:nvSpPr>
        <p:spPr>
          <a:xfrm>
            <a:off x="828675" y="3143250"/>
            <a:ext cx="26556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Verify repository exists on GitHub</a:t>
            </a:r>
            <a:endParaRPr lang="en-US" sz="837" dirty="0"/>
          </a:p>
        </p:txBody>
      </p:sp>
      <p:sp>
        <p:nvSpPr>
          <p:cNvPr id="22" name="Shape 13"/>
          <p:cNvSpPr/>
          <p:nvPr/>
        </p:nvSpPr>
        <p:spPr>
          <a:xfrm>
            <a:off x="4657725" y="2371725"/>
            <a:ext cx="4029075" cy="108585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514600"/>
            <a:ext cx="171450" cy="1714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57775" y="2514600"/>
            <a:ext cx="20409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980B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"Repository not found"</a:t>
            </a:r>
            <a:endParaRPr lang="en-US" sz="94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2800350"/>
            <a:ext cx="142875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29200" y="2800350"/>
            <a:ext cx="24477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Check the URL is correct when cloning</a:t>
            </a:r>
            <a:endParaRPr lang="en-US" sz="837" dirty="0"/>
          </a:p>
        </p:txBody>
      </p:sp>
      <p:sp>
        <p:nvSpPr>
          <p:cNvPr id="27" name="Text 16"/>
          <p:cNvSpPr/>
          <p:nvPr/>
        </p:nvSpPr>
        <p:spPr>
          <a:xfrm>
            <a:off x="5029200" y="2971800"/>
            <a:ext cx="24477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Make sure you have access to the repository</a:t>
            </a:r>
            <a:endParaRPr lang="en-US" sz="837" dirty="0"/>
          </a:p>
        </p:txBody>
      </p:sp>
      <p:sp>
        <p:nvSpPr>
          <p:cNvPr id="28" name="Shape 17"/>
          <p:cNvSpPr/>
          <p:nvPr/>
        </p:nvSpPr>
        <p:spPr>
          <a:xfrm>
            <a:off x="457200" y="3629025"/>
            <a:ext cx="4029075" cy="914400"/>
          </a:xfrm>
          <a:prstGeom prst="rect">
            <a:avLst/>
          </a:prstGeom>
          <a:solidFill>
            <a:srgbClr val="F3E5F5"/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3771900"/>
            <a:ext cx="171450" cy="17145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57250" y="3771900"/>
            <a:ext cx="24465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E24A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Lost the Source Control panel</a:t>
            </a:r>
            <a:endParaRPr lang="en-US" sz="942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4057650"/>
            <a:ext cx="142875" cy="1428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28675" y="4057650"/>
            <a:ext cx="21951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Click the branch icon on the left sidebar</a:t>
            </a:r>
            <a:endParaRPr lang="en-US" sz="837" dirty="0"/>
          </a:p>
        </p:txBody>
      </p:sp>
      <p:sp>
        <p:nvSpPr>
          <p:cNvPr id="33" name="Text 20"/>
          <p:cNvSpPr/>
          <p:nvPr/>
        </p:nvSpPr>
        <p:spPr>
          <a:xfrm>
            <a:off x="828675" y="4229100"/>
            <a:ext cx="21951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Or go to View → Source Control</a:t>
            </a:r>
            <a:endParaRPr lang="en-US" sz="837" dirty="0"/>
          </a:p>
        </p:txBody>
      </p:sp>
      <p:sp>
        <p:nvSpPr>
          <p:cNvPr id="34" name="Shape 21"/>
          <p:cNvSpPr/>
          <p:nvPr/>
        </p:nvSpPr>
        <p:spPr>
          <a:xfrm>
            <a:off x="4657725" y="3629025"/>
            <a:ext cx="4029075" cy="914400"/>
          </a:xfrm>
          <a:prstGeom prst="rect">
            <a:avLst/>
          </a:prstGeom>
          <a:solidFill>
            <a:srgbClr val="FCE4EC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3771900"/>
            <a:ext cx="171450" cy="17145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57775" y="3771900"/>
            <a:ext cx="19054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C2185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Problem: Don't see Git options</a:t>
            </a:r>
            <a:endParaRPr lang="en-US" sz="942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4057650"/>
            <a:ext cx="142875" cy="142875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029200" y="4057650"/>
            <a:ext cx="2410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Make sure Git is installed on your computer</a:t>
            </a:r>
            <a:endParaRPr lang="en-US" sz="837" dirty="0"/>
          </a:p>
        </p:txBody>
      </p:sp>
      <p:sp>
        <p:nvSpPr>
          <p:cNvPr id="39" name="Text 24"/>
          <p:cNvSpPr/>
          <p:nvPr/>
        </p:nvSpPr>
        <p:spPr>
          <a:xfrm>
            <a:off x="5029200" y="4229100"/>
            <a:ext cx="2410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Restart VS Code after installing Git</a:t>
            </a:r>
            <a:endParaRPr lang="en-US" sz="837" dirty="0"/>
          </a:p>
        </p:txBody>
      </p:sp>
      <p:sp>
        <p:nvSpPr>
          <p:cNvPr id="40" name="Shape 25"/>
          <p:cNvSpPr/>
          <p:nvPr/>
        </p:nvSpPr>
        <p:spPr>
          <a:xfrm>
            <a:off x="457200" y="4772025"/>
            <a:ext cx="8229600" cy="485775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6583" y="4943475"/>
            <a:ext cx="107156" cy="142875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1560909" y="4916686"/>
            <a:ext cx="7656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Still stuck?</a:t>
            </a:r>
            <a:endParaRPr lang="en-US" sz="1046" dirty="0"/>
          </a:p>
        </p:txBody>
      </p:sp>
      <p:sp>
        <p:nvSpPr>
          <p:cNvPr id="43" name="Text 27"/>
          <p:cNvSpPr/>
          <p:nvPr/>
        </p:nvSpPr>
        <p:spPr>
          <a:xfrm>
            <a:off x="2326602" y="4916686"/>
            <a:ext cx="54008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Search for your error message on Google or ask for help on GitHub Discussions! </a:t>
            </a:r>
            <a:endParaRPr lang="en-US" sz="104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29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 After Mastering Basics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57200" y="8001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Where to go from here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5875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7238" y="1257300"/>
            <a:ext cx="21136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Once you're comfortable: 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100013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2938" y="1607344"/>
            <a:ext cx="6812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 about </a:t>
            </a:r>
            <a:endParaRPr lang="en-US" sz="837" dirty="0"/>
          </a:p>
        </p:txBody>
      </p:sp>
      <p:sp>
        <p:nvSpPr>
          <p:cNvPr id="9" name="Text 4"/>
          <p:cNvSpPr/>
          <p:nvPr/>
        </p:nvSpPr>
        <p:spPr>
          <a:xfrm>
            <a:off x="1324189" y="1607344"/>
            <a:ext cx="5243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branches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1848501" y="1607344"/>
            <a:ext cx="15946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(work on features separately)</a:t>
            </a:r>
            <a:endParaRPr lang="en-US" sz="837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1600200"/>
            <a:ext cx="110728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25603" y="1607344"/>
            <a:ext cx="432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</a:t>
            </a:r>
            <a:endParaRPr lang="en-US" sz="837" dirty="0"/>
          </a:p>
        </p:txBody>
      </p:sp>
      <p:sp>
        <p:nvSpPr>
          <p:cNvPr id="13" name="Text 7"/>
          <p:cNvSpPr/>
          <p:nvPr/>
        </p:nvSpPr>
        <p:spPr>
          <a:xfrm>
            <a:off x="5257660" y="1607344"/>
            <a:ext cx="9113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features</a:t>
            </a:r>
            <a:endParaRPr lang="en-US" sz="837" dirty="0"/>
          </a:p>
        </p:txBody>
      </p:sp>
      <p:sp>
        <p:nvSpPr>
          <p:cNvPr id="14" name="Text 8"/>
          <p:cNvSpPr/>
          <p:nvPr/>
        </p:nvSpPr>
        <p:spPr>
          <a:xfrm>
            <a:off x="6168991" y="1607344"/>
            <a:ext cx="12169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(Issues, Pull Requests)</a:t>
            </a:r>
            <a:endParaRPr lang="en-US" sz="83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85950"/>
            <a:ext cx="142875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1893094"/>
            <a:ext cx="1930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Try </a:t>
            </a:r>
            <a:endParaRPr lang="en-US" sz="837" dirty="0"/>
          </a:p>
        </p:txBody>
      </p:sp>
      <p:sp>
        <p:nvSpPr>
          <p:cNvPr id="17" name="Text 10"/>
          <p:cNvSpPr/>
          <p:nvPr/>
        </p:nvSpPr>
        <p:spPr>
          <a:xfrm>
            <a:off x="878877" y="1893094"/>
            <a:ext cx="7619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collaborating</a:t>
            </a:r>
            <a:endParaRPr lang="en-US" sz="837" dirty="0"/>
          </a:p>
        </p:txBody>
      </p:sp>
      <p:sp>
        <p:nvSpPr>
          <p:cNvPr id="18" name="Text 11"/>
          <p:cNvSpPr/>
          <p:nvPr/>
        </p:nvSpPr>
        <p:spPr>
          <a:xfrm>
            <a:off x="1640802" y="1893094"/>
            <a:ext cx="8801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classmates</a:t>
            </a:r>
            <a:endParaRPr lang="en-US" sz="837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1885950"/>
            <a:ext cx="85725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00600" y="1893094"/>
            <a:ext cx="2325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</a:t>
            </a:r>
            <a:endParaRPr lang="en-US" sz="837" dirty="0"/>
          </a:p>
        </p:txBody>
      </p:sp>
      <p:sp>
        <p:nvSpPr>
          <p:cNvPr id="21" name="Text 13"/>
          <p:cNvSpPr/>
          <p:nvPr/>
        </p:nvSpPr>
        <p:spPr>
          <a:xfrm>
            <a:off x="5033107" y="1893094"/>
            <a:ext cx="8276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.gitignore files</a:t>
            </a:r>
            <a:endParaRPr lang="en-US" sz="837" dirty="0"/>
          </a:p>
        </p:txBody>
      </p:sp>
      <p:sp>
        <p:nvSpPr>
          <p:cNvPr id="22" name="Text 14"/>
          <p:cNvSpPr/>
          <p:nvPr/>
        </p:nvSpPr>
        <p:spPr>
          <a:xfrm>
            <a:off x="5860777" y="1893094"/>
            <a:ext cx="11277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(tell Git what to skip)</a:t>
            </a:r>
            <a:endParaRPr lang="en-US" sz="837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171700"/>
            <a:ext cx="114300" cy="1143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7225" y="2178844"/>
            <a:ext cx="4761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 to </a:t>
            </a:r>
            <a:endParaRPr lang="en-US" sz="837" dirty="0"/>
          </a:p>
        </p:txBody>
      </p:sp>
      <p:sp>
        <p:nvSpPr>
          <p:cNvPr id="25" name="Text 16"/>
          <p:cNvSpPr/>
          <p:nvPr/>
        </p:nvSpPr>
        <p:spPr>
          <a:xfrm>
            <a:off x="1133401" y="2178844"/>
            <a:ext cx="8182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undo commits</a:t>
            </a:r>
            <a:endParaRPr lang="en-US" sz="837" dirty="0"/>
          </a:p>
        </p:txBody>
      </p:sp>
      <p:sp>
        <p:nvSpPr>
          <p:cNvPr id="26" name="Text 17"/>
          <p:cNvSpPr/>
          <p:nvPr/>
        </p:nvSpPr>
        <p:spPr>
          <a:xfrm>
            <a:off x="1951695" y="2178844"/>
            <a:ext cx="10881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(git revert, git reset)</a:t>
            </a:r>
            <a:endParaRPr lang="en-US" sz="837" dirty="0"/>
          </a:p>
        </p:txBody>
      </p:sp>
      <p:sp>
        <p:nvSpPr>
          <p:cNvPr id="27" name="Shape 18"/>
          <p:cNvSpPr/>
          <p:nvPr/>
        </p:nvSpPr>
        <p:spPr>
          <a:xfrm>
            <a:off x="457200" y="2514600"/>
            <a:ext cx="8229600" cy="1400175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2686050"/>
            <a:ext cx="150019" cy="1714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35819" y="2657475"/>
            <a:ext cx="15521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Helpful Resources: 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600075" y="300037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GitHub's Interactive Tutorial</a:t>
            </a:r>
            <a:endParaRPr lang="en-US" sz="837" dirty="0"/>
          </a:p>
        </p:txBody>
      </p:sp>
      <p:sp>
        <p:nvSpPr>
          <p:cNvPr id="31" name="Text 21"/>
          <p:cNvSpPr/>
          <p:nvPr/>
        </p:nvSpPr>
        <p:spPr>
          <a:xfrm>
            <a:off x="600075" y="317182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skills.github.com</a:t>
            </a:r>
            <a:endParaRPr lang="en-US" sz="837" dirty="0"/>
          </a:p>
        </p:txBody>
      </p:sp>
      <p:sp>
        <p:nvSpPr>
          <p:cNvPr id="32" name="Text 22"/>
          <p:cNvSpPr/>
          <p:nvPr/>
        </p:nvSpPr>
        <p:spPr>
          <a:xfrm>
            <a:off x="4686300" y="300037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Code Git Documentation</a:t>
            </a:r>
            <a:endParaRPr lang="en-US" sz="837" dirty="0"/>
          </a:p>
        </p:txBody>
      </p:sp>
      <p:sp>
        <p:nvSpPr>
          <p:cNvPr id="33" name="Text 23"/>
          <p:cNvSpPr/>
          <p:nvPr/>
        </p:nvSpPr>
        <p:spPr>
          <a:xfrm>
            <a:off x="4686300" y="3171825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code.visualstudio.com/docs/sourcecontrol</a:t>
            </a:r>
            <a:endParaRPr lang="en-US" sz="837" dirty="0"/>
          </a:p>
        </p:txBody>
      </p:sp>
      <p:sp>
        <p:nvSpPr>
          <p:cNvPr id="34" name="Text 24"/>
          <p:cNvSpPr/>
          <p:nvPr/>
        </p:nvSpPr>
        <p:spPr>
          <a:xfrm>
            <a:off x="600075" y="3429000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Visualization Tool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600075" y="3600450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git-school.github.io/visualizing-git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4686300" y="3429000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Learning Lab</a:t>
            </a:r>
            <a:endParaRPr lang="en-US" sz="837" dirty="0"/>
          </a:p>
        </p:txBody>
      </p:sp>
      <p:sp>
        <p:nvSpPr>
          <p:cNvPr id="37" name="Text 27"/>
          <p:cNvSpPr/>
          <p:nvPr/>
        </p:nvSpPr>
        <p:spPr>
          <a:xfrm>
            <a:off x="4686300" y="3600450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lab.github.com</a:t>
            </a:r>
            <a:endParaRPr lang="en-US" sz="837" dirty="0"/>
          </a:p>
        </p:txBody>
      </p:sp>
      <p:sp>
        <p:nvSpPr>
          <p:cNvPr id="38" name="Shape 28"/>
          <p:cNvSpPr/>
          <p:nvPr/>
        </p:nvSpPr>
        <p:spPr>
          <a:xfrm>
            <a:off x="457200" y="4086225"/>
            <a:ext cx="8229600" cy="108585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4257675"/>
            <a:ext cx="214313" cy="1714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00113" y="4229100"/>
            <a:ext cx="14329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Practice Projects: </a:t>
            </a:r>
            <a:endParaRPr lang="en-US" sz="13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4572000"/>
            <a:ext cx="100013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85813" y="4579144"/>
            <a:ext cx="587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your 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1373330" y="4579144"/>
            <a:ext cx="13707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homework assignments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2744037" y="4579144"/>
            <a:ext cx="4446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Git</a:t>
            </a:r>
            <a:endParaRPr lang="en-US" sz="837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9150" y="4572000"/>
            <a:ext cx="100013" cy="1143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4814888" y="4579144"/>
            <a:ext cx="39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a </a:t>
            </a:r>
            <a:endParaRPr lang="en-US" sz="837" dirty="0"/>
          </a:p>
        </p:txBody>
      </p:sp>
      <p:sp>
        <p:nvSpPr>
          <p:cNvPr id="47" name="Text 34"/>
          <p:cNvSpPr/>
          <p:nvPr/>
        </p:nvSpPr>
        <p:spPr>
          <a:xfrm>
            <a:off x="5212677" y="4579144"/>
            <a:ext cx="9746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 website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6187325" y="4579144"/>
            <a:ext cx="14316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host on GitHub Pages</a:t>
            </a:r>
            <a:endParaRPr lang="en-US" sz="837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075" y="4857750"/>
            <a:ext cx="100013" cy="11430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785813" y="4864894"/>
            <a:ext cx="4750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a </a:t>
            </a:r>
            <a:endParaRPr lang="en-US" sz="837" dirty="0"/>
          </a:p>
        </p:txBody>
      </p:sp>
      <p:sp>
        <p:nvSpPr>
          <p:cNvPr id="51" name="Text 37"/>
          <p:cNvSpPr/>
          <p:nvPr/>
        </p:nvSpPr>
        <p:spPr>
          <a:xfrm>
            <a:off x="1260844" y="4864894"/>
            <a:ext cx="50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portfolio</a:t>
            </a:r>
            <a:endParaRPr lang="en-US" sz="837" dirty="0"/>
          </a:p>
        </p:txBody>
      </p:sp>
      <p:sp>
        <p:nvSpPr>
          <p:cNvPr id="52" name="Text 38"/>
          <p:cNvSpPr/>
          <p:nvPr/>
        </p:nvSpPr>
        <p:spPr>
          <a:xfrm>
            <a:off x="1760906" y="4864894"/>
            <a:ext cx="8721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your projects</a:t>
            </a:r>
            <a:endParaRPr lang="en-US" sz="837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9150" y="4857750"/>
            <a:ext cx="100013" cy="11430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814888" y="4864894"/>
            <a:ext cx="7464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Contribute to </a:t>
            </a:r>
            <a:endParaRPr lang="en-US" sz="837" dirty="0"/>
          </a:p>
        </p:txBody>
      </p:sp>
      <p:sp>
        <p:nvSpPr>
          <p:cNvPr id="55" name="Text 40"/>
          <p:cNvSpPr/>
          <p:nvPr/>
        </p:nvSpPr>
        <p:spPr>
          <a:xfrm>
            <a:off x="5561381" y="4864894"/>
            <a:ext cx="11840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source projects</a:t>
            </a:r>
            <a:endParaRPr lang="en-US" sz="837" dirty="0"/>
          </a:p>
        </p:txBody>
      </p:sp>
      <p:sp>
        <p:nvSpPr>
          <p:cNvPr id="56" name="Shape 41"/>
          <p:cNvSpPr/>
          <p:nvPr/>
        </p:nvSpPr>
        <p:spPr>
          <a:xfrm>
            <a:off x="457200" y="5343525"/>
            <a:ext cx="8229600" cy="428625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3616" y="5486400"/>
            <a:ext cx="142875" cy="142875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2363660" y="5459611"/>
            <a:ext cx="11512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practicing!</a:t>
            </a:r>
            <a:endParaRPr lang="en-US" sz="1046" dirty="0"/>
          </a:p>
        </p:txBody>
      </p:sp>
      <p:sp>
        <p:nvSpPr>
          <p:cNvPr id="59" name="Text 43"/>
          <p:cNvSpPr/>
          <p:nvPr/>
        </p:nvSpPr>
        <p:spPr>
          <a:xfrm>
            <a:off x="3514948" y="5459611"/>
            <a:ext cx="34454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more you use Git, the more natural it becomes </a:t>
            </a:r>
            <a:endParaRPr lang="en-US" sz="1046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722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898" y="457200"/>
            <a:ext cx="482203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000125"/>
            <a:ext cx="8229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Now Know How to Use Git in VS Code!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457200" y="1343025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 to track your projects like a pro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457200" y="1800225"/>
            <a:ext cx="4000500" cy="177165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00250"/>
            <a:ext cx="128588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2963" y="1971675"/>
            <a:ext cx="22022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Key Concepts You Learned 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378869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7238" y="2355652"/>
            <a:ext cx="23261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tracks changes and creates history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64619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7238" y="2641402"/>
            <a:ext cx="30208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Working folder → Staging → Repository workflow</a:t>
            </a:r>
            <a:endParaRPr lang="en-US" sz="942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950369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57238" y="2927152"/>
            <a:ext cx="31039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Local (computer) and Remote (GitHub) repositories</a:t>
            </a:r>
            <a:endParaRPr lang="en-US" sz="942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236119"/>
            <a:ext cx="128588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57238" y="3212902"/>
            <a:ext cx="25310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Commits are snapshots you can return to</a:t>
            </a:r>
            <a:endParaRPr lang="en-US" sz="942" dirty="0"/>
          </a:p>
        </p:txBody>
      </p:sp>
      <p:sp>
        <p:nvSpPr>
          <p:cNvPr id="17" name="Shape 8"/>
          <p:cNvSpPr/>
          <p:nvPr/>
        </p:nvSpPr>
        <p:spPr>
          <a:xfrm>
            <a:off x="4686300" y="1800225"/>
            <a:ext cx="4000500" cy="177165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000250"/>
            <a:ext cx="171450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14925" y="1971675"/>
            <a:ext cx="17199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Essential Operations </a:t>
            </a:r>
            <a:endParaRPr lang="en-US" sz="13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378869"/>
            <a:ext cx="128588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86338" y="2355652"/>
            <a:ext cx="18197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Initialize or clone a repository</a:t>
            </a:r>
            <a:endParaRPr lang="en-US" sz="942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2664619"/>
            <a:ext cx="128588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86338" y="2641402"/>
            <a:ext cx="16707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Stage and commit changes</a:t>
            </a:r>
            <a:endParaRPr lang="en-US" sz="942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2950369"/>
            <a:ext cx="128588" cy="12858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4986338" y="2927152"/>
            <a:ext cx="17985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Push to and pull from GitHub</a:t>
            </a:r>
            <a:endParaRPr lang="en-US" sz="942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3236119"/>
            <a:ext cx="128588" cy="12858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4986338" y="3212902"/>
            <a:ext cx="14305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View status and history</a:t>
            </a:r>
            <a:endParaRPr lang="en-US" sz="942" dirty="0"/>
          </a:p>
        </p:txBody>
      </p:sp>
      <p:sp>
        <p:nvSpPr>
          <p:cNvPr id="28" name="Shape 14"/>
          <p:cNvSpPr/>
          <p:nvPr/>
        </p:nvSpPr>
        <p:spPr>
          <a:xfrm>
            <a:off x="457200" y="3800475"/>
            <a:ext cx="8229600" cy="1085850"/>
          </a:xfrm>
          <a:prstGeom prst="rect">
            <a:avLst/>
          </a:prstGeom>
          <a:solidFill>
            <a:srgbClr val="FFF3CD"/>
          </a:solidFill>
          <a:ln/>
        </p:spPr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4000500"/>
            <a:ext cx="192881" cy="17145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07256" y="3971925"/>
            <a:ext cx="9227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Remember 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28650" y="4327327"/>
            <a:ext cx="48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2" name="Text 17"/>
          <p:cNvSpPr/>
          <p:nvPr/>
        </p:nvSpPr>
        <p:spPr>
          <a:xfrm>
            <a:off x="677010" y="4327327"/>
            <a:ext cx="21082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VS Code makes Git visual and easy</a:t>
            </a:r>
            <a:endParaRPr lang="en-US" sz="942" dirty="0"/>
          </a:p>
        </p:txBody>
      </p:sp>
      <p:sp>
        <p:nvSpPr>
          <p:cNvPr id="33" name="Text 18"/>
          <p:cNvSpPr/>
          <p:nvPr/>
        </p:nvSpPr>
        <p:spPr>
          <a:xfrm>
            <a:off x="628650" y="4527352"/>
            <a:ext cx="48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4" name="Text 19"/>
          <p:cNvSpPr/>
          <p:nvPr/>
        </p:nvSpPr>
        <p:spPr>
          <a:xfrm>
            <a:off x="677010" y="4527352"/>
            <a:ext cx="2905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Terminal commands are there if you need them</a:t>
            </a:r>
            <a:endParaRPr lang="en-US" sz="942" dirty="0"/>
          </a:p>
        </p:txBody>
      </p:sp>
      <p:sp>
        <p:nvSpPr>
          <p:cNvPr id="35" name="Text 20"/>
          <p:cNvSpPr/>
          <p:nvPr/>
        </p:nvSpPr>
        <p:spPr>
          <a:xfrm>
            <a:off x="4657725" y="4327327"/>
            <a:ext cx="48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6" name="Text 21"/>
          <p:cNvSpPr/>
          <p:nvPr/>
        </p:nvSpPr>
        <p:spPr>
          <a:xfrm>
            <a:off x="4706085" y="4327327"/>
            <a:ext cx="18061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Commit often, push regularly</a:t>
            </a:r>
            <a:endParaRPr lang="en-US" sz="942" dirty="0"/>
          </a:p>
        </p:txBody>
      </p:sp>
      <p:sp>
        <p:nvSpPr>
          <p:cNvPr id="37" name="Text 22"/>
          <p:cNvSpPr/>
          <p:nvPr/>
        </p:nvSpPr>
        <p:spPr>
          <a:xfrm>
            <a:off x="4657725" y="4527352"/>
            <a:ext cx="48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942" dirty="0"/>
          </a:p>
        </p:txBody>
      </p:sp>
      <p:sp>
        <p:nvSpPr>
          <p:cNvPr id="38" name="Text 23"/>
          <p:cNvSpPr/>
          <p:nvPr/>
        </p:nvSpPr>
        <p:spPr>
          <a:xfrm>
            <a:off x="4706085" y="4527352"/>
            <a:ext cx="1526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85640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Pull before starting work</a:t>
            </a:r>
            <a:endParaRPr lang="en-US" sz="942" dirty="0"/>
          </a:p>
        </p:txBody>
      </p:sp>
      <p:sp>
        <p:nvSpPr>
          <p:cNvPr id="39" name="Shape 24"/>
          <p:cNvSpPr/>
          <p:nvPr/>
        </p:nvSpPr>
        <p:spPr>
          <a:xfrm>
            <a:off x="457200" y="5057775"/>
            <a:ext cx="8229600" cy="85725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7930" y="5250656"/>
            <a:ext cx="214313" cy="214313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1822242" y="5211366"/>
            <a:ext cx="57138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You're Ready to Start Tracking Your Projects with Git! </a:t>
            </a:r>
            <a:endParaRPr lang="en-US" sz="1688" dirty="0"/>
          </a:p>
        </p:txBody>
      </p:sp>
      <p:sp>
        <p:nvSpPr>
          <p:cNvPr id="42" name="Text 26"/>
          <p:cNvSpPr/>
          <p:nvPr/>
        </p:nvSpPr>
        <p:spPr>
          <a:xfrm>
            <a:off x="628650" y="5543550"/>
            <a:ext cx="7886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small, practice often, and watch your confidence grow</a:t>
            </a:r>
            <a:endParaRPr lang="en-US" sz="10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2025-10-25T21:10:22Z</dcterms:created>
  <dcterms:modified xsi:type="dcterms:W3CDTF">2025-10-25T21:10:22Z</dcterms:modified>
</cp:coreProperties>
</file>