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7B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23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5581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pypi.org/project/bcrypt/" TargetMode="External"/><Relationship Id="rId3" Type="http://schemas.openxmlformats.org/officeDocument/2006/relationships/hyperlink" Target="https://cheatsheetseries.owasp.org/cheatsheets/Authentication_Cheat_Sheet.html" TargetMode="External"/><Relationship Id="rId7" Type="http://schemas.openxmlformats.org/officeDocument/2006/relationships/hyperlink" Target="https://www.usenix.org/legacy/events/lisa99/provos/provos_html/" TargetMode="External"/><Relationship Id="rId2" Type="http://schemas.openxmlformats.org/officeDocument/2006/relationships/hyperlink" Target="https://doi.org/10.6028/NIST.SP.800-63b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haveibeenpwned.com/" TargetMode="External"/><Relationship Id="rId5" Type="http://schemas.openxmlformats.org/officeDocument/2006/relationships/hyperlink" Target="https://www.verizon.com/business/resources/reports/dbir/" TargetMode="External"/><Relationship Id="rId4" Type="http://schemas.openxmlformats.org/officeDocument/2006/relationships/hyperlink" Target="https://cheatsheetseries.owasp.org/cheatsheets/Password_Storage_Cheat_Sheet.html" TargetMode="External"/><Relationship Id="rId9" Type="http://schemas.openxmlformats.org/officeDocument/2006/relationships/hyperlink" Target="https://docs.python.org/3/tutorial/inputoutput.html#reading-and-writing-fil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80845"/>
            <a:ext cx="509586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kern="0" spc="2" dirty="0">
                <a:solidFill>
                  <a:srgbClr val="247B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Week 7</a:t>
            </a:r>
            <a:endParaRPr lang="en-US" sz="942" dirty="0"/>
          </a:p>
        </p:txBody>
      </p:sp>
      <p:sp>
        <p:nvSpPr>
          <p:cNvPr id="4" name="Text 1"/>
          <p:cNvSpPr/>
          <p:nvPr/>
        </p:nvSpPr>
        <p:spPr>
          <a:xfrm>
            <a:off x="571500" y="1145177"/>
            <a:ext cx="5095866" cy="1697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731" b="1" kern="0" spc="-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Secure Authentication &amp; File Persistence</a:t>
            </a:r>
            <a:endParaRPr lang="en-US" sz="3731" dirty="0"/>
          </a:p>
        </p:txBody>
      </p:sp>
      <p:sp>
        <p:nvSpPr>
          <p:cNvPr id="5" name="Text 2"/>
          <p:cNvSpPr/>
          <p:nvPr/>
        </p:nvSpPr>
        <p:spPr>
          <a:xfrm>
            <a:off x="571500" y="3328290"/>
            <a:ext cx="5095866" cy="2800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Building the Foundation of System Security</a:t>
            </a:r>
            <a:endParaRPr lang="en-US" sz="1486" dirty="0"/>
          </a:p>
        </p:txBody>
      </p:sp>
      <p:sp>
        <p:nvSpPr>
          <p:cNvPr id="6" name="Text 3"/>
          <p:cNvSpPr/>
          <p:nvPr/>
        </p:nvSpPr>
        <p:spPr>
          <a:xfrm>
            <a:off x="571500" y="3951219"/>
            <a:ext cx="5095866" cy="390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CST1510</a:t>
            </a:r>
            <a:r>
              <a:rPr lang="en-US" sz="942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Multi-Domain Intelligence Platform</a:t>
            </a:r>
            <a:endParaRPr lang="en-US" sz="885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41" y="785813"/>
            <a:ext cx="2190731" cy="3571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" y="-126582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4375"/>
            <a:ext cx="247648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Objectives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3619481" y="571500"/>
            <a:ext cx="2857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B36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4048106" y="571500"/>
            <a:ext cx="452439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Explain</a:t>
            </a:r>
            <a:r>
              <a:rPr lang="en-US" sz="942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 critical difference between encryption and hashing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3619481" y="1057275"/>
            <a:ext cx="2857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B36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4048106" y="1057275"/>
            <a:ext cx="4524394" cy="389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Describe</a:t>
            </a:r>
            <a:r>
              <a:rPr lang="en-US" sz="942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why passwords must be hashed, not encrypted or stored in plaintext</a:t>
            </a:r>
          </a:p>
          <a:p>
            <a:pPr marL="0" indent="0" algn="l">
              <a:lnSpc>
                <a:spcPts val="1600"/>
              </a:lnSpc>
              <a:buNone/>
            </a:pP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3619481" y="1500048"/>
            <a:ext cx="2857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B36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4048106" y="1514011"/>
            <a:ext cx="452439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Justify</a:t>
            </a:r>
            <a:r>
              <a:rPr lang="en-US" sz="942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 use of bcrypt over faster hashing algorithms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3619481" y="1954485"/>
            <a:ext cx="2857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B36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4048106" y="1954485"/>
            <a:ext cx="452439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</a:t>
            </a:r>
            <a:r>
              <a:rPr lang="en-US" sz="942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 secure registration and login system in Python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3619481" y="2419439"/>
            <a:ext cx="2857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B36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05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4048106" y="2445168"/>
            <a:ext cx="452439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Persist</a:t>
            </a:r>
            <a:r>
              <a:rPr lang="en-US" sz="942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user credentials to the file system using basic file I/O</a:t>
            </a:r>
            <a:endParaRPr lang="en-US" sz="88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192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001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Problem: Why Plaintext Storage Fails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571500" y="1285875"/>
            <a:ext cx="64293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Storing passwords in their original, human-readable form (plaintext) is a </a:t>
            </a:r>
            <a:r>
              <a:rPr lang="en-US" sz="885" b="1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critical security vulnerability</a:t>
            </a:r>
            <a:r>
              <a:rPr lang="en-US" sz="942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 If an attacker gains access to your user database, they instantly have credentials for every single user.</a:t>
            </a:r>
            <a:endParaRPr lang="en-US" sz="942" dirty="0"/>
          </a:p>
        </p:txBody>
      </p:sp>
      <p:sp>
        <p:nvSpPr>
          <p:cNvPr id="5" name="Text 2"/>
          <p:cNvSpPr/>
          <p:nvPr/>
        </p:nvSpPr>
        <p:spPr>
          <a:xfrm>
            <a:off x="571500" y="2211660"/>
            <a:ext cx="378618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b="1" kern="0" spc="-1" dirty="0">
                <a:solidFill>
                  <a:srgbClr val="FB36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12B+</a:t>
            </a:r>
            <a:endParaRPr lang="en-US" sz="3294" dirty="0"/>
          </a:p>
        </p:txBody>
      </p:sp>
      <p:sp>
        <p:nvSpPr>
          <p:cNvPr id="6" name="Text 3"/>
          <p:cNvSpPr/>
          <p:nvPr/>
        </p:nvSpPr>
        <p:spPr>
          <a:xfrm>
            <a:off x="571500" y="2754585"/>
            <a:ext cx="378618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7" b="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Compromised Accounts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571500" y="3083198"/>
            <a:ext cx="37861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Tracked by "Have I Been Pwned" database, demonstrating the massive scale of credential breaches worldwide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4786313" y="2211660"/>
            <a:ext cx="378618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b="1" kern="0" spc="-1" dirty="0">
                <a:solidFill>
                  <a:srgbClr val="FB36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#1</a:t>
            </a:r>
            <a:endParaRPr lang="en-US" sz="3294" dirty="0"/>
          </a:p>
        </p:txBody>
      </p:sp>
      <p:sp>
        <p:nvSpPr>
          <p:cNvPr id="9" name="Text 6"/>
          <p:cNvSpPr/>
          <p:nvPr/>
        </p:nvSpPr>
        <p:spPr>
          <a:xfrm>
            <a:off x="4786313" y="2754585"/>
            <a:ext cx="378618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7" b="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Primary Breach Vector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4786313" y="3083198"/>
            <a:ext cx="37861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Verizon DBIR 2024 identifies stolen credentials as a leading cause of data breaches across industries</a:t>
            </a:r>
            <a:endParaRPr lang="en-US" sz="834" dirty="0"/>
          </a:p>
        </p:txBody>
      </p:sp>
      <p:sp>
        <p:nvSpPr>
          <p:cNvPr id="11" name="Shape 8"/>
          <p:cNvSpPr/>
          <p:nvPr/>
        </p:nvSpPr>
        <p:spPr>
          <a:xfrm>
            <a:off x="571500" y="3940448"/>
            <a:ext cx="8001000" cy="907256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71500" y="3940448"/>
            <a:ext cx="28575" cy="907256"/>
          </a:xfrm>
          <a:prstGeom prst="rect">
            <a:avLst/>
          </a:prstGeom>
          <a:solidFill>
            <a:srgbClr val="247B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57250" y="4169048"/>
            <a:ext cx="74295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kern="0" spc="1" dirty="0">
                <a:solidFill>
                  <a:srgbClr val="247B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Our Security Goal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857250" y="4404792"/>
            <a:ext cx="7429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Even if our user data file is stolen, the attacker must not be able to recover the original passwords.</a:t>
            </a:r>
            <a:endParaRPr lang="en-US" sz="98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2862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45434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Hashing: The One-Way Street to Security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571500" y="1571625"/>
            <a:ext cx="454342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Cryptographic hashing</a:t>
            </a:r>
            <a:r>
              <a:rPr lang="en-US" sz="942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is a mathematical algorithm that transforms an input into a fixed-size string of characters (the "hash"). The process is one-way—you cannot reverse it to get the original input.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571500" y="2531678"/>
            <a:ext cx="45434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B36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One-Way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571500" y="2803141"/>
            <a:ext cx="454342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Computationally infeasible to reverse the hash back to the original input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571500" y="3208883"/>
            <a:ext cx="45434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B36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Deterministic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571500" y="3480346"/>
            <a:ext cx="454342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same input will always produce the same output hash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571500" y="3886088"/>
            <a:ext cx="45434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B36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Avalanche Effect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571500" y="4157551"/>
            <a:ext cx="45434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tiny change in input (even one character) drastically changes the entire hash output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571500" y="4911886"/>
            <a:ext cx="4543425" cy="802891"/>
          </a:xfrm>
          <a:prstGeom prst="rect">
            <a:avLst/>
          </a:prstGeom>
          <a:noFill/>
          <a:ln/>
        </p:spPr>
        <p:txBody>
          <a:bodyPr wrap="square" lIns="0" tIns="204089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Why hashing beats encryption: Encryption is two-way. If an attacker steals the encryption key, they can decrypt all passwords. With hashing, there is no key to steal.</a:t>
            </a:r>
            <a:endParaRPr lang="en-US" sz="885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3550" y="1357201"/>
            <a:ext cx="3028950" cy="35718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0450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441720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Hashing vs. Encryption: A Critical Distinction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571500" y="1743075"/>
            <a:ext cx="1000125" cy="432197"/>
          </a:xfrm>
          <a:prstGeom prst="rect">
            <a:avLst/>
          </a:prstGeom>
          <a:noFill/>
          <a:ln/>
        </p:spPr>
        <p:txBody>
          <a:bodyPr wrap="square" lIns="0" tIns="136017" rIns="170053" bIns="136017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B36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Feature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1571625" y="1743075"/>
            <a:ext cx="1369061" cy="432197"/>
          </a:xfrm>
          <a:prstGeom prst="rect">
            <a:avLst/>
          </a:prstGeom>
          <a:noFill/>
          <a:ln/>
        </p:spPr>
        <p:txBody>
          <a:bodyPr wrap="square" lIns="0" tIns="136017" rIns="170053" bIns="136017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Hashing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2940686" y="1743075"/>
            <a:ext cx="2048024" cy="432197"/>
          </a:xfrm>
          <a:prstGeom prst="rect">
            <a:avLst/>
          </a:prstGeom>
          <a:noFill/>
          <a:ln/>
        </p:spPr>
        <p:txBody>
          <a:bodyPr wrap="square" lIns="0" tIns="136017" rIns="170053" bIns="136017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Encryption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571500" y="2175272"/>
            <a:ext cx="1000125" cy="414338"/>
          </a:xfrm>
          <a:prstGeom prst="rect">
            <a:avLst/>
          </a:prstGeom>
          <a:noFill/>
          <a:ln/>
        </p:spPr>
        <p:txBody>
          <a:bodyPr wrap="square" lIns="0" tIns="136017" rIns="170053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Direction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1571625" y="2175272"/>
            <a:ext cx="1369061" cy="414338"/>
          </a:xfrm>
          <a:prstGeom prst="rect">
            <a:avLst/>
          </a:prstGeom>
          <a:noFill/>
          <a:ln/>
        </p:spPr>
        <p:txBody>
          <a:bodyPr wrap="square" lIns="0" tIns="136017" rIns="170053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One-way only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2940686" y="2175272"/>
            <a:ext cx="2048024" cy="414338"/>
          </a:xfrm>
          <a:prstGeom prst="rect">
            <a:avLst/>
          </a:prstGeom>
          <a:noFill/>
          <a:ln/>
        </p:spPr>
        <p:txBody>
          <a:bodyPr wrap="square" lIns="0" tIns="136017" rIns="170053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Two-way (encrypt &amp; decrypt)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571500" y="2589609"/>
            <a:ext cx="1000125" cy="407194"/>
          </a:xfrm>
          <a:prstGeom prst="rect">
            <a:avLst/>
          </a:prstGeom>
          <a:noFill/>
          <a:ln/>
        </p:spPr>
        <p:txBody>
          <a:bodyPr wrap="square" lIns="0" tIns="136017" rIns="170053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Reversible?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1571625" y="2589609"/>
            <a:ext cx="1369061" cy="407194"/>
          </a:xfrm>
          <a:prstGeom prst="rect">
            <a:avLst/>
          </a:prstGeom>
          <a:noFill/>
          <a:ln/>
        </p:spPr>
        <p:txBody>
          <a:bodyPr wrap="square" lIns="0" tIns="136017" rIns="170053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2940686" y="2589609"/>
            <a:ext cx="2048024" cy="407194"/>
          </a:xfrm>
          <a:prstGeom prst="rect">
            <a:avLst/>
          </a:prstGeom>
          <a:noFill/>
          <a:ln/>
        </p:spPr>
        <p:txBody>
          <a:bodyPr wrap="square" lIns="0" tIns="136017" rIns="170053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Yes (with the key)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571500" y="2996803"/>
            <a:ext cx="1000125" cy="407194"/>
          </a:xfrm>
          <a:prstGeom prst="rect">
            <a:avLst/>
          </a:prstGeom>
          <a:noFill/>
          <a:ln/>
        </p:spPr>
        <p:txBody>
          <a:bodyPr wrap="square" lIns="0" tIns="136017" rIns="170053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 Case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1571625" y="2996803"/>
            <a:ext cx="1369061" cy="407194"/>
          </a:xfrm>
          <a:prstGeom prst="rect">
            <a:avLst/>
          </a:prstGeom>
          <a:noFill/>
          <a:ln/>
        </p:spPr>
        <p:txBody>
          <a:bodyPr wrap="square" lIns="0" tIns="136017" rIns="170053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Password verification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2940686" y="2996803"/>
            <a:ext cx="2048024" cy="407194"/>
          </a:xfrm>
          <a:prstGeom prst="rect">
            <a:avLst/>
          </a:prstGeom>
          <a:noFill/>
          <a:ln/>
        </p:spPr>
        <p:txBody>
          <a:bodyPr wrap="square" lIns="0" tIns="136017" rIns="170053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Protecting data in transit/storage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571500" y="3403997"/>
            <a:ext cx="1000125" cy="407194"/>
          </a:xfrm>
          <a:prstGeom prst="rect">
            <a:avLst/>
          </a:prstGeom>
          <a:noFill/>
          <a:ln/>
        </p:spPr>
        <p:txBody>
          <a:bodyPr wrap="square" lIns="0" tIns="136017" rIns="170053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Required?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1571625" y="3403997"/>
            <a:ext cx="1369061" cy="407194"/>
          </a:xfrm>
          <a:prstGeom prst="rect">
            <a:avLst/>
          </a:prstGeom>
          <a:noFill/>
          <a:ln/>
        </p:spPr>
        <p:txBody>
          <a:bodyPr wrap="square" lIns="0" tIns="136017" rIns="170053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2940686" y="3403997"/>
            <a:ext cx="2048024" cy="407194"/>
          </a:xfrm>
          <a:prstGeom prst="rect">
            <a:avLst/>
          </a:prstGeom>
          <a:noFill/>
          <a:ln/>
        </p:spPr>
        <p:txBody>
          <a:bodyPr wrap="square" lIns="0" tIns="136017" rIns="170053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Yes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571500" y="3811191"/>
            <a:ext cx="1000125" cy="403622"/>
          </a:xfrm>
          <a:prstGeom prst="rect">
            <a:avLst/>
          </a:prstGeom>
          <a:noFill/>
          <a:ln/>
        </p:spPr>
        <p:txBody>
          <a:bodyPr wrap="square" lIns="0" tIns="136017" rIns="170053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Example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1571625" y="3811191"/>
            <a:ext cx="1369061" cy="403622"/>
          </a:xfrm>
          <a:prstGeom prst="rect">
            <a:avLst/>
          </a:prstGeom>
          <a:noFill/>
          <a:ln/>
        </p:spPr>
        <p:txBody>
          <a:bodyPr wrap="square" lIns="0" tIns="136017" rIns="170053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bcrypt, SHA-256</a:t>
            </a:r>
            <a:endParaRPr lang="en-US" sz="834" dirty="0"/>
          </a:p>
        </p:txBody>
      </p:sp>
      <p:sp>
        <p:nvSpPr>
          <p:cNvPr id="21" name="Text 18"/>
          <p:cNvSpPr/>
          <p:nvPr/>
        </p:nvSpPr>
        <p:spPr>
          <a:xfrm>
            <a:off x="2940686" y="3811191"/>
            <a:ext cx="2048024" cy="403622"/>
          </a:xfrm>
          <a:prstGeom prst="rect">
            <a:avLst/>
          </a:prstGeom>
          <a:noFill/>
          <a:ln/>
        </p:spPr>
        <p:txBody>
          <a:bodyPr wrap="square" lIns="0" tIns="136017" rIns="170053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AES, RSA</a:t>
            </a:r>
            <a:endParaRPr lang="en-US" sz="834" dirty="0"/>
          </a:p>
        </p:txBody>
      </p:sp>
      <p:sp>
        <p:nvSpPr>
          <p:cNvPr id="22" name="Shape 19"/>
          <p:cNvSpPr/>
          <p:nvPr/>
        </p:nvSpPr>
        <p:spPr>
          <a:xfrm>
            <a:off x="571500" y="4557713"/>
            <a:ext cx="4417209" cy="915795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71500" y="4557713"/>
            <a:ext cx="28575" cy="915795"/>
          </a:xfrm>
          <a:prstGeom prst="rect">
            <a:avLst/>
          </a:prstGeom>
          <a:solidFill>
            <a:srgbClr val="247B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71525" y="4729163"/>
            <a:ext cx="401715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kern="0" spc="1" dirty="0">
                <a:solidFill>
                  <a:srgbClr val="247B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 Passwords</a:t>
            </a:r>
            <a:endParaRPr lang="en-US" sz="683" dirty="0"/>
          </a:p>
        </p:txBody>
      </p:sp>
      <p:sp>
        <p:nvSpPr>
          <p:cNvPr id="25" name="Text 22"/>
          <p:cNvSpPr/>
          <p:nvPr/>
        </p:nvSpPr>
        <p:spPr>
          <a:xfrm>
            <a:off x="771525" y="4936331"/>
            <a:ext cx="4017159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verify by hashing the user's input and comparing it to the stored hash. We never need to "decrypt" the password.</a:t>
            </a:r>
            <a:endParaRPr lang="en-US" sz="834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7334" y="1415160"/>
            <a:ext cx="3155138" cy="32146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Rainbow Table Attack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571500" y="1514475"/>
            <a:ext cx="297180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Since the same password always produces the same hash, attackers can pre-compute hashes of common passwords and store them in a massive lookup table called a </a:t>
            </a:r>
            <a:r>
              <a:rPr lang="en-US" sz="885" b="1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rainbow table</a:t>
            </a:r>
            <a:r>
              <a:rPr lang="en-US" sz="942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942" dirty="0"/>
          </a:p>
        </p:txBody>
      </p:sp>
      <p:sp>
        <p:nvSpPr>
          <p:cNvPr id="5" name="Text 2"/>
          <p:cNvSpPr/>
          <p:nvPr/>
        </p:nvSpPr>
        <p:spPr>
          <a:xfrm>
            <a:off x="571500" y="2565946"/>
            <a:ext cx="29718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By comparing the hashes in a stolen database to their rainbow table, they can quickly find matches and recover weak passwords.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571500" y="3768886"/>
            <a:ext cx="29718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kern="0" spc="1" dirty="0">
                <a:solidFill>
                  <a:srgbClr val="FB36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Vulnerability</a:t>
            </a: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571500" y="4004630"/>
            <a:ext cx="29718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Without additional protection, simple hashing is vulnerable to pre-computed attacks.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4114800" y="967978"/>
            <a:ext cx="44577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kern="0" spc="1" dirty="0">
                <a:solidFill>
                  <a:srgbClr val="247B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Example: Pre-Computed Hash Table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4114800" y="1310878"/>
            <a:ext cx="1259142" cy="407194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47B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Password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5373942" y="1310878"/>
            <a:ext cx="3198558" cy="407194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47B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MD5 Hash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4114800" y="1718072"/>
            <a:ext cx="1259142" cy="410766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A24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5373942" y="1718072"/>
            <a:ext cx="3198558" cy="410766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5f4dcc3b5aa765d61d8327deb882cf99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4114800" y="2128838"/>
            <a:ext cx="1259142" cy="407194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A24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123456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5373942" y="2128838"/>
            <a:ext cx="3198558" cy="407194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e10adc3949ba59abbe56e057f20f883e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4114800" y="2536031"/>
            <a:ext cx="1259142" cy="407194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A24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qwerty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5373942" y="2536031"/>
            <a:ext cx="3198558" cy="407194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d8578edf8458ce06fbc5bb76a58c5ca4</a:t>
            </a:r>
            <a:endParaRPr lang="en-US" sz="727" dirty="0"/>
          </a:p>
        </p:txBody>
      </p:sp>
      <p:sp>
        <p:nvSpPr>
          <p:cNvPr id="17" name="Text 14"/>
          <p:cNvSpPr/>
          <p:nvPr/>
        </p:nvSpPr>
        <p:spPr>
          <a:xfrm>
            <a:off x="4114800" y="2943225"/>
            <a:ext cx="1259142" cy="407194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A24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5373942" y="2943225"/>
            <a:ext cx="3198558" cy="407194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21232f297a57a5a743894a0e4a801fc3</a:t>
            </a:r>
            <a:endParaRPr lang="en-US" sz="727" dirty="0"/>
          </a:p>
        </p:txBody>
      </p:sp>
      <p:sp>
        <p:nvSpPr>
          <p:cNvPr id="19" name="Text 16"/>
          <p:cNvSpPr/>
          <p:nvPr/>
        </p:nvSpPr>
        <p:spPr>
          <a:xfrm>
            <a:off x="4114800" y="3350419"/>
            <a:ext cx="1259142" cy="407194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A24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letmein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5373942" y="3350419"/>
            <a:ext cx="3198558" cy="407194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0d107d09f5bbe40cade3de5c71e9e9b7</a:t>
            </a:r>
            <a:endParaRPr lang="en-US" sz="727" dirty="0"/>
          </a:p>
        </p:txBody>
      </p:sp>
      <p:sp>
        <p:nvSpPr>
          <p:cNvPr id="21" name="Text 18"/>
          <p:cNvSpPr/>
          <p:nvPr/>
        </p:nvSpPr>
        <p:spPr>
          <a:xfrm>
            <a:off x="4114800" y="3875484"/>
            <a:ext cx="445770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 attacker compares stolen hashes to their rainbow table and instantly finds matches for weak passwords.</a:t>
            </a:r>
            <a:endParaRPr lang="en-US" sz="72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162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413037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Salting: Defeating Pre-Computed Attacks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571500" y="1543050"/>
            <a:ext cx="4130371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</a:t>
            </a:r>
            <a:r>
              <a:rPr lang="en-US" sz="885" b="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salt</a:t>
            </a:r>
            <a:r>
              <a:rPr lang="en-US" sz="942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is a unique, random string added to each password </a:t>
            </a:r>
            <a:r>
              <a:rPr lang="en-US" sz="942" i="1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before</a:t>
            </a:r>
            <a:r>
              <a:rPr lang="en-US" sz="942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hashing. The salt is stored alongside the hashed password, making each hash unique even for identical passwords.</a:t>
            </a:r>
            <a:endParaRPr lang="en-US" sz="942" dirty="0"/>
          </a:p>
        </p:txBody>
      </p:sp>
      <p:sp>
        <p:nvSpPr>
          <p:cNvPr id="5" name="Shape 2"/>
          <p:cNvSpPr/>
          <p:nvPr/>
        </p:nvSpPr>
        <p:spPr>
          <a:xfrm>
            <a:off x="571500" y="2474528"/>
            <a:ext cx="954667" cy="321469"/>
          </a:xfrm>
          <a:prstGeom prst="rect">
            <a:avLst/>
          </a:prstGeom>
          <a:solidFill>
            <a:srgbClr val="0A24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71500" y="2474528"/>
            <a:ext cx="954667" cy="321469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Username</a:t>
            </a:r>
            <a:endParaRPr lang="en-US" sz="683" dirty="0"/>
          </a:p>
        </p:txBody>
      </p:sp>
      <p:sp>
        <p:nvSpPr>
          <p:cNvPr id="7" name="Shape 4"/>
          <p:cNvSpPr/>
          <p:nvPr/>
        </p:nvSpPr>
        <p:spPr>
          <a:xfrm>
            <a:off x="1526167" y="2474528"/>
            <a:ext cx="761591" cy="321469"/>
          </a:xfrm>
          <a:prstGeom prst="rect">
            <a:avLst/>
          </a:prstGeom>
          <a:solidFill>
            <a:srgbClr val="0A24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526167" y="2474528"/>
            <a:ext cx="761591" cy="321469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Salt</a:t>
            </a:r>
            <a:endParaRPr lang="en-US" sz="683" dirty="0"/>
          </a:p>
        </p:txBody>
      </p:sp>
      <p:sp>
        <p:nvSpPr>
          <p:cNvPr id="9" name="Shape 6"/>
          <p:cNvSpPr/>
          <p:nvPr/>
        </p:nvSpPr>
        <p:spPr>
          <a:xfrm>
            <a:off x="2287758" y="2474528"/>
            <a:ext cx="2414113" cy="321469"/>
          </a:xfrm>
          <a:prstGeom prst="rect">
            <a:avLst/>
          </a:prstGeom>
          <a:solidFill>
            <a:srgbClr val="0A24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287758" y="2474528"/>
            <a:ext cx="2414113" cy="321469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Hashed Password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571500" y="2795997"/>
            <a:ext cx="954667" cy="375047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alice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1526167" y="2795997"/>
            <a:ext cx="761591" cy="375047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247B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salt_1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2287758" y="2795997"/>
            <a:ext cx="2414113" cy="375047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hash("password123" + "salt_1")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571500" y="3171044"/>
            <a:ext cx="954667" cy="375047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bob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1526167" y="3171044"/>
            <a:ext cx="761591" cy="375047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247B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salt_2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2287758" y="3171044"/>
            <a:ext cx="2414113" cy="375047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hash("password123" + "salt_2")</a:t>
            </a:r>
            <a:endParaRPr lang="en-US" sz="727" dirty="0"/>
          </a:p>
        </p:txBody>
      </p:sp>
      <p:sp>
        <p:nvSpPr>
          <p:cNvPr id="17" name="Shape 14"/>
          <p:cNvSpPr/>
          <p:nvPr/>
        </p:nvSpPr>
        <p:spPr>
          <a:xfrm>
            <a:off x="571500" y="3803266"/>
            <a:ext cx="4130371" cy="1041509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71500" y="3803266"/>
            <a:ext cx="28575" cy="1041509"/>
          </a:xfrm>
          <a:prstGeom prst="rect">
            <a:avLst/>
          </a:prstGeom>
          <a:solidFill>
            <a:srgbClr val="FB36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42950" y="3946141"/>
            <a:ext cx="378747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kern="0" spc="1" dirty="0">
                <a:solidFill>
                  <a:srgbClr val="FB36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Result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742950" y="4153309"/>
            <a:ext cx="3787471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Even though Alice and Bob have the same password, their stored hashes are completely different. The rainbow table is useless because the attacker would need a separate table for every possible salt.</a:t>
            </a:r>
            <a:endParaRPr lang="en-US" sz="834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0496" y="922186"/>
            <a:ext cx="3442004" cy="35718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77337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45434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Why bcrypt is the Industry Standard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571500" y="1743075"/>
            <a:ext cx="2857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B36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1000125" y="1743075"/>
            <a:ext cx="411480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7" b="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It is slow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1000125" y="1985963"/>
            <a:ext cx="411480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bcrypt has a configurable "cost factor" that determines how long it takes to compute a hash. You can increase this factor as computers get faster, ensuring hashing remains computationally expensive for attackers.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571500" y="3008858"/>
            <a:ext cx="2857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B36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1000125" y="3008858"/>
            <a:ext cx="411480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7" b="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It includes the salt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1000125" y="3251746"/>
            <a:ext cx="41148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bcrypt automatically generates a cryptographically secure salt and embeds it within the final hash string. This simplifies implementation and eliminates the risk of using an insecure salt.</a:t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>
            <a:off x="571500" y="4211799"/>
            <a:ext cx="4543425" cy="990079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71500" y="4211799"/>
            <a:ext cx="28575" cy="990079"/>
          </a:xfrm>
          <a:prstGeom prst="rect">
            <a:avLst/>
          </a:prstGeom>
          <a:solidFill>
            <a:srgbClr val="247B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00100" y="4383249"/>
            <a:ext cx="40862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i="1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"Passwords MUST be hashed using a strong one-way key derivation function... such as bcrypt..."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800100" y="4880409"/>
            <a:ext cx="40862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kern="0" spc="1" dirty="0">
                <a:solidFill>
                  <a:srgbClr val="247B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 OWASP Password Storage Cheat Sheet, 2024</a:t>
            </a:r>
            <a:endParaRPr lang="en-US" sz="683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3550" y="1457939"/>
            <a:ext cx="302895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06069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428002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bcrypt: Adaptive Security Over Time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571500" y="1657350"/>
            <a:ext cx="4280027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"cost factor" in bcrypt determines how many iterations the algorithm performs. As computers get faster, you can increase the cost factor to maintain security.</a:t>
            </a:r>
            <a:endParaRPr lang="en-US" sz="942" dirty="0"/>
          </a:p>
        </p:txBody>
      </p:sp>
      <p:sp>
        <p:nvSpPr>
          <p:cNvPr id="5" name="Shape 2"/>
          <p:cNvSpPr/>
          <p:nvPr/>
        </p:nvSpPr>
        <p:spPr>
          <a:xfrm>
            <a:off x="571500" y="2588828"/>
            <a:ext cx="2030360" cy="321469"/>
          </a:xfrm>
          <a:prstGeom prst="rect">
            <a:avLst/>
          </a:prstGeom>
          <a:solidFill>
            <a:srgbClr val="0A24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71500" y="2588828"/>
            <a:ext cx="2030360" cy="321469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Cost Factor</a:t>
            </a:r>
            <a:endParaRPr lang="en-US" sz="683" dirty="0"/>
          </a:p>
        </p:txBody>
      </p:sp>
      <p:sp>
        <p:nvSpPr>
          <p:cNvPr id="7" name="Shape 4"/>
          <p:cNvSpPr/>
          <p:nvPr/>
        </p:nvSpPr>
        <p:spPr>
          <a:xfrm>
            <a:off x="2601860" y="2588828"/>
            <a:ext cx="2249667" cy="321469"/>
          </a:xfrm>
          <a:prstGeom prst="rect">
            <a:avLst/>
          </a:prstGeom>
          <a:solidFill>
            <a:srgbClr val="0A24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601860" y="2588828"/>
            <a:ext cx="2249667" cy="321469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Time per Hash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571500" y="2910297"/>
            <a:ext cx="2030360" cy="417909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B36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2601860" y="2910297"/>
            <a:ext cx="2249667" cy="417909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~0.1 seconds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571500" y="3328206"/>
            <a:ext cx="2030360" cy="421481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B36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2601860" y="3328206"/>
            <a:ext cx="2249667" cy="421481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~0.4 seconds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571500" y="3749687"/>
            <a:ext cx="2030360" cy="417909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B36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2601860" y="3749687"/>
            <a:ext cx="2249667" cy="417909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~1.6 seconds</a:t>
            </a:r>
            <a:endParaRPr lang="en-US" sz="942" dirty="0"/>
          </a:p>
        </p:txBody>
      </p:sp>
      <p:sp>
        <p:nvSpPr>
          <p:cNvPr id="15" name="Shape 12"/>
          <p:cNvSpPr/>
          <p:nvPr/>
        </p:nvSpPr>
        <p:spPr>
          <a:xfrm>
            <a:off x="571500" y="4481922"/>
            <a:ext cx="2068562" cy="1007269"/>
          </a:xfrm>
          <a:prstGeom prst="rect">
            <a:avLst/>
          </a:prstGeom>
          <a:solidFill>
            <a:srgbClr val="F0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71500" y="4481922"/>
            <a:ext cx="28575" cy="1007269"/>
          </a:xfrm>
          <a:prstGeom prst="rect">
            <a:avLst/>
          </a:prstGeom>
          <a:solidFill>
            <a:srgbClr val="247B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42950" y="4624797"/>
            <a:ext cx="172566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kern="0" spc="1" dirty="0">
                <a:solidFill>
                  <a:srgbClr val="247B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Legitimate User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742950" y="4831966"/>
            <a:ext cx="172566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0.4-second delay during login is imperceptible</a:t>
            </a:r>
            <a:endParaRPr lang="en-US" sz="834" dirty="0"/>
          </a:p>
        </p:txBody>
      </p:sp>
      <p:sp>
        <p:nvSpPr>
          <p:cNvPr id="19" name="Shape 16"/>
          <p:cNvSpPr/>
          <p:nvPr/>
        </p:nvSpPr>
        <p:spPr>
          <a:xfrm>
            <a:off x="2782937" y="4481922"/>
            <a:ext cx="2068590" cy="1007269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2782937" y="4481922"/>
            <a:ext cx="28575" cy="1007269"/>
          </a:xfrm>
          <a:prstGeom prst="rect">
            <a:avLst/>
          </a:prstGeom>
          <a:solidFill>
            <a:srgbClr val="FB36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2954387" y="4624797"/>
            <a:ext cx="172569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kern="0" spc="1" dirty="0">
                <a:solidFill>
                  <a:srgbClr val="FB36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Attacker</a:t>
            </a:r>
            <a:endParaRPr lang="en-US" sz="683" dirty="0"/>
          </a:p>
        </p:txBody>
      </p:sp>
      <p:sp>
        <p:nvSpPr>
          <p:cNvPr id="22" name="Text 19"/>
          <p:cNvSpPr/>
          <p:nvPr/>
        </p:nvSpPr>
        <p:spPr>
          <a:xfrm>
            <a:off x="2954387" y="4831966"/>
            <a:ext cx="172569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Trying 1 million passwords would take 4.6 days instead of seconds</a:t>
            </a:r>
            <a:endParaRPr lang="en-US" sz="834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0152" y="1244408"/>
            <a:ext cx="3292348" cy="35718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17946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001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Implementing bcrypt in Python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571500" y="1343025"/>
            <a:ext cx="80010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kern="0" spc="1" dirty="0">
                <a:solidFill>
                  <a:srgbClr val="247B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Installation</a:t>
            </a:r>
            <a:endParaRPr lang="en-US" sz="683" dirty="0"/>
          </a:p>
        </p:txBody>
      </p:sp>
      <p:sp>
        <p:nvSpPr>
          <p:cNvPr id="5" name="Shape 2"/>
          <p:cNvSpPr/>
          <p:nvPr/>
        </p:nvSpPr>
        <p:spPr>
          <a:xfrm>
            <a:off x="571500" y="1578769"/>
            <a:ext cx="8001000" cy="40005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71500" y="1578769"/>
            <a:ext cx="28575" cy="400050"/>
          </a:xfrm>
          <a:prstGeom prst="rect">
            <a:avLst/>
          </a:prstGeom>
          <a:solidFill>
            <a:srgbClr val="247B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71500" y="1578769"/>
            <a:ext cx="8001000" cy="400050"/>
          </a:xfrm>
          <a:prstGeom prst="rect">
            <a:avLst/>
          </a:prstGeom>
          <a:noFill/>
          <a:ln/>
        </p:spPr>
        <p:txBody>
          <a:bodyPr wrap="square" lIns="204089" tIns="136017" rIns="204089" bIns="136017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pip3 install bcrypt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571500" y="2264569"/>
            <a:ext cx="8001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Function 1: Hashing a Password</a:t>
            </a:r>
            <a:endParaRPr lang="en-US" sz="784" dirty="0"/>
          </a:p>
        </p:txBody>
      </p:sp>
      <p:sp>
        <p:nvSpPr>
          <p:cNvPr id="9" name="Shape 6"/>
          <p:cNvSpPr/>
          <p:nvPr/>
        </p:nvSpPr>
        <p:spPr>
          <a:xfrm>
            <a:off x="571500" y="2521744"/>
            <a:ext cx="8001000" cy="2164556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71500" y="2521744"/>
            <a:ext cx="28575" cy="2164556"/>
          </a:xfrm>
          <a:prstGeom prst="rect">
            <a:avLst/>
          </a:prstGeom>
          <a:solidFill>
            <a:srgbClr val="FB36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71500" y="2521744"/>
            <a:ext cx="8001000" cy="2188933"/>
          </a:xfrm>
          <a:prstGeom prst="rect">
            <a:avLst/>
          </a:prstGeom>
          <a:noFill/>
          <a:ln/>
        </p:spPr>
        <p:txBody>
          <a:bodyPr wrap="square" lIns="238125" tIns="204089" rIns="238125" bIns="204089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734" b="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import</a:t>
            </a:r>
            <a:r>
              <a:rPr lang="en-US" sz="780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780" dirty="0" err="1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bcrypt</a:t>
            </a:r>
            <a:r>
              <a:rPr lang="en-US" sz="780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r>
              <a:rPr lang="en-US" sz="734" b="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def </a:t>
            </a:r>
            <a:r>
              <a:rPr lang="en-US" sz="734" b="1" dirty="0" err="1">
                <a:solidFill>
                  <a:srgbClr val="FB36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hash_password</a:t>
            </a:r>
            <a:r>
              <a:rPr lang="en-US" sz="780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</a:t>
            </a:r>
            <a:r>
              <a:rPr lang="en-US" sz="780" dirty="0" err="1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plain_text_password</a:t>
            </a:r>
            <a:r>
              <a:rPr lang="en-US" sz="780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):
	</a:t>
            </a:r>
            <a:r>
              <a:rPr lang="en-US" sz="78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# Encode the password to bytes, required by </a:t>
            </a:r>
            <a:r>
              <a:rPr lang="en-US" sz="780" i="1" dirty="0" err="1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bcrypt</a:t>
            </a:r>
            <a:r>
              <a:rPr lang="en-US" sz="780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 	</a:t>
            </a:r>
            <a:r>
              <a:rPr lang="en-US" sz="780" dirty="0" err="1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password_bytes</a:t>
            </a:r>
            <a:r>
              <a:rPr lang="en-US" sz="780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= </a:t>
            </a:r>
            <a:r>
              <a:rPr lang="en-US" sz="780" dirty="0" err="1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plain_text_password.encode</a:t>
            </a:r>
            <a:r>
              <a:rPr lang="en-US" sz="780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</a:t>
            </a:r>
            <a:r>
              <a:rPr lang="en-US" sz="780" dirty="0">
                <a:solidFill>
                  <a:srgbClr val="247B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'utf-8’</a:t>
            </a:r>
            <a:r>
              <a:rPr lang="en-US" sz="780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)
	</a:t>
            </a:r>
            <a:r>
              <a:rPr lang="en-US" sz="78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# Generate a salt and hash the password</a:t>
            </a:r>
            <a:r>
              <a:rPr lang="en-US" sz="780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 	salt = </a:t>
            </a:r>
            <a:r>
              <a:rPr lang="en-US" sz="780" dirty="0" err="1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bcrypt.gensalt</a:t>
            </a:r>
            <a:r>
              <a:rPr lang="en-US" sz="780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()
 	</a:t>
            </a:r>
            <a:r>
              <a:rPr lang="en-US" sz="780" dirty="0" err="1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hashed_password</a:t>
            </a:r>
            <a:r>
              <a:rPr lang="en-US" sz="780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= </a:t>
            </a:r>
            <a:r>
              <a:rPr lang="en-US" sz="780" dirty="0" err="1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bcrypt.hashpw</a:t>
            </a:r>
            <a:r>
              <a:rPr lang="en-US" sz="780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</a:t>
            </a:r>
            <a:r>
              <a:rPr lang="en-US" sz="780" dirty="0" err="1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password_bytes</a:t>
            </a:r>
            <a:r>
              <a:rPr lang="en-US" sz="780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salt)
	</a:t>
            </a:r>
            <a:r>
              <a:rPr lang="en-US" sz="78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# Decode the hash back to a string to store in a text file</a:t>
            </a:r>
            <a:r>
              <a:rPr lang="en-US" sz="780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	</a:t>
            </a:r>
            <a:r>
              <a:rPr lang="en-US" sz="734" b="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return</a:t>
            </a:r>
            <a:r>
              <a:rPr lang="en-US" sz="780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hashed_ password</a:t>
            </a:r>
            <a:endParaRPr lang="en-US" sz="734" dirty="0"/>
          </a:p>
        </p:txBody>
      </p:sp>
      <p:sp>
        <p:nvSpPr>
          <p:cNvPr id="12" name="Text 9"/>
          <p:cNvSpPr/>
          <p:nvPr/>
        </p:nvSpPr>
        <p:spPr>
          <a:xfrm>
            <a:off x="571500" y="4914900"/>
            <a:ext cx="8001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Function 2: Verifying a Password</a:t>
            </a:r>
            <a:endParaRPr lang="en-US" sz="784" dirty="0"/>
          </a:p>
        </p:txBody>
      </p:sp>
      <p:sp>
        <p:nvSpPr>
          <p:cNvPr id="13" name="Shape 10"/>
          <p:cNvSpPr/>
          <p:nvPr/>
        </p:nvSpPr>
        <p:spPr>
          <a:xfrm>
            <a:off x="571500" y="5172075"/>
            <a:ext cx="8001000" cy="1435894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71500" y="5172075"/>
            <a:ext cx="28575" cy="1435894"/>
          </a:xfrm>
          <a:prstGeom prst="rect">
            <a:avLst/>
          </a:prstGeom>
          <a:solidFill>
            <a:srgbClr val="FB36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71500" y="5172075"/>
            <a:ext cx="8001000" cy="1470787"/>
          </a:xfrm>
          <a:prstGeom prst="rect">
            <a:avLst/>
          </a:prstGeom>
          <a:noFill/>
          <a:ln/>
        </p:spPr>
        <p:txBody>
          <a:bodyPr wrap="square" lIns="238125" tIns="204089" rIns="238125" bIns="204089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def </a:t>
            </a:r>
            <a:r>
              <a:rPr lang="en-US" sz="734" b="1" dirty="0" err="1">
                <a:solidFill>
                  <a:srgbClr val="FB36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verify_password</a:t>
            </a:r>
            <a:r>
              <a:rPr lang="en-US" sz="780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(plain_text_password, hashed_password):
	</a:t>
            </a:r>
            <a:r>
              <a:rPr lang="en-US" sz="78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# Encode both the plaintext password and stored hash to bytes</a:t>
            </a:r>
            <a:r>
              <a:rPr lang="en-US" sz="780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 	</a:t>
            </a:r>
            <a:r>
              <a:rPr lang="en-US" sz="780" dirty="0" err="1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password_bytes</a:t>
            </a:r>
            <a:r>
              <a:rPr lang="en-US" sz="780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= plain_text_password.encode(</a:t>
            </a:r>
            <a:r>
              <a:rPr lang="en-US" sz="780" dirty="0">
                <a:solidFill>
                  <a:srgbClr val="247B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'utf-8’</a:t>
            </a:r>
            <a:r>
              <a:rPr lang="en-US" sz="780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)
 	</a:t>
            </a:r>
            <a:r>
              <a:rPr lang="en-US" sz="780" dirty="0" err="1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hashed_password_bytes</a:t>
            </a:r>
            <a:r>
              <a:rPr lang="en-US" sz="780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= hashed_password.encode(</a:t>
            </a:r>
            <a:r>
              <a:rPr lang="en-US" sz="780" dirty="0">
                <a:solidFill>
                  <a:srgbClr val="247B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'utf-8’</a:t>
            </a:r>
            <a:r>
              <a:rPr lang="en-US" sz="780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)
	</a:t>
            </a:r>
            <a:r>
              <a:rPr lang="en-US" sz="78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# bcrypt.checkpw handles extracting the salt and comparing</a:t>
            </a:r>
            <a:r>
              <a:rPr lang="en-US" sz="780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	</a:t>
            </a:r>
            <a:r>
              <a:rPr lang="en-US" sz="734" b="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return</a:t>
            </a:r>
            <a:r>
              <a:rPr lang="en-US" sz="780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bcrypt.checkpw(password_bytes, hashed_password_bytes)</a:t>
            </a:r>
            <a:endParaRPr lang="en-US" sz="73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" y="201168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File Persistence: Storing User Data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571500" y="1085850"/>
            <a:ext cx="800100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 Week 7, we use a simple text file </a:t>
            </a:r>
            <a:r>
              <a:rPr lang="en-US" sz="784" b="1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users.txt</a:t>
            </a:r>
            <a:r>
              <a:rPr lang="en-US" sz="834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to store user credentials. This introduces basic file I/O operations in Python before upgrading to SQL in Week 8.</a:t>
            </a:r>
            <a:endParaRPr lang="en-US" sz="834" dirty="0"/>
          </a:p>
        </p:txBody>
      </p:sp>
      <p:sp>
        <p:nvSpPr>
          <p:cNvPr id="5" name="Text 2"/>
          <p:cNvSpPr/>
          <p:nvPr/>
        </p:nvSpPr>
        <p:spPr>
          <a:xfrm>
            <a:off x="571500" y="1623027"/>
            <a:ext cx="8001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47B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Format: username,hashed_password</a:t>
            </a:r>
            <a:endParaRPr lang="en-US" sz="784" dirty="0"/>
          </a:p>
        </p:txBody>
      </p:sp>
      <p:sp>
        <p:nvSpPr>
          <p:cNvPr id="6" name="Text 3"/>
          <p:cNvSpPr/>
          <p:nvPr/>
        </p:nvSpPr>
        <p:spPr>
          <a:xfrm>
            <a:off x="571500" y="1994502"/>
            <a:ext cx="38576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kern="0" spc="1" dirty="0">
                <a:solidFill>
                  <a:srgbClr val="FB36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 Registration</a:t>
            </a:r>
            <a:endParaRPr lang="en-US" sz="683" dirty="0"/>
          </a:p>
        </p:txBody>
      </p:sp>
      <p:sp>
        <p:nvSpPr>
          <p:cNvPr id="7" name="Shape 4"/>
          <p:cNvSpPr/>
          <p:nvPr/>
        </p:nvSpPr>
        <p:spPr>
          <a:xfrm>
            <a:off x="571500" y="2230245"/>
            <a:ext cx="3857625" cy="1326517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71500" y="2230245"/>
            <a:ext cx="45719" cy="1326517"/>
          </a:xfrm>
          <a:prstGeom prst="rect">
            <a:avLst/>
          </a:prstGeom>
          <a:solidFill>
            <a:srgbClr val="247B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71500" y="2230246"/>
            <a:ext cx="4164806" cy="1326517"/>
          </a:xfrm>
          <a:prstGeom prst="rect">
            <a:avLst/>
          </a:prstGeom>
          <a:noFill/>
          <a:ln/>
        </p:spPr>
        <p:txBody>
          <a:bodyPr wrap="square" lIns="204089" tIns="170053" rIns="204089" bIns="170053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247B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def </a:t>
            </a:r>
            <a:r>
              <a:rPr lang="en-US" sz="683" b="1" dirty="0" err="1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register_user</a:t>
            </a:r>
            <a:r>
              <a:rPr lang="en-US" sz="727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(username, password): 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727" i="1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"""Register a new user."""</a:t>
            </a:r>
            <a:r>
              <a:rPr lang="en-US" sz="727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</a:t>
            </a:r>
            <a:r>
              <a:rPr lang="en-US" sz="727" dirty="0" err="1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hashed_password</a:t>
            </a:r>
            <a:r>
              <a:rPr lang="en-US" sz="727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= </a:t>
            </a:r>
            <a:r>
              <a:rPr lang="en-US" sz="683" b="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hash_password</a:t>
            </a:r>
            <a:r>
              <a:rPr lang="en-US" sz="727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(password) 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247B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with </a:t>
            </a:r>
            <a:r>
              <a:rPr lang="en-US" sz="683" b="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open</a:t>
            </a:r>
            <a:r>
              <a:rPr lang="en-US" sz="727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</a:t>
            </a:r>
            <a:r>
              <a:rPr lang="en-US" sz="727" dirty="0">
                <a:solidFill>
                  <a:srgbClr val="FB36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"users.txt"</a:t>
            </a:r>
            <a:r>
              <a:rPr lang="en-US" sz="727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r>
              <a:rPr lang="en-US" sz="727" dirty="0">
                <a:solidFill>
                  <a:srgbClr val="FB36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"a"</a:t>
            </a:r>
            <a:r>
              <a:rPr lang="en-US" sz="727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) </a:t>
            </a:r>
            <a:r>
              <a:rPr lang="en-US" sz="683" b="1" dirty="0">
                <a:solidFill>
                  <a:srgbClr val="247B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</a:t>
            </a:r>
            <a:r>
              <a:rPr lang="en-US" sz="727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f: 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</a:t>
            </a:r>
            <a:r>
              <a:rPr lang="en-US" sz="727" dirty="0" err="1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f.</a:t>
            </a:r>
            <a:r>
              <a:rPr lang="en-US" sz="683" b="1" dirty="0" err="1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write</a:t>
            </a:r>
            <a:r>
              <a:rPr lang="en-US" sz="727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</a:t>
            </a:r>
            <a:r>
              <a:rPr lang="en-US" sz="727" dirty="0">
                <a:solidFill>
                  <a:srgbClr val="FB36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f"{username},{hashed_password}\n"</a:t>
            </a:r>
            <a:r>
              <a:rPr lang="en-US" sz="727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) 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print</a:t>
            </a:r>
            <a:r>
              <a:rPr lang="en-US" sz="727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</a:t>
            </a:r>
            <a:r>
              <a:rPr lang="en-US" sz="727" dirty="0">
                <a:solidFill>
                  <a:srgbClr val="FB36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f"User '{username}' registered."</a:t>
            </a:r>
            <a:r>
              <a:rPr lang="en-US" sz="727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)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4714875" y="1994502"/>
            <a:ext cx="38576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kern="0" spc="1" dirty="0">
                <a:solidFill>
                  <a:srgbClr val="FB36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 Login</a:t>
            </a:r>
            <a:endParaRPr lang="en-US" sz="683" dirty="0"/>
          </a:p>
        </p:txBody>
      </p:sp>
      <p:sp>
        <p:nvSpPr>
          <p:cNvPr id="11" name="Shape 8"/>
          <p:cNvSpPr/>
          <p:nvPr/>
        </p:nvSpPr>
        <p:spPr>
          <a:xfrm>
            <a:off x="4714875" y="2230245"/>
            <a:ext cx="3857625" cy="1547402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14875" y="2230245"/>
            <a:ext cx="45719" cy="1586275"/>
          </a:xfrm>
          <a:prstGeom prst="rect">
            <a:avLst/>
          </a:prstGeom>
          <a:solidFill>
            <a:srgbClr val="247B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714875" y="2230245"/>
            <a:ext cx="3857625" cy="1658467"/>
          </a:xfrm>
          <a:prstGeom prst="rect">
            <a:avLst/>
          </a:prstGeom>
          <a:noFill/>
          <a:ln/>
        </p:spPr>
        <p:txBody>
          <a:bodyPr wrap="square" lIns="204089" tIns="170053" rIns="204089" bIns="170053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247B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def </a:t>
            </a:r>
            <a:r>
              <a:rPr lang="en-US" sz="683" b="1" dirty="0" err="1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login_user</a:t>
            </a:r>
            <a:r>
              <a:rPr lang="en-US" sz="727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(username, password): 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727" i="1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</a:t>
            </a:r>
            <a:r>
              <a:rPr lang="en-US" sz="727" i="1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"""Log in an existing user.""”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247B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with </a:t>
            </a:r>
            <a:r>
              <a:rPr lang="en-US" sz="683" b="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open</a:t>
            </a:r>
            <a:r>
              <a:rPr lang="en-US" sz="727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</a:t>
            </a:r>
            <a:r>
              <a:rPr lang="en-US" sz="727" dirty="0">
                <a:solidFill>
                  <a:srgbClr val="FB36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"users.txt"</a:t>
            </a:r>
            <a:r>
              <a:rPr lang="en-US" sz="727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r>
              <a:rPr lang="en-US" sz="727" dirty="0">
                <a:solidFill>
                  <a:srgbClr val="FB36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"r"</a:t>
            </a:r>
            <a:r>
              <a:rPr lang="en-US" sz="727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) </a:t>
            </a:r>
            <a:r>
              <a:rPr lang="en-US" sz="683" b="1" dirty="0">
                <a:solidFill>
                  <a:srgbClr val="247B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</a:t>
            </a:r>
            <a:r>
              <a:rPr lang="en-US" sz="727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f: 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727" b="1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</a:t>
            </a:r>
            <a:r>
              <a:rPr lang="en-US" sz="683" b="1" dirty="0">
                <a:solidFill>
                  <a:srgbClr val="247B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</a:t>
            </a:r>
            <a:r>
              <a:rPr lang="en-US" sz="727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line </a:t>
            </a:r>
            <a:r>
              <a:rPr lang="en-US" sz="683" b="1" dirty="0">
                <a:solidFill>
                  <a:srgbClr val="247B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</a:t>
            </a:r>
            <a:r>
              <a:rPr lang="en-US" sz="727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f.</a:t>
            </a:r>
            <a:r>
              <a:rPr lang="en-US" sz="683" b="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readlines</a:t>
            </a:r>
            <a:r>
              <a:rPr lang="en-US" sz="727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(): 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     user, hash = line.</a:t>
            </a:r>
            <a:r>
              <a:rPr lang="en-US" sz="683" b="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strip</a:t>
            </a:r>
            <a:r>
              <a:rPr lang="en-US" sz="727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().</a:t>
            </a:r>
            <a:r>
              <a:rPr lang="en-US" sz="683" b="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split</a:t>
            </a:r>
            <a:r>
              <a:rPr lang="en-US" sz="727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</a:t>
            </a:r>
            <a:r>
              <a:rPr lang="en-US" sz="727" dirty="0">
                <a:solidFill>
                  <a:srgbClr val="FB36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','</a:t>
            </a:r>
            <a:r>
              <a:rPr lang="en-US" sz="727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r>
              <a:rPr lang="en-US" sz="727" dirty="0">
                <a:solidFill>
                  <a:srgbClr val="FB36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r>
              <a:rPr lang="en-US" sz="727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) 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727" b="1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      </a:t>
            </a:r>
            <a:r>
              <a:rPr lang="en-US" sz="683" b="1" dirty="0">
                <a:solidFill>
                  <a:srgbClr val="247B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if</a:t>
            </a:r>
            <a:r>
              <a:rPr lang="en-US" sz="727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user == username: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727" b="1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	</a:t>
            </a:r>
            <a:r>
              <a:rPr lang="en-US" sz="727" b="1" dirty="0">
                <a:solidFill>
                  <a:srgbClr val="247B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return</a:t>
            </a:r>
            <a:r>
              <a:rPr lang="en-US" sz="727" b="1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683" b="1" dirty="0" err="1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verify_password</a:t>
            </a:r>
            <a:r>
              <a:rPr lang="en-US" sz="727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(password, hash) 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247B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return False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592931" y="4127691"/>
            <a:ext cx="80010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kern="0" spc="1" dirty="0">
                <a:solidFill>
                  <a:srgbClr val="FB36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Points</a:t>
            </a:r>
            <a:endParaRPr lang="en-US" sz="683" dirty="0"/>
          </a:p>
        </p:txBody>
      </p:sp>
      <p:sp>
        <p:nvSpPr>
          <p:cNvPr id="15" name="Shape 12"/>
          <p:cNvSpPr/>
          <p:nvPr/>
        </p:nvSpPr>
        <p:spPr>
          <a:xfrm>
            <a:off x="571500" y="4277709"/>
            <a:ext cx="8001000" cy="826379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74595" y="4277710"/>
            <a:ext cx="45719" cy="826378"/>
          </a:xfrm>
          <a:prstGeom prst="rect">
            <a:avLst/>
          </a:prstGeom>
          <a:solidFill>
            <a:srgbClr val="247B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71500" y="4277710"/>
            <a:ext cx="8001000" cy="826380"/>
          </a:xfrm>
          <a:prstGeom prst="rect">
            <a:avLst/>
          </a:prstGeom>
          <a:noFill/>
          <a:ln/>
        </p:spPr>
        <p:txBody>
          <a:bodyPr wrap="square" lIns="204089" tIns="170053" rIns="204089" bIns="170053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i="1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# Mode "a" appends to file without overwriting existing users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727" i="1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# Mode "r" reads the file to search for matching username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727" i="1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# split(',', 1) handles usernames or hashes that might contain commas</a:t>
            </a:r>
            <a:endParaRPr lang="en-US" sz="727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7290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45434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Summary: Key Takeaways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571500" y="1343025"/>
            <a:ext cx="2857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B36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1000125" y="1343025"/>
            <a:ext cx="41148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Plaintext storage is a critical vulnerability</a:t>
            </a:r>
            <a:r>
              <a:rPr lang="en-US" sz="942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even a single breach exposes all users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571500" y="1925910"/>
            <a:ext cx="2857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B36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1000125" y="1925910"/>
            <a:ext cx="41148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Hashing is one-way</a:t>
            </a:r>
            <a:r>
              <a:rPr lang="en-US" sz="942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you cannot reverse a hash to get the original password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571500" y="2508796"/>
            <a:ext cx="2857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B36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1000125" y="2508796"/>
            <a:ext cx="41148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Salting defeats rainbow tables</a:t>
            </a:r>
            <a:r>
              <a:rPr lang="en-US" sz="942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unique salts make pre-computed attacks impossible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571500" y="3091681"/>
            <a:ext cx="2857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B36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1000125" y="3091681"/>
            <a:ext cx="41148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bcrypt is the industry standard</a:t>
            </a:r>
            <a:r>
              <a:rPr lang="en-US" sz="942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slow, adaptive, and includes automatic salting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571500" y="3674566"/>
            <a:ext cx="2857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B36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05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1000125" y="3674566"/>
            <a:ext cx="41148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File I/O is a stepping stone</a:t>
            </a:r>
            <a:r>
              <a:rPr lang="en-US" sz="942" dirty="0">
                <a:solidFill>
                  <a:srgbClr val="1E1E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we will upgrade to SQL databases in Week 8</a:t>
            </a:r>
            <a:endParaRPr lang="en-US" sz="885" dirty="0"/>
          </a:p>
        </p:txBody>
      </p:sp>
      <p:sp>
        <p:nvSpPr>
          <p:cNvPr id="14" name="Shape 11"/>
          <p:cNvSpPr/>
          <p:nvPr/>
        </p:nvSpPr>
        <p:spPr>
          <a:xfrm>
            <a:off x="571500" y="4428902"/>
            <a:ext cx="4543425" cy="728663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71500" y="4428902"/>
            <a:ext cx="28575" cy="728663"/>
          </a:xfrm>
          <a:prstGeom prst="rect">
            <a:avLst/>
          </a:prstGeom>
          <a:solidFill>
            <a:srgbClr val="247B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71525" y="4600352"/>
            <a:ext cx="41433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 have now built the first essential security layer for your Multi-Domain Intelligence Platform.</a:t>
            </a:r>
            <a:endParaRPr lang="en-US" sz="885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3550" y="1257188"/>
            <a:ext cx="3028950" cy="32146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97D514-E392-DAFE-DF3A-1327AA19E3D4}"/>
              </a:ext>
            </a:extLst>
          </p:cNvPr>
          <p:cNvSpPr txBox="1"/>
          <p:nvPr/>
        </p:nvSpPr>
        <p:spPr>
          <a:xfrm>
            <a:off x="557349" y="1113081"/>
            <a:ext cx="8029302" cy="3057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94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[1] National Institute of Standards and Technology (NIST). (2023). NIST Special Publication 800-63B: Digital Identity Guidelines. </a:t>
            </a:r>
            <a:r>
              <a:rPr lang="en-GB" sz="94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hlinkClick r:id="rId2"/>
              </a:rPr>
              <a:t>https://doi.org/10.6028/NIST.SP.800-63b</a:t>
            </a:r>
            <a:endParaRPr lang="en-GB" sz="94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sz="94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[2] OWASP Foundation. (2024). OWASP Authentication Cheat Sheet. </a:t>
            </a:r>
            <a:r>
              <a:rPr lang="en-GB" sz="94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hlinkClick r:id="rId3"/>
              </a:rPr>
              <a:t>https://cheatsheetseries.owasp.org/cheatsheets/Authentication_Cheat_Sheet.html</a:t>
            </a:r>
            <a:endParaRPr lang="en-GB" sz="94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sz="94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[3] OWASP Foundation. (2024). OWASP Password Storage Cheat Sheet. </a:t>
            </a:r>
            <a:r>
              <a:rPr lang="en-GB" sz="94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hlinkClick r:id="rId4"/>
              </a:rPr>
              <a:t>https://cheatsheetseries.owasp.org/cheatsheets/Password_Storage_Cheat_Sheet.html</a:t>
            </a:r>
            <a:endParaRPr lang="en-GB" sz="94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sz="94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[4] Verizon Business. (2024). Data Breach Investigations Report (DBIR). </a:t>
            </a:r>
            <a:r>
              <a:rPr lang="en-GB" sz="94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hlinkClick r:id="rId5"/>
              </a:rPr>
              <a:t>https://www.verizon.com/business/resources/reports/dbir/</a:t>
            </a:r>
            <a:endParaRPr lang="en-GB" sz="94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sz="94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[5] Hunt, T. (ongoing). Have I Been </a:t>
            </a:r>
            <a:r>
              <a:rPr lang="en-GB" sz="94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Pwned</a:t>
            </a:r>
            <a:r>
              <a:rPr lang="en-GB" sz="94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 </a:t>
            </a:r>
            <a:r>
              <a:rPr lang="en-GB" sz="94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hlinkClick r:id="rId6"/>
              </a:rPr>
              <a:t>https://haveibeenpwned.com/</a:t>
            </a:r>
            <a:endParaRPr lang="en-GB" sz="94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sz="94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[6] Provos, N., &amp; </a:t>
            </a:r>
            <a:r>
              <a:rPr lang="en-GB" sz="94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Mazières</a:t>
            </a:r>
            <a:r>
              <a:rPr lang="en-GB" sz="94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D. (1999). A Future-Adaptable Password Scheme. USENIX Annual Technical Conference. </a:t>
            </a:r>
            <a:r>
              <a:rPr lang="en-GB" sz="94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hlinkClick r:id="rId7"/>
              </a:rPr>
              <a:t>https://www.usenix.org/legacy/events/lisa99/provos/provos_html/</a:t>
            </a:r>
            <a:endParaRPr lang="en-GB" sz="94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sz="94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[7] </a:t>
            </a:r>
            <a:r>
              <a:rPr lang="en-GB" sz="94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PyPI</a:t>
            </a:r>
            <a:r>
              <a:rPr lang="en-GB" sz="94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 </a:t>
            </a:r>
            <a:r>
              <a:rPr lang="en-GB" sz="94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bcrypt</a:t>
            </a:r>
            <a:r>
              <a:rPr lang="en-GB" sz="94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documentation. </a:t>
            </a:r>
            <a:r>
              <a:rPr lang="en-GB" sz="94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hlinkClick r:id="rId8"/>
              </a:rPr>
              <a:t>https://pypi.org/project/bcrypt/</a:t>
            </a:r>
            <a:endParaRPr lang="en-GB" sz="94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sz="94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[8] Python Software Foundation. Reading and Writing Files in Python. </a:t>
            </a:r>
            <a:r>
              <a:rPr lang="en-GB" sz="94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hlinkClick r:id="rId9"/>
              </a:rPr>
              <a:t>https://docs.python.org/3/tutorial/inputoutput.html#reading-and-writing-files</a:t>
            </a:r>
            <a:endParaRPr lang="en-GB" sz="94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endParaRPr lang="en-US" sz="94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6EC0729A-DABB-7FFA-14B3-7EDF08B09CFE}"/>
              </a:ext>
            </a:extLst>
          </p:cNvPr>
          <p:cNvSpPr/>
          <p:nvPr/>
        </p:nvSpPr>
        <p:spPr>
          <a:xfrm>
            <a:off x="571500" y="571500"/>
            <a:ext cx="1510029" cy="32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0A24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References:</a:t>
            </a:r>
            <a:endParaRPr lang="en-US" sz="2016" dirty="0"/>
          </a:p>
        </p:txBody>
      </p:sp>
    </p:spTree>
    <p:extLst>
      <p:ext uri="{BB962C8B-B14F-4D97-AF65-F5344CB8AC3E}">
        <p14:creationId xmlns:p14="http://schemas.microsoft.com/office/powerpoint/2010/main" val="3265108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1575</Words>
  <Application>Microsoft Macintosh PowerPoint</Application>
  <PresentationFormat>On-screen Show (16:9)</PresentationFormat>
  <Paragraphs>173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Courier New</vt:lpstr>
      <vt:lpstr>Noto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Anna Wieclaw</cp:lastModifiedBy>
  <cp:revision>6</cp:revision>
  <dcterms:created xsi:type="dcterms:W3CDTF">2025-10-30T10:13:49Z</dcterms:created>
  <dcterms:modified xsi:type="dcterms:W3CDTF">2025-10-30T13:58:36Z</dcterms:modified>
</cp:coreProperties>
</file>